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37.xml"/>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34.xml"/>
  <Override ContentType="application/vnd.openxmlformats-officedocument.presentationml.notesSlide+xml" PartName="/ppt/notesSlides/notesSlide3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36.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40.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5.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34.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38.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37.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6.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slide+xml" PartName="/ppt/slides/slide40.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Lst>
  <p:sldSz cy="6858000" cx="12192000"/>
  <p:notesSz cx="6858000" cy="9144000"/>
  <p:embeddedFontLst>
    <p:embeddedFont>
      <p:font typeface="Average"/>
      <p:regular r:id="rId46"/>
    </p:embeddedFont>
    <p:embeddedFont>
      <p:font typeface="Oswald"/>
      <p:regular r:id="rId47"/>
      <p:bold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49" roundtripDataSignature="AMtx7miYFN3vrAo+wgFzHAgRJZuP0SflS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1D498BDD-A381-45A0-B073-4B34A80BB521}">
  <a:tblStyle styleId="{1D498BDD-A381-45A0-B073-4B34A80BB521}"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2D44A254-7303-4941-8787-7FC7A818E2B3}" styleName="Table_1">
    <a:wholeTbl>
      <a:tcTxStyle b="off" i="off">
        <a:font>
          <a:latin typeface="Arial"/>
          <a:ea typeface="Arial"/>
          <a:cs typeface="Arial"/>
        </a:font>
        <a:srgbClr val="000000"/>
      </a:tcTx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_rels/presentation.xml.rels><?xml version="1.0" encoding="UTF-8" standalone="yes"?><Relationships xmlns="http://schemas.openxmlformats.org/package/2006/relationships"><Relationship Id="rId40" Type="http://schemas.openxmlformats.org/officeDocument/2006/relationships/slide" Target="slides/slide35.xml"/><Relationship Id="rId42" Type="http://schemas.openxmlformats.org/officeDocument/2006/relationships/slide" Target="slides/slide37.xml"/><Relationship Id="rId41" Type="http://schemas.openxmlformats.org/officeDocument/2006/relationships/slide" Target="slides/slide36.xml"/><Relationship Id="rId44" Type="http://schemas.openxmlformats.org/officeDocument/2006/relationships/slide" Target="slides/slide39.xml"/><Relationship Id="rId43" Type="http://schemas.openxmlformats.org/officeDocument/2006/relationships/slide" Target="slides/slide38.xml"/><Relationship Id="rId46" Type="http://schemas.openxmlformats.org/officeDocument/2006/relationships/font" Target="fonts/Average-regular.fntdata"/><Relationship Id="rId45" Type="http://schemas.openxmlformats.org/officeDocument/2006/relationships/slide" Target="slides/slide40.xml"/><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48" Type="http://schemas.openxmlformats.org/officeDocument/2006/relationships/font" Target="fonts/Oswald-bold.fntdata"/><Relationship Id="rId47" Type="http://schemas.openxmlformats.org/officeDocument/2006/relationships/font" Target="fonts/Oswald-regular.fntdata"/><Relationship Id="rId49" Type="http://customschemas.google.com/relationships/presentationmetadata" Target="metadata"/><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1" Type="http://schemas.openxmlformats.org/officeDocument/2006/relationships/slide" Target="slides/slide26.xml"/><Relationship Id="rId30" Type="http://schemas.openxmlformats.org/officeDocument/2006/relationships/slide" Target="slides/slide25.xml"/><Relationship Id="rId33" Type="http://schemas.openxmlformats.org/officeDocument/2006/relationships/slide" Target="slides/slide28.xml"/><Relationship Id="rId32" Type="http://schemas.openxmlformats.org/officeDocument/2006/relationships/slide" Target="slides/slide27.xml"/><Relationship Id="rId35" Type="http://schemas.openxmlformats.org/officeDocument/2006/relationships/slide" Target="slides/slide30.xml"/><Relationship Id="rId34" Type="http://schemas.openxmlformats.org/officeDocument/2006/relationships/slide" Target="slides/slide29.xml"/><Relationship Id="rId37" Type="http://schemas.openxmlformats.org/officeDocument/2006/relationships/slide" Target="slides/slide32.xml"/><Relationship Id="rId36" Type="http://schemas.openxmlformats.org/officeDocument/2006/relationships/slide" Target="slides/slide31.xml"/><Relationship Id="rId39" Type="http://schemas.openxmlformats.org/officeDocument/2006/relationships/slide" Target="slides/slide34.xml"/><Relationship Id="rId38" Type="http://schemas.openxmlformats.org/officeDocument/2006/relationships/slide" Target="slides/slide33.xml"/><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29" Type="http://schemas.openxmlformats.org/officeDocument/2006/relationships/slide" Target="slides/slide24.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g6b14167052aa37c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 name="Google Shape;57;g6b14167052aa37c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 name="Shape 61"/>
        <p:cNvGrpSpPr/>
        <p:nvPr/>
      </p:nvGrpSpPr>
      <p:grpSpPr>
        <a:xfrm>
          <a:off x="0" y="0"/>
          <a:ext cx="0" cy="0"/>
          <a:chOff x="0" y="0"/>
          <a:chExt cx="0" cy="0"/>
        </a:xfrm>
      </p:grpSpPr>
      <p:sp>
        <p:nvSpPr>
          <p:cNvPr id="62" name="Google Shape;62;g2da8673ca15_3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3" name="Google Shape;63;g2da8673ca15_3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2da8673ca15_0_46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0" name="Google Shape;70;g2da8673ca15_0_4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-Calibri,white headings</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2da8673ca15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6" name="Google Shape;76;g2da8673ca15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zafar/farmal   2min</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270db738eac_27_1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 name="Google Shape;82;g270db738eac_27_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2da8673ca15_3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8" name="Google Shape;88;g2da8673ca15_3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6mins</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 name="Shape 94"/>
        <p:cNvGrpSpPr/>
        <p:nvPr/>
      </p:nvGrpSpPr>
      <p:grpSpPr>
        <a:xfrm>
          <a:off x="0" y="0"/>
          <a:ext cx="0" cy="0"/>
          <a:chOff x="0" y="0"/>
          <a:chExt cx="0" cy="0"/>
        </a:xfrm>
      </p:grpSpPr>
      <p:sp>
        <p:nvSpPr>
          <p:cNvPr id="95" name="Google Shape;95;g2da8673ca15_3_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6" name="Google Shape;96;g2da8673ca15_3_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2dabf7cdf1e_1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2" name="Google Shape;102;g2dabf7cdf1e_1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 name="Shape 106"/>
        <p:cNvGrpSpPr/>
        <p:nvPr/>
      </p:nvGrpSpPr>
      <p:grpSpPr>
        <a:xfrm>
          <a:off x="0" y="0"/>
          <a:ext cx="0" cy="0"/>
          <a:chOff x="0" y="0"/>
          <a:chExt cx="0" cy="0"/>
        </a:xfrm>
      </p:grpSpPr>
      <p:sp>
        <p:nvSpPr>
          <p:cNvPr id="107" name="Google Shape;107;g2da8673ca15_3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 name="Google Shape;108;g2da8673ca15_3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t>NUTS adv: improving sampling efficiency and reducing the need for manual tuning.</a:t>
            </a:r>
            <a:endParaRPr/>
          </a:p>
          <a:p>
            <a:pPr indent="0" lvl="0" marL="0" rtl="0" algn="l">
              <a:lnSpc>
                <a:spcPct val="100000"/>
              </a:lnSpc>
              <a:spcBef>
                <a:spcPts val="0"/>
              </a:spcBef>
              <a:spcAft>
                <a:spcPts val="0"/>
              </a:spcAft>
              <a:buClr>
                <a:schemeClr val="dk1"/>
              </a:buClr>
              <a:buSzPts val="1100"/>
              <a:buFont typeface="Arial"/>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 name="Shape 112"/>
        <p:cNvGrpSpPr/>
        <p:nvPr/>
      </p:nvGrpSpPr>
      <p:grpSpPr>
        <a:xfrm>
          <a:off x="0" y="0"/>
          <a:ext cx="0" cy="0"/>
          <a:chOff x="0" y="0"/>
          <a:chExt cx="0" cy="0"/>
        </a:xfrm>
      </p:grpSpPr>
      <p:sp>
        <p:nvSpPr>
          <p:cNvPr id="113" name="Google Shape;113;g2da8673ca15_3_2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4" name="Google Shape;114;g2da8673ca15_3_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2da8673ca15_3_2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1" name="Google Shape;121;g2da8673ca15_3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lang="en-US">
                <a:solidFill>
                  <a:schemeClr val="dk1"/>
                </a:solidFill>
              </a:rPr>
              <a:t>Compute Monte Carlo estimate: Approximate the integral by averaging the likelihood function evaluated at the generated data points. S is the number of samples.</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2da8673ca15_3_3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 name="Google Shape;130;g2da8673ca15_3_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270d8b55fc8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270d8b55fc8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270db738eac_2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43" name="Google Shape;143;g270db738eac_2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270db738eac_2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1" name="Google Shape;151;g270db738eac_20_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270db738eac_20_2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7" name="Google Shape;157;g270db738eac_20_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g270db738eac_20_5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64" name="Google Shape;164;g270db738eac_20_5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8" name="Shape 168"/>
        <p:cNvGrpSpPr/>
        <p:nvPr/>
      </p:nvGrpSpPr>
      <p:grpSpPr>
        <a:xfrm>
          <a:off x="0" y="0"/>
          <a:ext cx="0" cy="0"/>
          <a:chOff x="0" y="0"/>
          <a:chExt cx="0" cy="0"/>
        </a:xfrm>
      </p:grpSpPr>
      <p:sp>
        <p:nvSpPr>
          <p:cNvPr id="169" name="Google Shape;169;g270db738eac_2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0" name="Google Shape;170;g270db738eac_2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4" name="Shape 174"/>
        <p:cNvGrpSpPr/>
        <p:nvPr/>
      </p:nvGrpSpPr>
      <p:grpSpPr>
        <a:xfrm>
          <a:off x="0" y="0"/>
          <a:ext cx="0" cy="0"/>
          <a:chOff x="0" y="0"/>
          <a:chExt cx="0" cy="0"/>
        </a:xfrm>
      </p:grpSpPr>
      <p:sp>
        <p:nvSpPr>
          <p:cNvPr id="175" name="Google Shape;175;g270db738eac_20_4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6" name="Google Shape;176;g270db738eac_20_4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0" name="Shape 180"/>
        <p:cNvGrpSpPr/>
        <p:nvPr/>
      </p:nvGrpSpPr>
      <p:grpSpPr>
        <a:xfrm>
          <a:off x="0" y="0"/>
          <a:ext cx="0" cy="0"/>
          <a:chOff x="0" y="0"/>
          <a:chExt cx="0" cy="0"/>
        </a:xfrm>
      </p:grpSpPr>
      <p:sp>
        <p:nvSpPr>
          <p:cNvPr id="181" name="Google Shape;181;g12fbd10340172da6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2" name="Google Shape;182;g12fbd10340172da6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2d2b00f2ec8_5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3" name="Google Shape;193;g2d2b00f2ec8_5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g2d2b00f2ec8_5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6" name="Google Shape;206;g2d2b00f2ec8_5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2da0af87549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9" name="Google Shape;219;g2da0af87549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6" name="Shape 226"/>
        <p:cNvGrpSpPr/>
        <p:nvPr/>
      </p:nvGrpSpPr>
      <p:grpSpPr>
        <a:xfrm>
          <a:off x="0" y="0"/>
          <a:ext cx="0" cy="0"/>
          <a:chOff x="0" y="0"/>
          <a:chExt cx="0" cy="0"/>
        </a:xfrm>
      </p:grpSpPr>
      <p:sp>
        <p:nvSpPr>
          <p:cNvPr id="227" name="Google Shape;227;g2d2b00f2ec8_5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8" name="Google Shape;228;g2d2b00f2ec8_5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2da8673ca15_3_3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1" name="Google Shape;241;g2da8673ca15_3_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g2db18d6071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9" name="Google Shape;249;g2db18d6071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4" name="Shape 264"/>
        <p:cNvGrpSpPr/>
        <p:nvPr/>
      </p:nvGrpSpPr>
      <p:grpSpPr>
        <a:xfrm>
          <a:off x="0" y="0"/>
          <a:ext cx="0" cy="0"/>
          <a:chOff x="0" y="0"/>
          <a:chExt cx="0" cy="0"/>
        </a:xfrm>
      </p:grpSpPr>
      <p:sp>
        <p:nvSpPr>
          <p:cNvPr id="265" name="Google Shape;265;g2da8673ca15_3_66: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6" name="Google Shape;266;g2da8673ca15_3_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6" name="Shape 276"/>
        <p:cNvGrpSpPr/>
        <p:nvPr/>
      </p:nvGrpSpPr>
      <p:grpSpPr>
        <a:xfrm>
          <a:off x="0" y="0"/>
          <a:ext cx="0" cy="0"/>
          <a:chOff x="0" y="0"/>
          <a:chExt cx="0" cy="0"/>
        </a:xfrm>
      </p:grpSpPr>
      <p:sp>
        <p:nvSpPr>
          <p:cNvPr id="277" name="Google Shape;277;g2db18d60713_5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8" name="Google Shape;278;g2db18d60713_5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g2db18d60713_5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g2db18d60713_5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2da8673ca15_3_5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2" name="Google Shape;292;g2da8673ca15_3_5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g2dae588f123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g2dae588f123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3" name="Shape 303"/>
        <p:cNvGrpSpPr/>
        <p:nvPr/>
      </p:nvGrpSpPr>
      <p:grpSpPr>
        <a:xfrm>
          <a:off x="0" y="0"/>
          <a:ext cx="0" cy="0"/>
          <a:chOff x="0" y="0"/>
          <a:chExt cx="0" cy="0"/>
        </a:xfrm>
      </p:grpSpPr>
      <p:sp>
        <p:nvSpPr>
          <p:cNvPr id="304" name="Google Shape;304;g270db738eac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5" name="Google Shape;305;g270db738eac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2 minutes per group</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2dae588f123_1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2dae588f123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2dae588f123_1_2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7" name="Google Shape;317;g2dae588f123_1_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2dae588f123_1_1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4" name="Google Shape;324;g2dae588f123_1_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9" name="Shape 329"/>
        <p:cNvGrpSpPr/>
        <p:nvPr/>
      </p:nvGrpSpPr>
      <p:grpSpPr>
        <a:xfrm>
          <a:off x="0" y="0"/>
          <a:ext cx="0" cy="0"/>
          <a:chOff x="0" y="0"/>
          <a:chExt cx="0" cy="0"/>
        </a:xfrm>
      </p:grpSpPr>
      <p:sp>
        <p:nvSpPr>
          <p:cNvPr id="330" name="Google Shape;330;g2db18d60713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1" name="Google Shape;331;g2db18d60713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5" name="Shape 335"/>
        <p:cNvGrpSpPr/>
        <p:nvPr/>
      </p:nvGrpSpPr>
      <p:grpSpPr>
        <a:xfrm>
          <a:off x="0" y="0"/>
          <a:ext cx="0" cy="0"/>
          <a:chOff x="0" y="0"/>
          <a:chExt cx="0" cy="0"/>
        </a:xfrm>
      </p:grpSpPr>
      <p:sp>
        <p:nvSpPr>
          <p:cNvPr id="336" name="Google Shape;336;g2db18d60713_2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7" name="Google Shape;337;g2db18d60713_2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4" name="Shape 344"/>
        <p:cNvGrpSpPr/>
        <p:nvPr/>
      </p:nvGrpSpPr>
      <p:grpSpPr>
        <a:xfrm>
          <a:off x="0" y="0"/>
          <a:ext cx="0" cy="0"/>
          <a:chOff x="0" y="0"/>
          <a:chExt cx="0" cy="0"/>
        </a:xfrm>
      </p:grpSpPr>
      <p:sp>
        <p:nvSpPr>
          <p:cNvPr id="345" name="Google Shape;345;g2dae588f123_1_1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6" name="Google Shape;346;g2dae588f123_1_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2" name="Shape 352"/>
        <p:cNvGrpSpPr/>
        <p:nvPr/>
      </p:nvGrpSpPr>
      <p:grpSpPr>
        <a:xfrm>
          <a:off x="0" y="0"/>
          <a:ext cx="0" cy="0"/>
          <a:chOff x="0" y="0"/>
          <a:chExt cx="0" cy="0"/>
        </a:xfrm>
      </p:grpSpPr>
      <p:sp>
        <p:nvSpPr>
          <p:cNvPr id="353" name="Google Shape;353;g270db738eac_27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4" name="Google Shape;354;g270db738eac_27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2d25660a1ed_0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361" name="Google Shape;361;g2d25660a1ed_0_7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 name="Shape 9"/>
        <p:cNvGrpSpPr/>
        <p:nvPr/>
      </p:nvGrpSpPr>
      <p:grpSpPr>
        <a:xfrm>
          <a:off x="0" y="0"/>
          <a:ext cx="0" cy="0"/>
          <a:chOff x="0" y="0"/>
          <a:chExt cx="0" cy="0"/>
        </a:xfrm>
      </p:grpSpPr>
      <p:sp>
        <p:nvSpPr>
          <p:cNvPr id="10" name="Google Shape;10;g2da8673ca15_0_443"/>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1" name="Google Shape;11;g2da8673ca15_0_443"/>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 name="Shape 12"/>
        <p:cNvGrpSpPr/>
        <p:nvPr/>
      </p:nvGrpSpPr>
      <p:grpSpPr>
        <a:xfrm>
          <a:off x="0" y="0"/>
          <a:ext cx="0" cy="0"/>
          <a:chOff x="0" y="0"/>
          <a:chExt cx="0" cy="0"/>
        </a:xfrm>
      </p:grpSpPr>
      <p:sp>
        <p:nvSpPr>
          <p:cNvPr id="13" name="Google Shape;13;g2da8673ca15_0_438"/>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4" name="Google Shape;14;g2da8673ca15_0_438"/>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5" name="Google Shape;15;g2da8673ca15_0_438"/>
          <p:cNvSpPr txBox="1"/>
          <p:nvPr>
            <p:ph idx="2" type="body"/>
          </p:nvPr>
        </p:nvSpPr>
        <p:spPr>
          <a:xfrm>
            <a:off x="6443200" y="1536633"/>
            <a:ext cx="5333100" cy="4555200"/>
          </a:xfrm>
          <a:prstGeom prst="rect">
            <a:avLst/>
          </a:prstGeom>
          <a:noFill/>
          <a:ln>
            <a:noFill/>
          </a:ln>
        </p:spPr>
        <p:txBody>
          <a:bodyPr anchorCtr="0" anchor="t" bIns="121900" lIns="121900" spcFirstLastPara="1" rIns="121900" wrap="square" tIns="121900">
            <a:normAutofit/>
          </a:bodyPr>
          <a:lstStyle>
            <a:lvl1pPr indent="-349250" lvl="0" marL="457200" algn="l">
              <a:lnSpc>
                <a:spcPct val="115000"/>
              </a:lnSpc>
              <a:spcBef>
                <a:spcPts val="0"/>
              </a:spcBef>
              <a:spcAft>
                <a:spcPts val="0"/>
              </a:spcAft>
              <a:buSzPts val="1900"/>
              <a:buChar char="●"/>
              <a:defRPr sz="19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16" name="Google Shape;16;g2da8673ca15_0_438"/>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 name="Shape 17"/>
        <p:cNvGrpSpPr/>
        <p:nvPr/>
      </p:nvGrpSpPr>
      <p:grpSpPr>
        <a:xfrm>
          <a:off x="0" y="0"/>
          <a:ext cx="0" cy="0"/>
          <a:chOff x="0" y="0"/>
          <a:chExt cx="0" cy="0"/>
        </a:xfrm>
      </p:grpSpPr>
      <p:sp>
        <p:nvSpPr>
          <p:cNvPr id="18" name="Google Shape;18;g2da8673ca15_0_434"/>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algn="l">
              <a:lnSpc>
                <a:spcPct val="100000"/>
              </a:lnSpc>
              <a:spcBef>
                <a:spcPts val="0"/>
              </a:spcBef>
              <a:spcAft>
                <a:spcPts val="0"/>
              </a:spcAft>
              <a:buSzPts val="4000"/>
              <a:buNone/>
              <a:defRPr/>
            </a:lvl1pPr>
            <a:lvl2pPr lvl="1" algn="l">
              <a:lnSpc>
                <a:spcPct val="100000"/>
              </a:lnSpc>
              <a:spcBef>
                <a:spcPts val="0"/>
              </a:spcBef>
              <a:spcAft>
                <a:spcPts val="0"/>
              </a:spcAft>
              <a:buSzPts val="4000"/>
              <a:buNone/>
              <a:defRPr/>
            </a:lvl2pPr>
            <a:lvl3pPr lvl="2" algn="l">
              <a:lnSpc>
                <a:spcPct val="100000"/>
              </a:lnSpc>
              <a:spcBef>
                <a:spcPts val="0"/>
              </a:spcBef>
              <a:spcAft>
                <a:spcPts val="0"/>
              </a:spcAft>
              <a:buSzPts val="4000"/>
              <a:buNone/>
              <a:defRPr/>
            </a:lvl3pPr>
            <a:lvl4pPr lvl="3" algn="l">
              <a:lnSpc>
                <a:spcPct val="100000"/>
              </a:lnSpc>
              <a:spcBef>
                <a:spcPts val="0"/>
              </a:spcBef>
              <a:spcAft>
                <a:spcPts val="0"/>
              </a:spcAft>
              <a:buSzPts val="4000"/>
              <a:buNone/>
              <a:defRPr/>
            </a:lvl4pPr>
            <a:lvl5pPr lvl="4" algn="l">
              <a:lnSpc>
                <a:spcPct val="100000"/>
              </a:lnSpc>
              <a:spcBef>
                <a:spcPts val="0"/>
              </a:spcBef>
              <a:spcAft>
                <a:spcPts val="0"/>
              </a:spcAft>
              <a:buSzPts val="4000"/>
              <a:buNone/>
              <a:defRPr/>
            </a:lvl5pPr>
            <a:lvl6pPr lvl="5" algn="l">
              <a:lnSpc>
                <a:spcPct val="100000"/>
              </a:lnSpc>
              <a:spcBef>
                <a:spcPts val="0"/>
              </a:spcBef>
              <a:spcAft>
                <a:spcPts val="0"/>
              </a:spcAft>
              <a:buSzPts val="4000"/>
              <a:buNone/>
              <a:defRPr/>
            </a:lvl6pPr>
            <a:lvl7pPr lvl="6" algn="l">
              <a:lnSpc>
                <a:spcPct val="100000"/>
              </a:lnSpc>
              <a:spcBef>
                <a:spcPts val="0"/>
              </a:spcBef>
              <a:spcAft>
                <a:spcPts val="0"/>
              </a:spcAft>
              <a:buSzPts val="4000"/>
              <a:buNone/>
              <a:defRPr/>
            </a:lvl7pPr>
            <a:lvl8pPr lvl="7" algn="l">
              <a:lnSpc>
                <a:spcPct val="100000"/>
              </a:lnSpc>
              <a:spcBef>
                <a:spcPts val="0"/>
              </a:spcBef>
              <a:spcAft>
                <a:spcPts val="0"/>
              </a:spcAft>
              <a:buSzPts val="4000"/>
              <a:buNone/>
              <a:defRPr/>
            </a:lvl8pPr>
            <a:lvl9pPr lvl="8" algn="l">
              <a:lnSpc>
                <a:spcPct val="100000"/>
              </a:lnSpc>
              <a:spcBef>
                <a:spcPts val="0"/>
              </a:spcBef>
              <a:spcAft>
                <a:spcPts val="0"/>
              </a:spcAft>
              <a:buSzPts val="4000"/>
              <a:buNone/>
              <a:defRPr/>
            </a:lvl9pPr>
          </a:lstStyle>
          <a:p/>
        </p:txBody>
      </p:sp>
      <p:sp>
        <p:nvSpPr>
          <p:cNvPr id="19" name="Google Shape;19;g2da8673ca15_0_434"/>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algn="l">
              <a:lnSpc>
                <a:spcPct val="115000"/>
              </a:lnSpc>
              <a:spcBef>
                <a:spcPts val="0"/>
              </a:spcBef>
              <a:spcAft>
                <a:spcPts val="0"/>
              </a:spcAft>
              <a:buSzPts val="2400"/>
              <a:buChar char="●"/>
              <a:defRPr/>
            </a:lvl1pPr>
            <a:lvl2pPr indent="-349250" lvl="1" marL="914400" algn="l">
              <a:lnSpc>
                <a:spcPct val="115000"/>
              </a:lnSpc>
              <a:spcBef>
                <a:spcPts val="0"/>
              </a:spcBef>
              <a:spcAft>
                <a:spcPts val="0"/>
              </a:spcAft>
              <a:buSzPts val="1900"/>
              <a:buChar char="○"/>
              <a:defRPr/>
            </a:lvl2pPr>
            <a:lvl3pPr indent="-349250" lvl="2" marL="1371600" algn="l">
              <a:lnSpc>
                <a:spcPct val="115000"/>
              </a:lnSpc>
              <a:spcBef>
                <a:spcPts val="0"/>
              </a:spcBef>
              <a:spcAft>
                <a:spcPts val="0"/>
              </a:spcAft>
              <a:buSzPts val="1900"/>
              <a:buChar char="■"/>
              <a:defRPr/>
            </a:lvl3pPr>
            <a:lvl4pPr indent="-349250" lvl="3" marL="1828800" algn="l">
              <a:lnSpc>
                <a:spcPct val="115000"/>
              </a:lnSpc>
              <a:spcBef>
                <a:spcPts val="0"/>
              </a:spcBef>
              <a:spcAft>
                <a:spcPts val="0"/>
              </a:spcAft>
              <a:buSzPts val="1900"/>
              <a:buChar char="●"/>
              <a:defRPr/>
            </a:lvl4pPr>
            <a:lvl5pPr indent="-349250" lvl="4" marL="2286000" algn="l">
              <a:lnSpc>
                <a:spcPct val="115000"/>
              </a:lnSpc>
              <a:spcBef>
                <a:spcPts val="0"/>
              </a:spcBef>
              <a:spcAft>
                <a:spcPts val="0"/>
              </a:spcAft>
              <a:buSzPts val="1900"/>
              <a:buChar char="○"/>
              <a:defRPr/>
            </a:lvl5pPr>
            <a:lvl6pPr indent="-349250" lvl="5" marL="2743200" algn="l">
              <a:lnSpc>
                <a:spcPct val="115000"/>
              </a:lnSpc>
              <a:spcBef>
                <a:spcPts val="0"/>
              </a:spcBef>
              <a:spcAft>
                <a:spcPts val="0"/>
              </a:spcAft>
              <a:buSzPts val="1900"/>
              <a:buChar char="■"/>
              <a:defRPr/>
            </a:lvl6pPr>
            <a:lvl7pPr indent="-349250" lvl="6" marL="3200400" algn="l">
              <a:lnSpc>
                <a:spcPct val="115000"/>
              </a:lnSpc>
              <a:spcBef>
                <a:spcPts val="0"/>
              </a:spcBef>
              <a:spcAft>
                <a:spcPts val="0"/>
              </a:spcAft>
              <a:buSzPts val="1900"/>
              <a:buChar char="●"/>
              <a:defRPr/>
            </a:lvl7pPr>
            <a:lvl8pPr indent="-349250" lvl="7" marL="3657600" algn="l">
              <a:lnSpc>
                <a:spcPct val="115000"/>
              </a:lnSpc>
              <a:spcBef>
                <a:spcPts val="0"/>
              </a:spcBef>
              <a:spcAft>
                <a:spcPts val="0"/>
              </a:spcAft>
              <a:buSzPts val="1900"/>
              <a:buChar char="○"/>
              <a:defRPr/>
            </a:lvl8pPr>
            <a:lvl9pPr indent="-349250" lvl="8" marL="4114800" algn="l">
              <a:lnSpc>
                <a:spcPct val="115000"/>
              </a:lnSpc>
              <a:spcBef>
                <a:spcPts val="0"/>
              </a:spcBef>
              <a:spcAft>
                <a:spcPts val="0"/>
              </a:spcAft>
              <a:buSzPts val="1900"/>
              <a:buChar char="■"/>
              <a:defRPr/>
            </a:lvl9pPr>
          </a:lstStyle>
          <a:p/>
        </p:txBody>
      </p:sp>
      <p:sp>
        <p:nvSpPr>
          <p:cNvPr id="20" name="Google Shape;20;g2da8673ca15_0_434"/>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1" name="Shape 21"/>
        <p:cNvGrpSpPr/>
        <p:nvPr/>
      </p:nvGrpSpPr>
      <p:grpSpPr>
        <a:xfrm>
          <a:off x="0" y="0"/>
          <a:ext cx="0" cy="0"/>
          <a:chOff x="0" y="0"/>
          <a:chExt cx="0" cy="0"/>
        </a:xfrm>
      </p:grpSpPr>
      <p:sp>
        <p:nvSpPr>
          <p:cNvPr id="22" name="Google Shape;22;g2da8673ca15_0_467"/>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g2da8673ca15_0_431"/>
          <p:cNvSpPr txBox="1"/>
          <p:nvPr>
            <p:ph type="title"/>
          </p:nvPr>
        </p:nvSpPr>
        <p:spPr>
          <a:xfrm>
            <a:off x="895000" y="2855000"/>
            <a:ext cx="10469700" cy="1148100"/>
          </a:xfrm>
          <a:prstGeom prst="rect">
            <a:avLst/>
          </a:prstGeom>
          <a:noFill/>
          <a:ln>
            <a:noFill/>
          </a:ln>
        </p:spPr>
        <p:txBody>
          <a:bodyPr anchorCtr="0" anchor="ctr" bIns="121900" lIns="121900" spcFirstLastPara="1" rIns="121900" wrap="square" tIns="121900">
            <a:normAutofit/>
          </a:bodyPr>
          <a:lstStyle>
            <a:lvl1pPr lvl="0" algn="ctr">
              <a:lnSpc>
                <a:spcPct val="100000"/>
              </a:lnSpc>
              <a:spcBef>
                <a:spcPts val="0"/>
              </a:spcBef>
              <a:spcAft>
                <a:spcPts val="0"/>
              </a:spcAft>
              <a:buSzPts val="4800"/>
              <a:buNone/>
              <a:defRPr sz="4800"/>
            </a:lvl1pPr>
            <a:lvl2pPr lvl="1" algn="ctr">
              <a:lnSpc>
                <a:spcPct val="100000"/>
              </a:lnSpc>
              <a:spcBef>
                <a:spcPts val="0"/>
              </a:spcBef>
              <a:spcAft>
                <a:spcPts val="0"/>
              </a:spcAft>
              <a:buSzPts val="4800"/>
              <a:buNone/>
              <a:defRPr sz="4800"/>
            </a:lvl2pPr>
            <a:lvl3pPr lvl="2" algn="ctr">
              <a:lnSpc>
                <a:spcPct val="100000"/>
              </a:lnSpc>
              <a:spcBef>
                <a:spcPts val="0"/>
              </a:spcBef>
              <a:spcAft>
                <a:spcPts val="0"/>
              </a:spcAft>
              <a:buSzPts val="4800"/>
              <a:buNone/>
              <a:defRPr sz="4800"/>
            </a:lvl3pPr>
            <a:lvl4pPr lvl="3" algn="ctr">
              <a:lnSpc>
                <a:spcPct val="100000"/>
              </a:lnSpc>
              <a:spcBef>
                <a:spcPts val="0"/>
              </a:spcBef>
              <a:spcAft>
                <a:spcPts val="0"/>
              </a:spcAft>
              <a:buSzPts val="4800"/>
              <a:buNone/>
              <a:defRPr sz="4800"/>
            </a:lvl4pPr>
            <a:lvl5pPr lvl="4" algn="ctr">
              <a:lnSpc>
                <a:spcPct val="100000"/>
              </a:lnSpc>
              <a:spcBef>
                <a:spcPts val="0"/>
              </a:spcBef>
              <a:spcAft>
                <a:spcPts val="0"/>
              </a:spcAft>
              <a:buSzPts val="4800"/>
              <a:buNone/>
              <a:defRPr sz="4800"/>
            </a:lvl5pPr>
            <a:lvl6pPr lvl="5" algn="ctr">
              <a:lnSpc>
                <a:spcPct val="100000"/>
              </a:lnSpc>
              <a:spcBef>
                <a:spcPts val="0"/>
              </a:spcBef>
              <a:spcAft>
                <a:spcPts val="0"/>
              </a:spcAft>
              <a:buSzPts val="4800"/>
              <a:buNone/>
              <a:defRPr sz="4800"/>
            </a:lvl6pPr>
            <a:lvl7pPr lvl="6" algn="ctr">
              <a:lnSpc>
                <a:spcPct val="100000"/>
              </a:lnSpc>
              <a:spcBef>
                <a:spcPts val="0"/>
              </a:spcBef>
              <a:spcAft>
                <a:spcPts val="0"/>
              </a:spcAft>
              <a:buSzPts val="4800"/>
              <a:buNone/>
              <a:defRPr sz="4800"/>
            </a:lvl7pPr>
            <a:lvl8pPr lvl="7" algn="ctr">
              <a:lnSpc>
                <a:spcPct val="100000"/>
              </a:lnSpc>
              <a:spcBef>
                <a:spcPts val="0"/>
              </a:spcBef>
              <a:spcAft>
                <a:spcPts val="0"/>
              </a:spcAft>
              <a:buSzPts val="4800"/>
              <a:buNone/>
              <a:defRPr sz="4800"/>
            </a:lvl8pPr>
            <a:lvl9pPr lvl="8" algn="ctr">
              <a:lnSpc>
                <a:spcPct val="100000"/>
              </a:lnSpc>
              <a:spcBef>
                <a:spcPts val="0"/>
              </a:spcBef>
              <a:spcAft>
                <a:spcPts val="0"/>
              </a:spcAft>
              <a:buSzPts val="4800"/>
              <a:buNone/>
              <a:defRPr sz="4800"/>
            </a:lvl9pPr>
          </a:lstStyle>
          <a:p/>
        </p:txBody>
      </p:sp>
      <p:sp>
        <p:nvSpPr>
          <p:cNvPr id="25" name="Google Shape;25;g2da8673ca15_0_431"/>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26" name="Shape 26"/>
        <p:cNvGrpSpPr/>
        <p:nvPr/>
      </p:nvGrpSpPr>
      <p:grpSpPr>
        <a:xfrm>
          <a:off x="0" y="0"/>
          <a:ext cx="0" cy="0"/>
          <a:chOff x="0" y="0"/>
          <a:chExt cx="0" cy="0"/>
        </a:xfrm>
      </p:grpSpPr>
      <p:grpSp>
        <p:nvGrpSpPr>
          <p:cNvPr id="27" name="Google Shape;27;g2da8673ca15_0_423"/>
          <p:cNvGrpSpPr/>
          <p:nvPr/>
        </p:nvGrpSpPr>
        <p:grpSpPr>
          <a:xfrm>
            <a:off x="5800234" y="3807170"/>
            <a:ext cx="591423" cy="140843"/>
            <a:chOff x="4137525" y="2915950"/>
            <a:chExt cx="869100" cy="207000"/>
          </a:xfrm>
        </p:grpSpPr>
        <p:sp>
          <p:nvSpPr>
            <p:cNvPr id="28" name="Google Shape;28;g2da8673ca15_0_423"/>
            <p:cNvSpPr/>
            <p:nvPr/>
          </p:nvSpPr>
          <p:spPr>
            <a:xfrm>
              <a:off x="446857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9" name="Google Shape;29;g2da8673ca15_0_423"/>
            <p:cNvSpPr/>
            <p:nvPr/>
          </p:nvSpPr>
          <p:spPr>
            <a:xfrm>
              <a:off x="479962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0" name="Google Shape;30;g2da8673ca15_0_423"/>
            <p:cNvSpPr/>
            <p:nvPr/>
          </p:nvSpPr>
          <p:spPr>
            <a:xfrm>
              <a:off x="4137525" y="2915950"/>
              <a:ext cx="207000" cy="207000"/>
            </a:xfrm>
            <a:prstGeom prst="ellipse">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pSp>
      <p:sp>
        <p:nvSpPr>
          <p:cNvPr id="31" name="Google Shape;31;g2da8673ca15_0_423"/>
          <p:cNvSpPr txBox="1"/>
          <p:nvPr>
            <p:ph type="ctrTitle"/>
          </p:nvPr>
        </p:nvSpPr>
        <p:spPr>
          <a:xfrm>
            <a:off x="895010" y="1321067"/>
            <a:ext cx="10401900" cy="23067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6400"/>
              <a:buNone/>
              <a:defRPr sz="6400"/>
            </a:lvl1pPr>
            <a:lvl2pPr lvl="1" algn="ctr">
              <a:lnSpc>
                <a:spcPct val="100000"/>
              </a:lnSpc>
              <a:spcBef>
                <a:spcPts val="0"/>
              </a:spcBef>
              <a:spcAft>
                <a:spcPts val="0"/>
              </a:spcAft>
              <a:buSzPts val="6400"/>
              <a:buNone/>
              <a:defRPr sz="6400"/>
            </a:lvl2pPr>
            <a:lvl3pPr lvl="2" algn="ctr">
              <a:lnSpc>
                <a:spcPct val="100000"/>
              </a:lnSpc>
              <a:spcBef>
                <a:spcPts val="0"/>
              </a:spcBef>
              <a:spcAft>
                <a:spcPts val="0"/>
              </a:spcAft>
              <a:buSzPts val="6400"/>
              <a:buNone/>
              <a:defRPr sz="6400"/>
            </a:lvl3pPr>
            <a:lvl4pPr lvl="3" algn="ctr">
              <a:lnSpc>
                <a:spcPct val="100000"/>
              </a:lnSpc>
              <a:spcBef>
                <a:spcPts val="0"/>
              </a:spcBef>
              <a:spcAft>
                <a:spcPts val="0"/>
              </a:spcAft>
              <a:buSzPts val="6400"/>
              <a:buNone/>
              <a:defRPr sz="6400"/>
            </a:lvl4pPr>
            <a:lvl5pPr lvl="4" algn="ctr">
              <a:lnSpc>
                <a:spcPct val="100000"/>
              </a:lnSpc>
              <a:spcBef>
                <a:spcPts val="0"/>
              </a:spcBef>
              <a:spcAft>
                <a:spcPts val="0"/>
              </a:spcAft>
              <a:buSzPts val="6400"/>
              <a:buNone/>
              <a:defRPr sz="6400"/>
            </a:lvl5pPr>
            <a:lvl6pPr lvl="5" algn="ctr">
              <a:lnSpc>
                <a:spcPct val="100000"/>
              </a:lnSpc>
              <a:spcBef>
                <a:spcPts val="0"/>
              </a:spcBef>
              <a:spcAft>
                <a:spcPts val="0"/>
              </a:spcAft>
              <a:buSzPts val="6400"/>
              <a:buNone/>
              <a:defRPr sz="6400"/>
            </a:lvl6pPr>
            <a:lvl7pPr lvl="6" algn="ctr">
              <a:lnSpc>
                <a:spcPct val="100000"/>
              </a:lnSpc>
              <a:spcBef>
                <a:spcPts val="0"/>
              </a:spcBef>
              <a:spcAft>
                <a:spcPts val="0"/>
              </a:spcAft>
              <a:buSzPts val="6400"/>
              <a:buNone/>
              <a:defRPr sz="6400"/>
            </a:lvl7pPr>
            <a:lvl8pPr lvl="7" algn="ctr">
              <a:lnSpc>
                <a:spcPct val="100000"/>
              </a:lnSpc>
              <a:spcBef>
                <a:spcPts val="0"/>
              </a:spcBef>
              <a:spcAft>
                <a:spcPts val="0"/>
              </a:spcAft>
              <a:buSzPts val="6400"/>
              <a:buNone/>
              <a:defRPr sz="6400"/>
            </a:lvl8pPr>
            <a:lvl9pPr lvl="8" algn="ctr">
              <a:lnSpc>
                <a:spcPct val="100000"/>
              </a:lnSpc>
              <a:spcBef>
                <a:spcPts val="0"/>
              </a:spcBef>
              <a:spcAft>
                <a:spcPts val="0"/>
              </a:spcAft>
              <a:buSzPts val="6400"/>
              <a:buNone/>
              <a:defRPr sz="6400"/>
            </a:lvl9pPr>
          </a:lstStyle>
          <a:p/>
        </p:txBody>
      </p:sp>
      <p:sp>
        <p:nvSpPr>
          <p:cNvPr id="32" name="Google Shape;32;g2da8673ca15_0_423"/>
          <p:cNvSpPr txBox="1"/>
          <p:nvPr>
            <p:ph idx="1" type="subTitle"/>
          </p:nvPr>
        </p:nvSpPr>
        <p:spPr>
          <a:xfrm>
            <a:off x="895000" y="4233168"/>
            <a:ext cx="10401900" cy="10569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33" name="Google Shape;33;g2da8673ca15_0_423"/>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34" name="Shape 34"/>
        <p:cNvGrpSpPr/>
        <p:nvPr/>
      </p:nvGrpSpPr>
      <p:grpSpPr>
        <a:xfrm>
          <a:off x="0" y="0"/>
          <a:ext cx="0" cy="0"/>
          <a:chOff x="0" y="0"/>
          <a:chExt cx="0" cy="0"/>
        </a:xfrm>
      </p:grpSpPr>
      <p:sp>
        <p:nvSpPr>
          <p:cNvPr id="35" name="Google Shape;35;g2da8673ca15_0_446"/>
          <p:cNvSpPr txBox="1"/>
          <p:nvPr>
            <p:ph type="title"/>
          </p:nvPr>
        </p:nvSpPr>
        <p:spPr>
          <a:xfrm>
            <a:off x="415600" y="740800"/>
            <a:ext cx="3744000" cy="1007700"/>
          </a:xfrm>
          <a:prstGeom prst="rect">
            <a:avLst/>
          </a:prstGeom>
          <a:noFill/>
          <a:ln>
            <a:noFill/>
          </a:ln>
        </p:spPr>
        <p:txBody>
          <a:bodyPr anchorCtr="0" anchor="b" bIns="121900" lIns="121900" spcFirstLastPara="1" rIns="121900" wrap="square" tIns="121900">
            <a:normAutofit/>
          </a:bodyPr>
          <a:lstStyle>
            <a:lvl1pPr lvl="0" algn="l">
              <a:lnSpc>
                <a:spcPct val="100000"/>
              </a:lnSpc>
              <a:spcBef>
                <a:spcPts val="0"/>
              </a:spcBef>
              <a:spcAft>
                <a:spcPts val="0"/>
              </a:spcAft>
              <a:buSzPts val="3200"/>
              <a:buNone/>
              <a:defRPr sz="3200"/>
            </a:lvl1pPr>
            <a:lvl2pPr lvl="1" algn="l">
              <a:lnSpc>
                <a:spcPct val="100000"/>
              </a:lnSpc>
              <a:spcBef>
                <a:spcPts val="0"/>
              </a:spcBef>
              <a:spcAft>
                <a:spcPts val="0"/>
              </a:spcAft>
              <a:buSzPts val="3200"/>
              <a:buNone/>
              <a:defRPr sz="3200"/>
            </a:lvl2pPr>
            <a:lvl3pPr lvl="2" algn="l">
              <a:lnSpc>
                <a:spcPct val="100000"/>
              </a:lnSpc>
              <a:spcBef>
                <a:spcPts val="0"/>
              </a:spcBef>
              <a:spcAft>
                <a:spcPts val="0"/>
              </a:spcAft>
              <a:buSzPts val="3200"/>
              <a:buNone/>
              <a:defRPr sz="3200"/>
            </a:lvl3pPr>
            <a:lvl4pPr lvl="3" algn="l">
              <a:lnSpc>
                <a:spcPct val="100000"/>
              </a:lnSpc>
              <a:spcBef>
                <a:spcPts val="0"/>
              </a:spcBef>
              <a:spcAft>
                <a:spcPts val="0"/>
              </a:spcAft>
              <a:buSzPts val="3200"/>
              <a:buNone/>
              <a:defRPr sz="3200"/>
            </a:lvl4pPr>
            <a:lvl5pPr lvl="4" algn="l">
              <a:lnSpc>
                <a:spcPct val="100000"/>
              </a:lnSpc>
              <a:spcBef>
                <a:spcPts val="0"/>
              </a:spcBef>
              <a:spcAft>
                <a:spcPts val="0"/>
              </a:spcAft>
              <a:buSzPts val="3200"/>
              <a:buNone/>
              <a:defRPr sz="3200"/>
            </a:lvl5pPr>
            <a:lvl6pPr lvl="5" algn="l">
              <a:lnSpc>
                <a:spcPct val="100000"/>
              </a:lnSpc>
              <a:spcBef>
                <a:spcPts val="0"/>
              </a:spcBef>
              <a:spcAft>
                <a:spcPts val="0"/>
              </a:spcAft>
              <a:buSzPts val="3200"/>
              <a:buNone/>
              <a:defRPr sz="3200"/>
            </a:lvl6pPr>
            <a:lvl7pPr lvl="6" algn="l">
              <a:lnSpc>
                <a:spcPct val="100000"/>
              </a:lnSpc>
              <a:spcBef>
                <a:spcPts val="0"/>
              </a:spcBef>
              <a:spcAft>
                <a:spcPts val="0"/>
              </a:spcAft>
              <a:buSzPts val="3200"/>
              <a:buNone/>
              <a:defRPr sz="3200"/>
            </a:lvl7pPr>
            <a:lvl8pPr lvl="7" algn="l">
              <a:lnSpc>
                <a:spcPct val="100000"/>
              </a:lnSpc>
              <a:spcBef>
                <a:spcPts val="0"/>
              </a:spcBef>
              <a:spcAft>
                <a:spcPts val="0"/>
              </a:spcAft>
              <a:buSzPts val="3200"/>
              <a:buNone/>
              <a:defRPr sz="3200"/>
            </a:lvl8pPr>
            <a:lvl9pPr lvl="8" algn="l">
              <a:lnSpc>
                <a:spcPct val="100000"/>
              </a:lnSpc>
              <a:spcBef>
                <a:spcPts val="0"/>
              </a:spcBef>
              <a:spcAft>
                <a:spcPts val="0"/>
              </a:spcAft>
              <a:buSzPts val="3200"/>
              <a:buNone/>
              <a:defRPr sz="3200"/>
            </a:lvl9pPr>
          </a:lstStyle>
          <a:p/>
        </p:txBody>
      </p:sp>
      <p:sp>
        <p:nvSpPr>
          <p:cNvPr id="36" name="Google Shape;36;g2da8673ca15_0_446"/>
          <p:cNvSpPr txBox="1"/>
          <p:nvPr>
            <p:ph idx="1" type="body"/>
          </p:nvPr>
        </p:nvSpPr>
        <p:spPr>
          <a:xfrm>
            <a:off x="415600" y="1852800"/>
            <a:ext cx="3744000" cy="4239300"/>
          </a:xfrm>
          <a:prstGeom prst="rect">
            <a:avLst/>
          </a:prstGeom>
          <a:noFill/>
          <a:ln>
            <a:noFill/>
          </a:ln>
        </p:spPr>
        <p:txBody>
          <a:bodyPr anchorCtr="0" anchor="t" bIns="121900" lIns="121900" spcFirstLastPara="1" rIns="121900" wrap="square" tIns="121900">
            <a:normAutofit/>
          </a:bodyPr>
          <a:lstStyle>
            <a:lvl1pPr indent="-330200" lvl="0" marL="457200" algn="l">
              <a:lnSpc>
                <a:spcPct val="115000"/>
              </a:lnSpc>
              <a:spcBef>
                <a:spcPts val="0"/>
              </a:spcBef>
              <a:spcAft>
                <a:spcPts val="0"/>
              </a:spcAft>
              <a:buSzPts val="1600"/>
              <a:buChar char="●"/>
              <a:defRPr sz="1600"/>
            </a:lvl1pPr>
            <a:lvl2pPr indent="-330200" lvl="1" marL="914400" algn="l">
              <a:lnSpc>
                <a:spcPct val="115000"/>
              </a:lnSpc>
              <a:spcBef>
                <a:spcPts val="0"/>
              </a:spcBef>
              <a:spcAft>
                <a:spcPts val="0"/>
              </a:spcAft>
              <a:buSzPts val="1600"/>
              <a:buChar char="○"/>
              <a:defRPr sz="1600"/>
            </a:lvl2pPr>
            <a:lvl3pPr indent="-330200" lvl="2" marL="1371600" algn="l">
              <a:lnSpc>
                <a:spcPct val="115000"/>
              </a:lnSpc>
              <a:spcBef>
                <a:spcPts val="0"/>
              </a:spcBef>
              <a:spcAft>
                <a:spcPts val="0"/>
              </a:spcAft>
              <a:buSzPts val="1600"/>
              <a:buChar char="■"/>
              <a:defRPr sz="1600"/>
            </a:lvl3pPr>
            <a:lvl4pPr indent="-330200" lvl="3" marL="1828800" algn="l">
              <a:lnSpc>
                <a:spcPct val="115000"/>
              </a:lnSpc>
              <a:spcBef>
                <a:spcPts val="0"/>
              </a:spcBef>
              <a:spcAft>
                <a:spcPts val="0"/>
              </a:spcAft>
              <a:buSzPts val="1600"/>
              <a:buChar char="●"/>
              <a:defRPr sz="1600"/>
            </a:lvl4pPr>
            <a:lvl5pPr indent="-330200" lvl="4" marL="2286000" algn="l">
              <a:lnSpc>
                <a:spcPct val="115000"/>
              </a:lnSpc>
              <a:spcBef>
                <a:spcPts val="0"/>
              </a:spcBef>
              <a:spcAft>
                <a:spcPts val="0"/>
              </a:spcAft>
              <a:buSzPts val="1600"/>
              <a:buChar char="○"/>
              <a:defRPr sz="1600"/>
            </a:lvl5pPr>
            <a:lvl6pPr indent="-330200" lvl="5" marL="2743200" algn="l">
              <a:lnSpc>
                <a:spcPct val="115000"/>
              </a:lnSpc>
              <a:spcBef>
                <a:spcPts val="0"/>
              </a:spcBef>
              <a:spcAft>
                <a:spcPts val="0"/>
              </a:spcAft>
              <a:buSzPts val="1600"/>
              <a:buChar char="■"/>
              <a:defRPr sz="1600"/>
            </a:lvl6pPr>
            <a:lvl7pPr indent="-330200" lvl="6" marL="3200400" algn="l">
              <a:lnSpc>
                <a:spcPct val="115000"/>
              </a:lnSpc>
              <a:spcBef>
                <a:spcPts val="0"/>
              </a:spcBef>
              <a:spcAft>
                <a:spcPts val="0"/>
              </a:spcAft>
              <a:buSzPts val="1600"/>
              <a:buChar char="●"/>
              <a:defRPr sz="1600"/>
            </a:lvl7pPr>
            <a:lvl8pPr indent="-330200" lvl="7" marL="3657600" algn="l">
              <a:lnSpc>
                <a:spcPct val="115000"/>
              </a:lnSpc>
              <a:spcBef>
                <a:spcPts val="0"/>
              </a:spcBef>
              <a:spcAft>
                <a:spcPts val="0"/>
              </a:spcAft>
              <a:buSzPts val="1600"/>
              <a:buChar char="○"/>
              <a:defRPr sz="1600"/>
            </a:lvl8pPr>
            <a:lvl9pPr indent="-330200" lvl="8" marL="4114800" algn="l">
              <a:lnSpc>
                <a:spcPct val="115000"/>
              </a:lnSpc>
              <a:spcBef>
                <a:spcPts val="0"/>
              </a:spcBef>
              <a:spcAft>
                <a:spcPts val="0"/>
              </a:spcAft>
              <a:buSzPts val="1600"/>
              <a:buChar char="■"/>
              <a:defRPr sz="1600"/>
            </a:lvl9pPr>
          </a:lstStyle>
          <a:p/>
        </p:txBody>
      </p:sp>
      <p:sp>
        <p:nvSpPr>
          <p:cNvPr id="37" name="Google Shape;37;g2da8673ca15_0_446"/>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lt2"/>
        </a:solidFill>
      </p:bgPr>
    </p:bg>
    <p:spTree>
      <p:nvGrpSpPr>
        <p:cNvPr id="38" name="Shape 38"/>
        <p:cNvGrpSpPr/>
        <p:nvPr/>
      </p:nvGrpSpPr>
      <p:grpSpPr>
        <a:xfrm>
          <a:off x="0" y="0"/>
          <a:ext cx="0" cy="0"/>
          <a:chOff x="0" y="0"/>
          <a:chExt cx="0" cy="0"/>
        </a:xfrm>
      </p:grpSpPr>
      <p:sp>
        <p:nvSpPr>
          <p:cNvPr id="39" name="Google Shape;39;g2da8673ca15_0_450"/>
          <p:cNvSpPr txBox="1"/>
          <p:nvPr>
            <p:ph type="title"/>
          </p:nvPr>
        </p:nvSpPr>
        <p:spPr>
          <a:xfrm>
            <a:off x="653667" y="701800"/>
            <a:ext cx="8302800" cy="5454300"/>
          </a:xfrm>
          <a:prstGeom prst="rect">
            <a:avLst/>
          </a:prstGeom>
          <a:noFill/>
          <a:ln>
            <a:noFill/>
          </a:ln>
        </p:spPr>
        <p:txBody>
          <a:bodyPr anchorCtr="0" anchor="ctr" bIns="121900" lIns="121900" spcFirstLastPara="1" rIns="121900" wrap="square" tIns="121900">
            <a:normAutofit/>
          </a:bodyPr>
          <a:lstStyle>
            <a:lvl1pPr lvl="0" algn="l">
              <a:lnSpc>
                <a:spcPct val="100000"/>
              </a:lnSpc>
              <a:spcBef>
                <a:spcPts val="0"/>
              </a:spcBef>
              <a:spcAft>
                <a:spcPts val="0"/>
              </a:spcAft>
              <a:buClr>
                <a:schemeClr val="lt1"/>
              </a:buClr>
              <a:buSzPts val="6400"/>
              <a:buNone/>
              <a:defRPr sz="6400">
                <a:solidFill>
                  <a:schemeClr val="lt1"/>
                </a:solidFill>
              </a:defRPr>
            </a:lvl1pPr>
            <a:lvl2pPr lvl="1" algn="l">
              <a:lnSpc>
                <a:spcPct val="100000"/>
              </a:lnSpc>
              <a:spcBef>
                <a:spcPts val="0"/>
              </a:spcBef>
              <a:spcAft>
                <a:spcPts val="0"/>
              </a:spcAft>
              <a:buClr>
                <a:schemeClr val="lt1"/>
              </a:buClr>
              <a:buSzPts val="6400"/>
              <a:buNone/>
              <a:defRPr sz="6400">
                <a:solidFill>
                  <a:schemeClr val="lt1"/>
                </a:solidFill>
              </a:defRPr>
            </a:lvl2pPr>
            <a:lvl3pPr lvl="2" algn="l">
              <a:lnSpc>
                <a:spcPct val="100000"/>
              </a:lnSpc>
              <a:spcBef>
                <a:spcPts val="0"/>
              </a:spcBef>
              <a:spcAft>
                <a:spcPts val="0"/>
              </a:spcAft>
              <a:buClr>
                <a:schemeClr val="lt1"/>
              </a:buClr>
              <a:buSzPts val="6400"/>
              <a:buNone/>
              <a:defRPr sz="6400">
                <a:solidFill>
                  <a:schemeClr val="lt1"/>
                </a:solidFill>
              </a:defRPr>
            </a:lvl3pPr>
            <a:lvl4pPr lvl="3" algn="l">
              <a:lnSpc>
                <a:spcPct val="100000"/>
              </a:lnSpc>
              <a:spcBef>
                <a:spcPts val="0"/>
              </a:spcBef>
              <a:spcAft>
                <a:spcPts val="0"/>
              </a:spcAft>
              <a:buClr>
                <a:schemeClr val="lt1"/>
              </a:buClr>
              <a:buSzPts val="6400"/>
              <a:buNone/>
              <a:defRPr sz="6400">
                <a:solidFill>
                  <a:schemeClr val="lt1"/>
                </a:solidFill>
              </a:defRPr>
            </a:lvl4pPr>
            <a:lvl5pPr lvl="4" algn="l">
              <a:lnSpc>
                <a:spcPct val="100000"/>
              </a:lnSpc>
              <a:spcBef>
                <a:spcPts val="0"/>
              </a:spcBef>
              <a:spcAft>
                <a:spcPts val="0"/>
              </a:spcAft>
              <a:buClr>
                <a:schemeClr val="lt1"/>
              </a:buClr>
              <a:buSzPts val="6400"/>
              <a:buNone/>
              <a:defRPr sz="6400">
                <a:solidFill>
                  <a:schemeClr val="lt1"/>
                </a:solidFill>
              </a:defRPr>
            </a:lvl5pPr>
            <a:lvl6pPr lvl="5" algn="l">
              <a:lnSpc>
                <a:spcPct val="100000"/>
              </a:lnSpc>
              <a:spcBef>
                <a:spcPts val="0"/>
              </a:spcBef>
              <a:spcAft>
                <a:spcPts val="0"/>
              </a:spcAft>
              <a:buClr>
                <a:schemeClr val="lt1"/>
              </a:buClr>
              <a:buSzPts val="6400"/>
              <a:buNone/>
              <a:defRPr sz="6400">
                <a:solidFill>
                  <a:schemeClr val="lt1"/>
                </a:solidFill>
              </a:defRPr>
            </a:lvl6pPr>
            <a:lvl7pPr lvl="6" algn="l">
              <a:lnSpc>
                <a:spcPct val="100000"/>
              </a:lnSpc>
              <a:spcBef>
                <a:spcPts val="0"/>
              </a:spcBef>
              <a:spcAft>
                <a:spcPts val="0"/>
              </a:spcAft>
              <a:buClr>
                <a:schemeClr val="lt1"/>
              </a:buClr>
              <a:buSzPts val="6400"/>
              <a:buNone/>
              <a:defRPr sz="6400">
                <a:solidFill>
                  <a:schemeClr val="lt1"/>
                </a:solidFill>
              </a:defRPr>
            </a:lvl7pPr>
            <a:lvl8pPr lvl="7" algn="l">
              <a:lnSpc>
                <a:spcPct val="100000"/>
              </a:lnSpc>
              <a:spcBef>
                <a:spcPts val="0"/>
              </a:spcBef>
              <a:spcAft>
                <a:spcPts val="0"/>
              </a:spcAft>
              <a:buClr>
                <a:schemeClr val="lt1"/>
              </a:buClr>
              <a:buSzPts val="6400"/>
              <a:buNone/>
              <a:defRPr sz="6400">
                <a:solidFill>
                  <a:schemeClr val="lt1"/>
                </a:solidFill>
              </a:defRPr>
            </a:lvl8pPr>
            <a:lvl9pPr lvl="8" algn="l">
              <a:lnSpc>
                <a:spcPct val="100000"/>
              </a:lnSpc>
              <a:spcBef>
                <a:spcPts val="0"/>
              </a:spcBef>
              <a:spcAft>
                <a:spcPts val="0"/>
              </a:spcAft>
              <a:buClr>
                <a:schemeClr val="lt1"/>
              </a:buClr>
              <a:buSzPts val="6400"/>
              <a:buNone/>
              <a:defRPr sz="6400">
                <a:solidFill>
                  <a:schemeClr val="lt1"/>
                </a:solidFill>
              </a:defRPr>
            </a:lvl9pPr>
          </a:lstStyle>
          <a:p/>
        </p:txBody>
      </p:sp>
      <p:sp>
        <p:nvSpPr>
          <p:cNvPr id="40" name="Google Shape;40;g2da8673ca15_0_450"/>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41" name="Shape 41"/>
        <p:cNvGrpSpPr/>
        <p:nvPr/>
      </p:nvGrpSpPr>
      <p:grpSpPr>
        <a:xfrm>
          <a:off x="0" y="0"/>
          <a:ext cx="0" cy="0"/>
          <a:chOff x="0" y="0"/>
          <a:chExt cx="0" cy="0"/>
        </a:xfrm>
      </p:grpSpPr>
      <p:sp>
        <p:nvSpPr>
          <p:cNvPr id="42" name="Google Shape;42;g2da8673ca15_0_453"/>
          <p:cNvSpPr/>
          <p:nvPr/>
        </p:nvSpPr>
        <p:spPr>
          <a:xfrm>
            <a:off x="6096000" y="0"/>
            <a:ext cx="6096000" cy="6858000"/>
          </a:xfrm>
          <a:prstGeom prst="rect">
            <a:avLst/>
          </a:prstGeom>
          <a:solidFill>
            <a:schemeClr val="dk1"/>
          </a:solidFill>
          <a:ln>
            <a:noFill/>
          </a:ln>
        </p:spPr>
        <p:txBody>
          <a:bodyPr anchorCtr="0" anchor="ctr" bIns="121900" lIns="121900" spcFirstLastPara="1" rIns="121900" wrap="square" tIns="121900">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43" name="Google Shape;43;g2da8673ca15_0_453"/>
          <p:cNvCxnSpPr/>
          <p:nvPr/>
        </p:nvCxnSpPr>
        <p:spPr>
          <a:xfrm>
            <a:off x="6706233" y="5994000"/>
            <a:ext cx="624300" cy="0"/>
          </a:xfrm>
          <a:prstGeom prst="straightConnector1">
            <a:avLst/>
          </a:prstGeom>
          <a:noFill/>
          <a:ln cap="flat" cmpd="sng" w="19050">
            <a:solidFill>
              <a:schemeClr val="lt1"/>
            </a:solidFill>
            <a:prstDash val="solid"/>
            <a:round/>
            <a:headEnd len="sm" w="sm" type="none"/>
            <a:tailEnd len="sm" w="sm" type="none"/>
          </a:ln>
        </p:spPr>
      </p:cxnSp>
      <p:sp>
        <p:nvSpPr>
          <p:cNvPr id="44" name="Google Shape;44;g2da8673ca15_0_453"/>
          <p:cNvSpPr txBox="1"/>
          <p:nvPr>
            <p:ph type="title"/>
          </p:nvPr>
        </p:nvSpPr>
        <p:spPr>
          <a:xfrm>
            <a:off x="354000" y="1441867"/>
            <a:ext cx="5393700" cy="22803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5600"/>
              <a:buNone/>
              <a:defRPr sz="5600"/>
            </a:lvl1pPr>
            <a:lvl2pPr lvl="1" algn="ctr">
              <a:lnSpc>
                <a:spcPct val="100000"/>
              </a:lnSpc>
              <a:spcBef>
                <a:spcPts val="0"/>
              </a:spcBef>
              <a:spcAft>
                <a:spcPts val="0"/>
              </a:spcAft>
              <a:buSzPts val="5600"/>
              <a:buNone/>
              <a:defRPr sz="5600"/>
            </a:lvl2pPr>
            <a:lvl3pPr lvl="2" algn="ctr">
              <a:lnSpc>
                <a:spcPct val="100000"/>
              </a:lnSpc>
              <a:spcBef>
                <a:spcPts val="0"/>
              </a:spcBef>
              <a:spcAft>
                <a:spcPts val="0"/>
              </a:spcAft>
              <a:buSzPts val="5600"/>
              <a:buNone/>
              <a:defRPr sz="5600"/>
            </a:lvl3pPr>
            <a:lvl4pPr lvl="3" algn="ctr">
              <a:lnSpc>
                <a:spcPct val="100000"/>
              </a:lnSpc>
              <a:spcBef>
                <a:spcPts val="0"/>
              </a:spcBef>
              <a:spcAft>
                <a:spcPts val="0"/>
              </a:spcAft>
              <a:buSzPts val="5600"/>
              <a:buNone/>
              <a:defRPr sz="5600"/>
            </a:lvl4pPr>
            <a:lvl5pPr lvl="4" algn="ctr">
              <a:lnSpc>
                <a:spcPct val="100000"/>
              </a:lnSpc>
              <a:spcBef>
                <a:spcPts val="0"/>
              </a:spcBef>
              <a:spcAft>
                <a:spcPts val="0"/>
              </a:spcAft>
              <a:buSzPts val="5600"/>
              <a:buNone/>
              <a:defRPr sz="5600"/>
            </a:lvl5pPr>
            <a:lvl6pPr lvl="5" algn="ctr">
              <a:lnSpc>
                <a:spcPct val="100000"/>
              </a:lnSpc>
              <a:spcBef>
                <a:spcPts val="0"/>
              </a:spcBef>
              <a:spcAft>
                <a:spcPts val="0"/>
              </a:spcAft>
              <a:buSzPts val="5600"/>
              <a:buNone/>
              <a:defRPr sz="5600"/>
            </a:lvl6pPr>
            <a:lvl7pPr lvl="6" algn="ctr">
              <a:lnSpc>
                <a:spcPct val="100000"/>
              </a:lnSpc>
              <a:spcBef>
                <a:spcPts val="0"/>
              </a:spcBef>
              <a:spcAft>
                <a:spcPts val="0"/>
              </a:spcAft>
              <a:buSzPts val="5600"/>
              <a:buNone/>
              <a:defRPr sz="5600"/>
            </a:lvl7pPr>
            <a:lvl8pPr lvl="7" algn="ctr">
              <a:lnSpc>
                <a:spcPct val="100000"/>
              </a:lnSpc>
              <a:spcBef>
                <a:spcPts val="0"/>
              </a:spcBef>
              <a:spcAft>
                <a:spcPts val="0"/>
              </a:spcAft>
              <a:buSzPts val="5600"/>
              <a:buNone/>
              <a:defRPr sz="5600"/>
            </a:lvl8pPr>
            <a:lvl9pPr lvl="8" algn="ctr">
              <a:lnSpc>
                <a:spcPct val="100000"/>
              </a:lnSpc>
              <a:spcBef>
                <a:spcPts val="0"/>
              </a:spcBef>
              <a:spcAft>
                <a:spcPts val="0"/>
              </a:spcAft>
              <a:buSzPts val="5600"/>
              <a:buNone/>
              <a:defRPr sz="5600"/>
            </a:lvl9pPr>
          </a:lstStyle>
          <a:p/>
        </p:txBody>
      </p:sp>
      <p:sp>
        <p:nvSpPr>
          <p:cNvPr id="45" name="Google Shape;45;g2da8673ca15_0_453"/>
          <p:cNvSpPr txBox="1"/>
          <p:nvPr>
            <p:ph idx="1" type="subTitle"/>
          </p:nvPr>
        </p:nvSpPr>
        <p:spPr>
          <a:xfrm>
            <a:off x="354000" y="3793601"/>
            <a:ext cx="5393700" cy="1794000"/>
          </a:xfrm>
          <a:prstGeom prst="rect">
            <a:avLst/>
          </a:prstGeom>
          <a:noFill/>
          <a:ln>
            <a:noFill/>
          </a:ln>
        </p:spPr>
        <p:txBody>
          <a:bodyPr anchorCtr="0" anchor="t" bIns="121900" lIns="121900" spcFirstLastPara="1" rIns="121900" wrap="square" tIns="121900">
            <a:normAutofit/>
          </a:bodyPr>
          <a:lstStyle>
            <a:lvl1pPr lvl="0" algn="ctr">
              <a:lnSpc>
                <a:spcPct val="100000"/>
              </a:lnSpc>
              <a:spcBef>
                <a:spcPts val="0"/>
              </a:spcBef>
              <a:spcAft>
                <a:spcPts val="0"/>
              </a:spcAft>
              <a:buClr>
                <a:schemeClr val="dk1"/>
              </a:buClr>
              <a:buSzPts val="2800"/>
              <a:buNone/>
              <a:defRPr sz="2800">
                <a:solidFill>
                  <a:schemeClr val="dk1"/>
                </a:solidFill>
              </a:defRPr>
            </a:lvl1pPr>
            <a:lvl2pPr lvl="1" algn="ctr">
              <a:lnSpc>
                <a:spcPct val="100000"/>
              </a:lnSpc>
              <a:spcBef>
                <a:spcPts val="0"/>
              </a:spcBef>
              <a:spcAft>
                <a:spcPts val="0"/>
              </a:spcAft>
              <a:buClr>
                <a:schemeClr val="dk1"/>
              </a:buClr>
              <a:buSzPts val="2800"/>
              <a:buNone/>
              <a:defRPr sz="2800">
                <a:solidFill>
                  <a:schemeClr val="dk1"/>
                </a:solidFill>
              </a:defRPr>
            </a:lvl2pPr>
            <a:lvl3pPr lvl="2" algn="ctr">
              <a:lnSpc>
                <a:spcPct val="100000"/>
              </a:lnSpc>
              <a:spcBef>
                <a:spcPts val="0"/>
              </a:spcBef>
              <a:spcAft>
                <a:spcPts val="0"/>
              </a:spcAft>
              <a:buClr>
                <a:schemeClr val="dk1"/>
              </a:buClr>
              <a:buSzPts val="2800"/>
              <a:buNone/>
              <a:defRPr sz="2800">
                <a:solidFill>
                  <a:schemeClr val="dk1"/>
                </a:solidFill>
              </a:defRPr>
            </a:lvl3pPr>
            <a:lvl4pPr lvl="3" algn="ctr">
              <a:lnSpc>
                <a:spcPct val="100000"/>
              </a:lnSpc>
              <a:spcBef>
                <a:spcPts val="0"/>
              </a:spcBef>
              <a:spcAft>
                <a:spcPts val="0"/>
              </a:spcAft>
              <a:buClr>
                <a:schemeClr val="dk1"/>
              </a:buClr>
              <a:buSzPts val="2800"/>
              <a:buNone/>
              <a:defRPr sz="2800">
                <a:solidFill>
                  <a:schemeClr val="dk1"/>
                </a:solidFill>
              </a:defRPr>
            </a:lvl4pPr>
            <a:lvl5pPr lvl="4" algn="ctr">
              <a:lnSpc>
                <a:spcPct val="100000"/>
              </a:lnSpc>
              <a:spcBef>
                <a:spcPts val="0"/>
              </a:spcBef>
              <a:spcAft>
                <a:spcPts val="0"/>
              </a:spcAft>
              <a:buClr>
                <a:schemeClr val="dk1"/>
              </a:buClr>
              <a:buSzPts val="2800"/>
              <a:buNone/>
              <a:defRPr sz="2800">
                <a:solidFill>
                  <a:schemeClr val="dk1"/>
                </a:solidFill>
              </a:defRPr>
            </a:lvl5pPr>
            <a:lvl6pPr lvl="5" algn="ctr">
              <a:lnSpc>
                <a:spcPct val="100000"/>
              </a:lnSpc>
              <a:spcBef>
                <a:spcPts val="0"/>
              </a:spcBef>
              <a:spcAft>
                <a:spcPts val="0"/>
              </a:spcAft>
              <a:buClr>
                <a:schemeClr val="dk1"/>
              </a:buClr>
              <a:buSzPts val="2800"/>
              <a:buNone/>
              <a:defRPr sz="2800">
                <a:solidFill>
                  <a:schemeClr val="dk1"/>
                </a:solidFill>
              </a:defRPr>
            </a:lvl6pPr>
            <a:lvl7pPr lvl="6" algn="ctr">
              <a:lnSpc>
                <a:spcPct val="100000"/>
              </a:lnSpc>
              <a:spcBef>
                <a:spcPts val="0"/>
              </a:spcBef>
              <a:spcAft>
                <a:spcPts val="0"/>
              </a:spcAft>
              <a:buClr>
                <a:schemeClr val="dk1"/>
              </a:buClr>
              <a:buSzPts val="2800"/>
              <a:buNone/>
              <a:defRPr sz="2800">
                <a:solidFill>
                  <a:schemeClr val="dk1"/>
                </a:solidFill>
              </a:defRPr>
            </a:lvl7pPr>
            <a:lvl8pPr lvl="7" algn="ctr">
              <a:lnSpc>
                <a:spcPct val="100000"/>
              </a:lnSpc>
              <a:spcBef>
                <a:spcPts val="0"/>
              </a:spcBef>
              <a:spcAft>
                <a:spcPts val="0"/>
              </a:spcAft>
              <a:buClr>
                <a:schemeClr val="dk1"/>
              </a:buClr>
              <a:buSzPts val="2800"/>
              <a:buNone/>
              <a:defRPr sz="2800">
                <a:solidFill>
                  <a:schemeClr val="dk1"/>
                </a:solidFill>
              </a:defRPr>
            </a:lvl8pPr>
            <a:lvl9pPr lvl="8" algn="ctr">
              <a:lnSpc>
                <a:spcPct val="100000"/>
              </a:lnSpc>
              <a:spcBef>
                <a:spcPts val="0"/>
              </a:spcBef>
              <a:spcAft>
                <a:spcPts val="0"/>
              </a:spcAft>
              <a:buClr>
                <a:schemeClr val="dk1"/>
              </a:buClr>
              <a:buSzPts val="2800"/>
              <a:buNone/>
              <a:defRPr sz="2800">
                <a:solidFill>
                  <a:schemeClr val="dk1"/>
                </a:solidFill>
              </a:defRPr>
            </a:lvl9pPr>
          </a:lstStyle>
          <a:p/>
        </p:txBody>
      </p:sp>
      <p:sp>
        <p:nvSpPr>
          <p:cNvPr id="46" name="Google Shape;46;g2da8673ca15_0_453"/>
          <p:cNvSpPr txBox="1"/>
          <p:nvPr>
            <p:ph idx="2" type="body"/>
          </p:nvPr>
        </p:nvSpPr>
        <p:spPr>
          <a:xfrm>
            <a:off x="6586000" y="965600"/>
            <a:ext cx="5115900" cy="4926900"/>
          </a:xfrm>
          <a:prstGeom prst="rect">
            <a:avLst/>
          </a:prstGeom>
          <a:noFill/>
          <a:ln>
            <a:noFill/>
          </a:ln>
        </p:spPr>
        <p:txBody>
          <a:bodyPr anchorCtr="0" anchor="ctr" bIns="121900" lIns="121900" spcFirstLastPara="1" rIns="121900" wrap="square" tIns="121900">
            <a:normAutofit/>
          </a:bodyPr>
          <a:lstStyle>
            <a:lvl1pPr indent="-381000" lvl="0" marL="457200" algn="l">
              <a:lnSpc>
                <a:spcPct val="115000"/>
              </a:lnSpc>
              <a:spcBef>
                <a:spcPts val="0"/>
              </a:spcBef>
              <a:spcAft>
                <a:spcPts val="0"/>
              </a:spcAft>
              <a:buClr>
                <a:schemeClr val="lt1"/>
              </a:buClr>
              <a:buSzPts val="2400"/>
              <a:buChar char="●"/>
              <a:defRPr>
                <a:solidFill>
                  <a:schemeClr val="lt1"/>
                </a:solidFill>
              </a:defRPr>
            </a:lvl1pPr>
            <a:lvl2pPr indent="-349250" lvl="1" marL="914400" algn="l">
              <a:lnSpc>
                <a:spcPct val="115000"/>
              </a:lnSpc>
              <a:spcBef>
                <a:spcPts val="0"/>
              </a:spcBef>
              <a:spcAft>
                <a:spcPts val="0"/>
              </a:spcAft>
              <a:buClr>
                <a:schemeClr val="lt1"/>
              </a:buClr>
              <a:buSzPts val="1900"/>
              <a:buChar char="○"/>
              <a:defRPr>
                <a:solidFill>
                  <a:schemeClr val="lt1"/>
                </a:solidFill>
              </a:defRPr>
            </a:lvl2pPr>
            <a:lvl3pPr indent="-349250" lvl="2" marL="1371600" algn="l">
              <a:lnSpc>
                <a:spcPct val="115000"/>
              </a:lnSpc>
              <a:spcBef>
                <a:spcPts val="0"/>
              </a:spcBef>
              <a:spcAft>
                <a:spcPts val="0"/>
              </a:spcAft>
              <a:buClr>
                <a:schemeClr val="lt1"/>
              </a:buClr>
              <a:buSzPts val="1900"/>
              <a:buChar char="■"/>
              <a:defRPr>
                <a:solidFill>
                  <a:schemeClr val="lt1"/>
                </a:solidFill>
              </a:defRPr>
            </a:lvl3pPr>
            <a:lvl4pPr indent="-349250" lvl="3" marL="1828800" algn="l">
              <a:lnSpc>
                <a:spcPct val="115000"/>
              </a:lnSpc>
              <a:spcBef>
                <a:spcPts val="0"/>
              </a:spcBef>
              <a:spcAft>
                <a:spcPts val="0"/>
              </a:spcAft>
              <a:buClr>
                <a:schemeClr val="lt1"/>
              </a:buClr>
              <a:buSzPts val="1900"/>
              <a:buChar char="●"/>
              <a:defRPr>
                <a:solidFill>
                  <a:schemeClr val="lt1"/>
                </a:solidFill>
              </a:defRPr>
            </a:lvl4pPr>
            <a:lvl5pPr indent="-349250" lvl="4" marL="2286000" algn="l">
              <a:lnSpc>
                <a:spcPct val="115000"/>
              </a:lnSpc>
              <a:spcBef>
                <a:spcPts val="0"/>
              </a:spcBef>
              <a:spcAft>
                <a:spcPts val="0"/>
              </a:spcAft>
              <a:buClr>
                <a:schemeClr val="lt1"/>
              </a:buClr>
              <a:buSzPts val="1900"/>
              <a:buChar char="○"/>
              <a:defRPr>
                <a:solidFill>
                  <a:schemeClr val="lt1"/>
                </a:solidFill>
              </a:defRPr>
            </a:lvl5pPr>
            <a:lvl6pPr indent="-349250" lvl="5" marL="2743200" algn="l">
              <a:lnSpc>
                <a:spcPct val="115000"/>
              </a:lnSpc>
              <a:spcBef>
                <a:spcPts val="0"/>
              </a:spcBef>
              <a:spcAft>
                <a:spcPts val="0"/>
              </a:spcAft>
              <a:buClr>
                <a:schemeClr val="lt1"/>
              </a:buClr>
              <a:buSzPts val="1900"/>
              <a:buChar char="■"/>
              <a:defRPr>
                <a:solidFill>
                  <a:schemeClr val="lt1"/>
                </a:solidFill>
              </a:defRPr>
            </a:lvl6pPr>
            <a:lvl7pPr indent="-349250" lvl="6" marL="3200400" algn="l">
              <a:lnSpc>
                <a:spcPct val="115000"/>
              </a:lnSpc>
              <a:spcBef>
                <a:spcPts val="0"/>
              </a:spcBef>
              <a:spcAft>
                <a:spcPts val="0"/>
              </a:spcAft>
              <a:buClr>
                <a:schemeClr val="lt1"/>
              </a:buClr>
              <a:buSzPts val="1900"/>
              <a:buChar char="●"/>
              <a:defRPr>
                <a:solidFill>
                  <a:schemeClr val="lt1"/>
                </a:solidFill>
              </a:defRPr>
            </a:lvl7pPr>
            <a:lvl8pPr indent="-349250" lvl="7" marL="3657600" algn="l">
              <a:lnSpc>
                <a:spcPct val="115000"/>
              </a:lnSpc>
              <a:spcBef>
                <a:spcPts val="0"/>
              </a:spcBef>
              <a:spcAft>
                <a:spcPts val="0"/>
              </a:spcAft>
              <a:buClr>
                <a:schemeClr val="lt1"/>
              </a:buClr>
              <a:buSzPts val="1900"/>
              <a:buChar char="○"/>
              <a:defRPr>
                <a:solidFill>
                  <a:schemeClr val="lt1"/>
                </a:solidFill>
              </a:defRPr>
            </a:lvl8pPr>
            <a:lvl9pPr indent="-349250" lvl="8" marL="4114800" algn="l">
              <a:lnSpc>
                <a:spcPct val="115000"/>
              </a:lnSpc>
              <a:spcBef>
                <a:spcPts val="0"/>
              </a:spcBef>
              <a:spcAft>
                <a:spcPts val="0"/>
              </a:spcAft>
              <a:buClr>
                <a:schemeClr val="lt1"/>
              </a:buClr>
              <a:buSzPts val="1900"/>
              <a:buChar char="■"/>
              <a:defRPr>
                <a:solidFill>
                  <a:schemeClr val="lt1"/>
                </a:solidFill>
              </a:defRPr>
            </a:lvl9pPr>
          </a:lstStyle>
          <a:p/>
        </p:txBody>
      </p:sp>
      <p:sp>
        <p:nvSpPr>
          <p:cNvPr id="47" name="Google Shape;47;g2da8673ca15_0_453"/>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lt1"/>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8" name="Shape 48"/>
        <p:cNvGrpSpPr/>
        <p:nvPr/>
      </p:nvGrpSpPr>
      <p:grpSpPr>
        <a:xfrm>
          <a:off x="0" y="0"/>
          <a:ext cx="0" cy="0"/>
          <a:chOff x="0" y="0"/>
          <a:chExt cx="0" cy="0"/>
        </a:xfrm>
      </p:grpSpPr>
      <p:sp>
        <p:nvSpPr>
          <p:cNvPr id="49" name="Google Shape;49;g2da8673ca15_0_460"/>
          <p:cNvSpPr txBox="1"/>
          <p:nvPr>
            <p:ph idx="1" type="body"/>
          </p:nvPr>
        </p:nvSpPr>
        <p:spPr>
          <a:xfrm>
            <a:off x="415600" y="5640767"/>
            <a:ext cx="7998300" cy="806700"/>
          </a:xfrm>
          <a:prstGeom prst="rect">
            <a:avLst/>
          </a:prstGeom>
          <a:noFill/>
          <a:ln>
            <a:noFill/>
          </a:ln>
        </p:spPr>
        <p:txBody>
          <a:bodyPr anchorCtr="0" anchor="ctr" bIns="121900" lIns="121900" spcFirstLastPara="1" rIns="121900" wrap="square" tIns="121900">
            <a:normAutofit/>
          </a:bodyPr>
          <a:lstStyle>
            <a:lvl1pPr indent="-228600" lvl="0" marL="457200" algn="l">
              <a:lnSpc>
                <a:spcPct val="100000"/>
              </a:lnSpc>
              <a:spcBef>
                <a:spcPts val="0"/>
              </a:spcBef>
              <a:spcAft>
                <a:spcPts val="0"/>
              </a:spcAft>
              <a:buClr>
                <a:schemeClr val="dk1"/>
              </a:buClr>
              <a:buSzPts val="2800"/>
              <a:buFont typeface="Oswald"/>
              <a:buNone/>
              <a:defRPr sz="2800">
                <a:solidFill>
                  <a:schemeClr val="dk1"/>
                </a:solidFill>
                <a:latin typeface="Oswald"/>
                <a:ea typeface="Oswald"/>
                <a:cs typeface="Oswald"/>
                <a:sym typeface="Oswald"/>
              </a:defRPr>
            </a:lvl1pPr>
          </a:lstStyle>
          <a:p/>
        </p:txBody>
      </p:sp>
      <p:sp>
        <p:nvSpPr>
          <p:cNvPr id="50" name="Google Shape;50;g2da8673ca15_0_460"/>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51" name="Shape 51"/>
        <p:cNvGrpSpPr/>
        <p:nvPr/>
      </p:nvGrpSpPr>
      <p:grpSpPr>
        <a:xfrm>
          <a:off x="0" y="0"/>
          <a:ext cx="0" cy="0"/>
          <a:chOff x="0" y="0"/>
          <a:chExt cx="0" cy="0"/>
        </a:xfrm>
      </p:grpSpPr>
      <p:sp>
        <p:nvSpPr>
          <p:cNvPr id="52" name="Google Shape;52;g2da8673ca15_0_463"/>
          <p:cNvSpPr txBox="1"/>
          <p:nvPr>
            <p:ph hasCustomPrompt="1" type="title"/>
          </p:nvPr>
        </p:nvSpPr>
        <p:spPr>
          <a:xfrm>
            <a:off x="415600" y="1673700"/>
            <a:ext cx="11360700" cy="2520900"/>
          </a:xfrm>
          <a:prstGeom prst="rect">
            <a:avLst/>
          </a:prstGeom>
          <a:noFill/>
          <a:ln>
            <a:noFill/>
          </a:ln>
        </p:spPr>
        <p:txBody>
          <a:bodyPr anchorCtr="0" anchor="b" bIns="121900" lIns="121900" spcFirstLastPara="1" rIns="121900" wrap="square" tIns="121900">
            <a:normAutofit/>
          </a:bodyPr>
          <a:lstStyle>
            <a:lvl1pPr lvl="0" algn="ctr">
              <a:lnSpc>
                <a:spcPct val="100000"/>
              </a:lnSpc>
              <a:spcBef>
                <a:spcPts val="0"/>
              </a:spcBef>
              <a:spcAft>
                <a:spcPts val="0"/>
              </a:spcAft>
              <a:buSzPts val="16000"/>
              <a:buNone/>
              <a:defRPr sz="16000"/>
            </a:lvl1pPr>
            <a:lvl2pPr lvl="1" algn="ctr">
              <a:lnSpc>
                <a:spcPct val="100000"/>
              </a:lnSpc>
              <a:spcBef>
                <a:spcPts val="0"/>
              </a:spcBef>
              <a:spcAft>
                <a:spcPts val="0"/>
              </a:spcAft>
              <a:buSzPts val="16000"/>
              <a:buNone/>
              <a:defRPr sz="16000"/>
            </a:lvl2pPr>
            <a:lvl3pPr lvl="2" algn="ctr">
              <a:lnSpc>
                <a:spcPct val="100000"/>
              </a:lnSpc>
              <a:spcBef>
                <a:spcPts val="0"/>
              </a:spcBef>
              <a:spcAft>
                <a:spcPts val="0"/>
              </a:spcAft>
              <a:buSzPts val="16000"/>
              <a:buNone/>
              <a:defRPr sz="16000"/>
            </a:lvl3pPr>
            <a:lvl4pPr lvl="3" algn="ctr">
              <a:lnSpc>
                <a:spcPct val="100000"/>
              </a:lnSpc>
              <a:spcBef>
                <a:spcPts val="0"/>
              </a:spcBef>
              <a:spcAft>
                <a:spcPts val="0"/>
              </a:spcAft>
              <a:buSzPts val="16000"/>
              <a:buNone/>
              <a:defRPr sz="16000"/>
            </a:lvl4pPr>
            <a:lvl5pPr lvl="4" algn="ctr">
              <a:lnSpc>
                <a:spcPct val="100000"/>
              </a:lnSpc>
              <a:spcBef>
                <a:spcPts val="0"/>
              </a:spcBef>
              <a:spcAft>
                <a:spcPts val="0"/>
              </a:spcAft>
              <a:buSzPts val="16000"/>
              <a:buNone/>
              <a:defRPr sz="16000"/>
            </a:lvl5pPr>
            <a:lvl6pPr lvl="5" algn="ctr">
              <a:lnSpc>
                <a:spcPct val="100000"/>
              </a:lnSpc>
              <a:spcBef>
                <a:spcPts val="0"/>
              </a:spcBef>
              <a:spcAft>
                <a:spcPts val="0"/>
              </a:spcAft>
              <a:buSzPts val="16000"/>
              <a:buNone/>
              <a:defRPr sz="16000"/>
            </a:lvl6pPr>
            <a:lvl7pPr lvl="6" algn="ctr">
              <a:lnSpc>
                <a:spcPct val="100000"/>
              </a:lnSpc>
              <a:spcBef>
                <a:spcPts val="0"/>
              </a:spcBef>
              <a:spcAft>
                <a:spcPts val="0"/>
              </a:spcAft>
              <a:buSzPts val="16000"/>
              <a:buNone/>
              <a:defRPr sz="16000"/>
            </a:lvl7pPr>
            <a:lvl8pPr lvl="7" algn="ctr">
              <a:lnSpc>
                <a:spcPct val="100000"/>
              </a:lnSpc>
              <a:spcBef>
                <a:spcPts val="0"/>
              </a:spcBef>
              <a:spcAft>
                <a:spcPts val="0"/>
              </a:spcAft>
              <a:buSzPts val="16000"/>
              <a:buNone/>
              <a:defRPr sz="16000"/>
            </a:lvl8pPr>
            <a:lvl9pPr lvl="8" algn="ctr">
              <a:lnSpc>
                <a:spcPct val="100000"/>
              </a:lnSpc>
              <a:spcBef>
                <a:spcPts val="0"/>
              </a:spcBef>
              <a:spcAft>
                <a:spcPts val="0"/>
              </a:spcAft>
              <a:buSzPts val="16000"/>
              <a:buNone/>
              <a:defRPr sz="16000"/>
            </a:lvl9pPr>
          </a:lstStyle>
          <a:p>
            <a:r>
              <a:t>xx%</a:t>
            </a:r>
          </a:p>
        </p:txBody>
      </p:sp>
      <p:sp>
        <p:nvSpPr>
          <p:cNvPr id="53" name="Google Shape;53;g2da8673ca15_0_463"/>
          <p:cNvSpPr txBox="1"/>
          <p:nvPr>
            <p:ph idx="1" type="body"/>
          </p:nvPr>
        </p:nvSpPr>
        <p:spPr>
          <a:xfrm>
            <a:off x="415600" y="4304567"/>
            <a:ext cx="11360700" cy="1734300"/>
          </a:xfrm>
          <a:prstGeom prst="rect">
            <a:avLst/>
          </a:prstGeom>
          <a:noFill/>
          <a:ln>
            <a:noFill/>
          </a:ln>
        </p:spPr>
        <p:txBody>
          <a:bodyPr anchorCtr="0" anchor="t" bIns="121900" lIns="121900" spcFirstLastPara="1" rIns="121900" wrap="square" tIns="121900">
            <a:normAutofit/>
          </a:bodyPr>
          <a:lstStyle>
            <a:lvl1pPr indent="-381000" lvl="0" marL="457200" algn="ctr">
              <a:lnSpc>
                <a:spcPct val="115000"/>
              </a:lnSpc>
              <a:spcBef>
                <a:spcPts val="0"/>
              </a:spcBef>
              <a:spcAft>
                <a:spcPts val="0"/>
              </a:spcAft>
              <a:buSzPts val="2400"/>
              <a:buChar char="●"/>
              <a:defRPr/>
            </a:lvl1pPr>
            <a:lvl2pPr indent="-349250" lvl="1" marL="914400" algn="ctr">
              <a:lnSpc>
                <a:spcPct val="115000"/>
              </a:lnSpc>
              <a:spcBef>
                <a:spcPts val="0"/>
              </a:spcBef>
              <a:spcAft>
                <a:spcPts val="0"/>
              </a:spcAft>
              <a:buSzPts val="1900"/>
              <a:buChar char="○"/>
              <a:defRPr/>
            </a:lvl2pPr>
            <a:lvl3pPr indent="-349250" lvl="2" marL="1371600" algn="ctr">
              <a:lnSpc>
                <a:spcPct val="115000"/>
              </a:lnSpc>
              <a:spcBef>
                <a:spcPts val="0"/>
              </a:spcBef>
              <a:spcAft>
                <a:spcPts val="0"/>
              </a:spcAft>
              <a:buSzPts val="1900"/>
              <a:buChar char="■"/>
              <a:defRPr/>
            </a:lvl3pPr>
            <a:lvl4pPr indent="-349250" lvl="3" marL="1828800" algn="ctr">
              <a:lnSpc>
                <a:spcPct val="115000"/>
              </a:lnSpc>
              <a:spcBef>
                <a:spcPts val="0"/>
              </a:spcBef>
              <a:spcAft>
                <a:spcPts val="0"/>
              </a:spcAft>
              <a:buSzPts val="1900"/>
              <a:buChar char="●"/>
              <a:defRPr/>
            </a:lvl4pPr>
            <a:lvl5pPr indent="-349250" lvl="4" marL="2286000" algn="ctr">
              <a:lnSpc>
                <a:spcPct val="115000"/>
              </a:lnSpc>
              <a:spcBef>
                <a:spcPts val="0"/>
              </a:spcBef>
              <a:spcAft>
                <a:spcPts val="0"/>
              </a:spcAft>
              <a:buSzPts val="1900"/>
              <a:buChar char="○"/>
              <a:defRPr/>
            </a:lvl5pPr>
            <a:lvl6pPr indent="-349250" lvl="5" marL="2743200" algn="ctr">
              <a:lnSpc>
                <a:spcPct val="115000"/>
              </a:lnSpc>
              <a:spcBef>
                <a:spcPts val="0"/>
              </a:spcBef>
              <a:spcAft>
                <a:spcPts val="0"/>
              </a:spcAft>
              <a:buSzPts val="1900"/>
              <a:buChar char="■"/>
              <a:defRPr/>
            </a:lvl6pPr>
            <a:lvl7pPr indent="-349250" lvl="6" marL="3200400" algn="ctr">
              <a:lnSpc>
                <a:spcPct val="115000"/>
              </a:lnSpc>
              <a:spcBef>
                <a:spcPts val="0"/>
              </a:spcBef>
              <a:spcAft>
                <a:spcPts val="0"/>
              </a:spcAft>
              <a:buSzPts val="1900"/>
              <a:buChar char="●"/>
              <a:defRPr/>
            </a:lvl7pPr>
            <a:lvl8pPr indent="-349250" lvl="7" marL="3657600" algn="ctr">
              <a:lnSpc>
                <a:spcPct val="115000"/>
              </a:lnSpc>
              <a:spcBef>
                <a:spcPts val="0"/>
              </a:spcBef>
              <a:spcAft>
                <a:spcPts val="0"/>
              </a:spcAft>
              <a:buSzPts val="1900"/>
              <a:buChar char="○"/>
              <a:defRPr/>
            </a:lvl8pPr>
            <a:lvl9pPr indent="-349250" lvl="8" marL="4114800" algn="ctr">
              <a:lnSpc>
                <a:spcPct val="115000"/>
              </a:lnSpc>
              <a:spcBef>
                <a:spcPts val="0"/>
              </a:spcBef>
              <a:spcAft>
                <a:spcPts val="0"/>
              </a:spcAft>
              <a:buSzPts val="1900"/>
              <a:buChar char="■"/>
              <a:defRPr/>
            </a:lvl9pPr>
          </a:lstStyle>
          <a:p/>
        </p:txBody>
      </p:sp>
      <p:sp>
        <p:nvSpPr>
          <p:cNvPr id="54" name="Google Shape;54;g2da8673ca15_0_463"/>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late">
    <p:bg>
      <p:bgPr>
        <a:solidFill>
          <a:schemeClr val="lt1"/>
        </a:solidFill>
      </p:bgPr>
    </p:bg>
    <p:spTree>
      <p:nvGrpSpPr>
        <p:cNvPr id="5" name="Shape 5"/>
        <p:cNvGrpSpPr/>
        <p:nvPr/>
      </p:nvGrpSpPr>
      <p:grpSpPr>
        <a:xfrm>
          <a:off x="0" y="0"/>
          <a:ext cx="0" cy="0"/>
          <a:chOff x="0" y="0"/>
          <a:chExt cx="0" cy="0"/>
        </a:xfrm>
      </p:grpSpPr>
      <p:sp>
        <p:nvSpPr>
          <p:cNvPr id="6" name="Google Shape;6;g2da8673ca15_0_41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a:bodyPr>
          <a:lstStyle>
            <a:lvl1pPr lvl="0"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1pPr>
            <a:lvl2pPr lvl="1"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2pPr>
            <a:lvl3pPr lvl="2"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3pPr>
            <a:lvl4pPr lvl="3"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4pPr>
            <a:lvl5pPr lvl="4"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5pPr>
            <a:lvl6pPr lvl="5"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6pPr>
            <a:lvl7pPr lvl="6"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7pPr>
            <a:lvl8pPr lvl="7"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8pPr>
            <a:lvl9pPr lvl="8" marR="0" rtl="0" algn="l">
              <a:lnSpc>
                <a:spcPct val="100000"/>
              </a:lnSpc>
              <a:spcBef>
                <a:spcPts val="0"/>
              </a:spcBef>
              <a:spcAft>
                <a:spcPts val="0"/>
              </a:spcAft>
              <a:buClr>
                <a:schemeClr val="dk1"/>
              </a:buClr>
              <a:buSzPts val="4000"/>
              <a:buFont typeface="Oswald"/>
              <a:buNone/>
              <a:defRPr b="0" i="0" sz="4000" u="none" cap="none" strike="noStrike">
                <a:solidFill>
                  <a:schemeClr val="dk1"/>
                </a:solidFill>
                <a:latin typeface="Oswald"/>
                <a:ea typeface="Oswald"/>
                <a:cs typeface="Oswald"/>
                <a:sym typeface="Oswald"/>
              </a:defRPr>
            </a:lvl9pPr>
          </a:lstStyle>
          <a:p/>
        </p:txBody>
      </p:sp>
      <p:sp>
        <p:nvSpPr>
          <p:cNvPr id="7" name="Google Shape;7;g2da8673ca15_0_419"/>
          <p:cNvSpPr txBox="1"/>
          <p:nvPr>
            <p:ph idx="1" type="body"/>
          </p:nvPr>
        </p:nvSpPr>
        <p:spPr>
          <a:xfrm>
            <a:off x="415600" y="1536633"/>
            <a:ext cx="11360700" cy="4555200"/>
          </a:xfrm>
          <a:prstGeom prst="rect">
            <a:avLst/>
          </a:prstGeom>
          <a:noFill/>
          <a:ln>
            <a:noFill/>
          </a:ln>
        </p:spPr>
        <p:txBody>
          <a:bodyPr anchorCtr="0" anchor="t" bIns="121900" lIns="121900" spcFirstLastPara="1" rIns="121900" wrap="square" tIns="121900">
            <a:normAutofit/>
          </a:bodyPr>
          <a:lstStyle>
            <a:lvl1pPr indent="-381000" lvl="0" marL="457200" marR="0" rtl="0" algn="l">
              <a:lnSpc>
                <a:spcPct val="115000"/>
              </a:lnSpc>
              <a:spcBef>
                <a:spcPts val="0"/>
              </a:spcBef>
              <a:spcAft>
                <a:spcPts val="0"/>
              </a:spcAft>
              <a:buClr>
                <a:schemeClr val="accent3"/>
              </a:buClr>
              <a:buSzPts val="2400"/>
              <a:buFont typeface="Average"/>
              <a:buChar char="●"/>
              <a:defRPr b="0" i="0" sz="2400" u="none" cap="none" strike="noStrike">
                <a:solidFill>
                  <a:schemeClr val="accent3"/>
                </a:solidFill>
                <a:latin typeface="Average"/>
                <a:ea typeface="Average"/>
                <a:cs typeface="Average"/>
                <a:sym typeface="Average"/>
              </a:defRPr>
            </a:lvl1pPr>
            <a:lvl2pPr indent="-349250" lvl="1" marL="9144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2pPr>
            <a:lvl3pPr indent="-349250" lvl="2" marL="13716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3pPr>
            <a:lvl4pPr indent="-349250" lvl="3" marL="18288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4pPr>
            <a:lvl5pPr indent="-349250" lvl="4" marL="22860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5pPr>
            <a:lvl6pPr indent="-349250" lvl="5" marL="27432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6pPr>
            <a:lvl7pPr indent="-349250" lvl="6" marL="32004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7pPr>
            <a:lvl8pPr indent="-349250" lvl="7" marL="36576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8pPr>
            <a:lvl9pPr indent="-349250" lvl="8" marL="4114800" marR="0" rtl="0" algn="l">
              <a:lnSpc>
                <a:spcPct val="115000"/>
              </a:lnSpc>
              <a:spcBef>
                <a:spcPts val="0"/>
              </a:spcBef>
              <a:spcAft>
                <a:spcPts val="0"/>
              </a:spcAft>
              <a:buClr>
                <a:schemeClr val="accent3"/>
              </a:buClr>
              <a:buSzPts val="1900"/>
              <a:buFont typeface="Average"/>
              <a:buChar char="■"/>
              <a:defRPr b="0" i="0" sz="1900" u="none" cap="none" strike="noStrike">
                <a:solidFill>
                  <a:schemeClr val="accent3"/>
                </a:solidFill>
                <a:latin typeface="Average"/>
                <a:ea typeface="Average"/>
                <a:cs typeface="Average"/>
                <a:sym typeface="Average"/>
              </a:defRPr>
            </a:lvl9pPr>
          </a:lstStyle>
          <a:p/>
        </p:txBody>
      </p:sp>
      <p:sp>
        <p:nvSpPr>
          <p:cNvPr id="8" name="Google Shape;8;g2da8673ca15_0_419"/>
          <p:cNvSpPr txBox="1"/>
          <p:nvPr>
            <p:ph idx="12" type="sldNum"/>
          </p:nvPr>
        </p:nvSpPr>
        <p:spPr>
          <a:xfrm>
            <a:off x="11320333" y="6241346"/>
            <a:ext cx="731700" cy="524700"/>
          </a:xfrm>
          <a:prstGeom prst="rect">
            <a:avLst/>
          </a:prstGeom>
          <a:noFill/>
          <a:ln>
            <a:noFill/>
          </a:ln>
        </p:spPr>
        <p:txBody>
          <a:bodyPr anchorCtr="0" anchor="ctr" bIns="121900" lIns="121900" spcFirstLastPara="1" rIns="121900" wrap="square" tIns="121900">
            <a:normAutofit/>
          </a:bodyPr>
          <a:lstStyle>
            <a:lvl1pPr indent="0" lvl="0"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1pPr>
            <a:lvl2pPr indent="0" lvl="1"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2pPr>
            <a:lvl3pPr indent="0" lvl="2"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3pPr>
            <a:lvl4pPr indent="0" lvl="3"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4pPr>
            <a:lvl5pPr indent="0" lvl="4"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5pPr>
            <a:lvl6pPr indent="0" lvl="5"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6pPr>
            <a:lvl7pPr indent="0" lvl="6"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7pPr>
            <a:lvl8pPr indent="0" lvl="7"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8pPr>
            <a:lvl9pPr indent="0" lvl="8" marL="0" marR="0" rtl="0" algn="r">
              <a:lnSpc>
                <a:spcPct val="100000"/>
              </a:lnSpc>
              <a:spcBef>
                <a:spcPts val="0"/>
              </a:spcBef>
              <a:spcAft>
                <a:spcPts val="0"/>
              </a:spcAft>
              <a:buClr>
                <a:srgbClr val="000000"/>
              </a:buClr>
              <a:buSzPts val="1300"/>
              <a:buFont typeface="Arial"/>
              <a:buNone/>
              <a:defRPr b="0" i="0" sz="1300" u="none" cap="none" strike="noStrike">
                <a:solidFill>
                  <a:schemeClr val="accent3"/>
                </a:solidFill>
                <a:latin typeface="Average"/>
                <a:ea typeface="Average"/>
                <a:cs typeface="Average"/>
                <a:sym typeface="Average"/>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7.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1.xml"/><Relationship Id="rId3" Type="http://schemas.openxmlformats.org/officeDocument/2006/relationships/image" Target="../media/image4.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 Id="rId3" Type="http://schemas.openxmlformats.org/officeDocument/2006/relationships/image" Target="../media/image6.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2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17.png"/><Relationship Id="rId4" Type="http://schemas.openxmlformats.org/officeDocument/2006/relationships/image" Target="../media/image13.png"/><Relationship Id="rId5" Type="http://schemas.openxmlformats.org/officeDocument/2006/relationships/image" Target="../media/image18.png"/><Relationship Id="rId6" Type="http://schemas.openxmlformats.org/officeDocument/2006/relationships/image" Target="../media/image2.png"/><Relationship Id="rId7"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 Id="rId3" Type="http://schemas.openxmlformats.org/officeDocument/2006/relationships/image" Target="../media/image1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 Id="rId3" Type="http://schemas.openxmlformats.org/officeDocument/2006/relationships/image" Target="../media/image10.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22.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image14.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12.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image20.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4.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0.xml"/><Relationship Id="rId3"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sp>
        <p:nvSpPr>
          <p:cNvPr id="59" name="Google Shape;59;g6b14167052aa37c3_0"/>
          <p:cNvSpPr txBox="1"/>
          <p:nvPr>
            <p:ph type="title"/>
          </p:nvPr>
        </p:nvSpPr>
        <p:spPr>
          <a:xfrm>
            <a:off x="2409000" y="1185250"/>
            <a:ext cx="7374000" cy="3463200"/>
          </a:xfrm>
          <a:prstGeom prst="rect">
            <a:avLst/>
          </a:prstGeom>
          <a:noFill/>
          <a:ln>
            <a:noFill/>
          </a:ln>
        </p:spPr>
        <p:txBody>
          <a:bodyPr anchorCtr="0" anchor="t" bIns="121900" lIns="121900" spcFirstLastPara="1" rIns="121900" wrap="square" tIns="121900">
            <a:spAutoFit/>
          </a:bodyPr>
          <a:lstStyle/>
          <a:p>
            <a:pPr indent="0" lvl="0" marL="0" rtl="0" algn="ctr">
              <a:lnSpc>
                <a:spcPct val="100000"/>
              </a:lnSpc>
              <a:spcBef>
                <a:spcPts val="0"/>
              </a:spcBef>
              <a:spcAft>
                <a:spcPts val="0"/>
              </a:spcAft>
              <a:buSzPts val="4000"/>
              <a:buNone/>
            </a:pPr>
            <a:r>
              <a:rPr i="1" lang="en-US" sz="5200">
                <a:latin typeface="Calibri"/>
                <a:ea typeface="Calibri"/>
                <a:cs typeface="Calibri"/>
                <a:sym typeface="Calibri"/>
              </a:rPr>
              <a:t>Uncertainty Quantification in Deep Learning</a:t>
            </a:r>
            <a:endParaRPr i="1" sz="5200">
              <a:latin typeface="Calibri"/>
              <a:ea typeface="Calibri"/>
              <a:cs typeface="Calibri"/>
              <a:sym typeface="Calibri"/>
            </a:endParaRPr>
          </a:p>
          <a:p>
            <a:pPr indent="0" lvl="0" marL="0" rtl="0" algn="ctr">
              <a:lnSpc>
                <a:spcPct val="100000"/>
              </a:lnSpc>
              <a:spcBef>
                <a:spcPts val="0"/>
              </a:spcBef>
              <a:spcAft>
                <a:spcPts val="0"/>
              </a:spcAft>
              <a:buSzPts val="4000"/>
              <a:buNone/>
            </a:pPr>
            <a:r>
              <a:t/>
            </a:r>
            <a:endParaRPr sz="3500">
              <a:latin typeface="Calibri"/>
              <a:ea typeface="Calibri"/>
              <a:cs typeface="Calibri"/>
              <a:sym typeface="Calibri"/>
            </a:endParaRPr>
          </a:p>
          <a:p>
            <a:pPr indent="0" lvl="0" marL="0" rtl="0" algn="ctr">
              <a:lnSpc>
                <a:spcPct val="100000"/>
              </a:lnSpc>
              <a:spcBef>
                <a:spcPts val="0"/>
              </a:spcBef>
              <a:spcAft>
                <a:spcPts val="0"/>
              </a:spcAft>
              <a:buSzPts val="4000"/>
              <a:buNone/>
            </a:pPr>
            <a:r>
              <a:rPr lang="en-US" sz="3500">
                <a:latin typeface="Calibri"/>
                <a:ea typeface="Calibri"/>
                <a:cs typeface="Calibri"/>
                <a:sym typeface="Calibri"/>
              </a:rPr>
              <a:t>Case Study </a:t>
            </a:r>
            <a:endParaRPr sz="3500">
              <a:latin typeface="Calibri"/>
              <a:ea typeface="Calibri"/>
              <a:cs typeface="Calibri"/>
              <a:sym typeface="Calibri"/>
            </a:endParaRPr>
          </a:p>
          <a:p>
            <a:pPr indent="0" lvl="0" marL="0" rtl="0" algn="ctr">
              <a:lnSpc>
                <a:spcPct val="100000"/>
              </a:lnSpc>
              <a:spcBef>
                <a:spcPts val="0"/>
              </a:spcBef>
              <a:spcAft>
                <a:spcPts val="0"/>
              </a:spcAft>
              <a:buSzPts val="4000"/>
              <a:buNone/>
            </a:pPr>
            <a:r>
              <a:rPr lang="en-US" sz="3500">
                <a:latin typeface="Calibri"/>
                <a:ea typeface="Calibri"/>
                <a:cs typeface="Calibri"/>
                <a:sym typeface="Calibri"/>
              </a:rPr>
              <a:t>Mid-Term Presentation</a:t>
            </a:r>
            <a:endParaRPr sz="3500">
              <a:latin typeface="Calibri"/>
              <a:ea typeface="Calibri"/>
              <a:cs typeface="Calibri"/>
              <a:sym typeface="Calibri"/>
            </a:endParaRPr>
          </a:p>
        </p:txBody>
      </p:sp>
      <p:sp>
        <p:nvSpPr>
          <p:cNvPr id="60" name="Google Shape;60;g6b14167052aa37c3_0"/>
          <p:cNvSpPr txBox="1"/>
          <p:nvPr>
            <p:ph idx="4294967295" type="subTitle"/>
          </p:nvPr>
        </p:nvSpPr>
        <p:spPr>
          <a:xfrm>
            <a:off x="2077651" y="5472897"/>
            <a:ext cx="8036700" cy="1385100"/>
          </a:xfrm>
          <a:prstGeom prst="rect">
            <a:avLst/>
          </a:prstGeom>
          <a:noFill/>
          <a:ln>
            <a:noFill/>
          </a:ln>
        </p:spPr>
        <p:txBody>
          <a:bodyPr anchorCtr="0" anchor="t" bIns="121900" lIns="121900" spcFirstLastPara="1" rIns="121900" wrap="square" tIns="121900">
            <a:normAutofit/>
          </a:bodyPr>
          <a:lstStyle/>
          <a:p>
            <a:pPr indent="0" lvl="0" marL="0" marR="0" rtl="0" algn="ctr">
              <a:lnSpc>
                <a:spcPct val="115000"/>
              </a:lnSpc>
              <a:spcBef>
                <a:spcPts val="0"/>
              </a:spcBef>
              <a:spcAft>
                <a:spcPts val="0"/>
              </a:spcAft>
              <a:buClr>
                <a:schemeClr val="accent3"/>
              </a:buClr>
              <a:buSzPts val="2400"/>
              <a:buFont typeface="Average"/>
              <a:buNone/>
            </a:pPr>
            <a:r>
              <a:rPr b="0" i="0" lang="en-US" sz="2400" u="none" cap="none" strike="noStrike">
                <a:solidFill>
                  <a:schemeClr val="dk1"/>
                </a:solidFill>
                <a:latin typeface="Calibri"/>
                <a:ea typeface="Calibri"/>
                <a:cs typeface="Calibri"/>
                <a:sym typeface="Calibri"/>
              </a:rPr>
              <a:t>TU Dortmund     14.05.2024</a:t>
            </a:r>
            <a:endParaRPr b="0" i="0" sz="2400" u="none" cap="none" strike="noStrike">
              <a:solidFill>
                <a:schemeClr val="dk1"/>
              </a:solidFill>
              <a:latin typeface="Calibri"/>
              <a:ea typeface="Calibri"/>
              <a:cs typeface="Calibri"/>
              <a:sym typeface="Calibri"/>
            </a:endParaRPr>
          </a:p>
          <a:p>
            <a:pPr indent="0" lvl="0" marL="0" marR="0" rtl="0" algn="ctr">
              <a:lnSpc>
                <a:spcPct val="115000"/>
              </a:lnSpc>
              <a:spcBef>
                <a:spcPts val="1600"/>
              </a:spcBef>
              <a:spcAft>
                <a:spcPts val="1600"/>
              </a:spcAft>
              <a:buClr>
                <a:schemeClr val="accent3"/>
              </a:buClr>
              <a:buSzPts val="2400"/>
              <a:buFont typeface="Average"/>
              <a:buNone/>
            </a:pPr>
            <a:r>
              <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g2da8673ca15_3_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ctr">
              <a:lnSpc>
                <a:spcPct val="100000"/>
              </a:lnSpc>
              <a:spcBef>
                <a:spcPts val="0"/>
              </a:spcBef>
              <a:spcAft>
                <a:spcPts val="0"/>
              </a:spcAft>
              <a:buSzPct val="111111"/>
              <a:buNone/>
            </a:pPr>
            <a:r>
              <a:rPr lang="en-US">
                <a:latin typeface="Calibri"/>
                <a:ea typeface="Calibri"/>
                <a:cs typeface="Calibri"/>
                <a:sym typeface="Calibri"/>
              </a:rPr>
              <a:t>Groups Introduction</a:t>
            </a:r>
            <a:endParaRPr>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a:p>
            <a:pPr indent="0" lvl="0" marL="0" rtl="0" algn="l">
              <a:lnSpc>
                <a:spcPct val="100000"/>
              </a:lnSpc>
              <a:spcBef>
                <a:spcPts val="0"/>
              </a:spcBef>
              <a:spcAft>
                <a:spcPts val="0"/>
              </a:spcAft>
              <a:buSzPct val="130565"/>
              <a:buNone/>
            </a:pPr>
            <a:r>
              <a:t/>
            </a:r>
            <a:endParaRPr sz="3404">
              <a:solidFill>
                <a:schemeClr val="accent3"/>
              </a:solidFill>
              <a:latin typeface="Average"/>
              <a:ea typeface="Average"/>
              <a:cs typeface="Average"/>
              <a:sym typeface="Average"/>
            </a:endParaRPr>
          </a:p>
          <a:p>
            <a:pPr indent="0" lvl="0" marL="0" rtl="0" algn="l">
              <a:lnSpc>
                <a:spcPct val="100000"/>
              </a:lnSpc>
              <a:spcBef>
                <a:spcPts val="1000"/>
              </a:spcBef>
              <a:spcAft>
                <a:spcPts val="0"/>
              </a:spcAft>
              <a:buSzPts val="4000"/>
              <a:buNone/>
            </a:pPr>
            <a:r>
              <a:t/>
            </a:r>
            <a:endParaRPr sz="100"/>
          </a:p>
          <a:p>
            <a:pPr indent="0" lvl="0" marL="0" rtl="0" algn="l">
              <a:lnSpc>
                <a:spcPct val="100000"/>
              </a:lnSpc>
              <a:spcBef>
                <a:spcPts val="1000"/>
              </a:spcBef>
              <a:spcAft>
                <a:spcPts val="0"/>
              </a:spcAft>
              <a:buSzPct val="130565"/>
              <a:buNone/>
            </a:pPr>
            <a:r>
              <a:t/>
            </a:r>
            <a:endParaRPr sz="3404">
              <a:solidFill>
                <a:schemeClr val="accent3"/>
              </a:solidFill>
              <a:latin typeface="Average"/>
              <a:ea typeface="Average"/>
              <a:cs typeface="Average"/>
              <a:sym typeface="Average"/>
            </a:endParaRPr>
          </a:p>
          <a:p>
            <a:pPr indent="0" lvl="0" marL="0" rtl="0" algn="l">
              <a:lnSpc>
                <a:spcPct val="100000"/>
              </a:lnSpc>
              <a:spcBef>
                <a:spcPts val="1000"/>
              </a:spcBef>
              <a:spcAft>
                <a:spcPts val="0"/>
              </a:spcAft>
              <a:buSzPct val="130565"/>
              <a:buNone/>
            </a:pPr>
            <a:r>
              <a:t/>
            </a:r>
            <a:endParaRPr sz="3404">
              <a:solidFill>
                <a:schemeClr val="accent3"/>
              </a:solidFill>
              <a:latin typeface="Average"/>
              <a:ea typeface="Average"/>
              <a:cs typeface="Average"/>
              <a:sym typeface="Average"/>
            </a:endParaRPr>
          </a:p>
          <a:p>
            <a:pPr indent="0" lvl="0" marL="0" rtl="0" algn="l">
              <a:lnSpc>
                <a:spcPct val="100000"/>
              </a:lnSpc>
              <a:spcBef>
                <a:spcPts val="1000"/>
              </a:spcBef>
              <a:spcAft>
                <a:spcPts val="0"/>
              </a:spcAft>
              <a:buSzPct val="130565"/>
              <a:buNone/>
            </a:pPr>
            <a:r>
              <a:t/>
            </a:r>
            <a:endParaRPr sz="3404">
              <a:solidFill>
                <a:schemeClr val="accent3"/>
              </a:solidFill>
              <a:latin typeface="Average"/>
              <a:ea typeface="Average"/>
              <a:cs typeface="Average"/>
              <a:sym typeface="Average"/>
            </a:endParaRPr>
          </a:p>
          <a:p>
            <a:pPr indent="0" lvl="0" marL="0" rtl="0" algn="l">
              <a:lnSpc>
                <a:spcPct val="100000"/>
              </a:lnSpc>
              <a:spcBef>
                <a:spcPts val="1000"/>
              </a:spcBef>
              <a:spcAft>
                <a:spcPts val="0"/>
              </a:spcAft>
              <a:buSzPct val="130565"/>
              <a:buNone/>
            </a:pPr>
            <a:r>
              <a:t/>
            </a:r>
            <a:endParaRPr sz="3404">
              <a:solidFill>
                <a:schemeClr val="accent3"/>
              </a:solidFill>
              <a:latin typeface="Average"/>
              <a:ea typeface="Average"/>
              <a:cs typeface="Average"/>
              <a:sym typeface="Average"/>
            </a:endParaRPr>
          </a:p>
          <a:p>
            <a:pPr indent="0" lvl="0" marL="0" rtl="0" algn="l">
              <a:lnSpc>
                <a:spcPct val="100000"/>
              </a:lnSpc>
              <a:spcBef>
                <a:spcPts val="1000"/>
              </a:spcBef>
              <a:spcAft>
                <a:spcPts val="1000"/>
              </a:spcAft>
              <a:buSzPts val="4000"/>
              <a:buNone/>
            </a:pPr>
            <a:r>
              <a:t/>
            </a:r>
            <a:endParaRPr sz="100"/>
          </a:p>
        </p:txBody>
      </p:sp>
      <p:sp>
        <p:nvSpPr>
          <p:cNvPr id="66" name="Google Shape;66;g2da8673ca15_3_5"/>
          <p:cNvSpPr txBox="1"/>
          <p:nvPr/>
        </p:nvSpPr>
        <p:spPr>
          <a:xfrm>
            <a:off x="6577675" y="1540150"/>
            <a:ext cx="5532000" cy="443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4"/>
              <a:buFont typeface="Arial"/>
              <a:buNone/>
            </a:pPr>
            <a:r>
              <a:rPr b="0" i="1" lang="en-US" sz="3404" u="sng" cap="none" strike="noStrike">
                <a:solidFill>
                  <a:schemeClr val="dk1"/>
                </a:solidFill>
                <a:latin typeface="Calibri"/>
                <a:ea typeface="Calibri"/>
                <a:cs typeface="Calibri"/>
                <a:sym typeface="Calibri"/>
              </a:rPr>
              <a:t>Repulsive Deep Ensembles</a:t>
            </a:r>
            <a:endParaRPr b="0" i="1" sz="3404" u="sng" cap="none" strike="noStrike">
              <a:solidFill>
                <a:schemeClr val="dk1"/>
              </a:solidFill>
              <a:latin typeface="Calibri"/>
              <a:ea typeface="Calibri"/>
              <a:cs typeface="Calibri"/>
              <a:sym typeface="Calibri"/>
            </a:endParaRPr>
          </a:p>
          <a:p>
            <a:pPr indent="-406400" lvl="0" marL="457200" marR="0" rtl="0" algn="l">
              <a:lnSpc>
                <a:spcPct val="100000"/>
              </a:lnSpc>
              <a:spcBef>
                <a:spcPts val="100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Hamza</a:t>
            </a:r>
            <a:endParaRPr b="0" i="0" sz="2800" u="none" cap="none" strike="noStrike">
              <a:solidFill>
                <a:schemeClr val="dk1"/>
              </a:solidFill>
              <a:latin typeface="Calibri"/>
              <a:ea typeface="Calibri"/>
              <a:cs typeface="Calibri"/>
              <a:sym typeface="Calibri"/>
            </a:endParaRPr>
          </a:p>
          <a:p>
            <a:pPr indent="-406400" lvl="0" marL="457200" marR="0" rtl="0" algn="l">
              <a:lnSpc>
                <a:spcPct val="100000"/>
              </a:lnSpc>
              <a:spcBef>
                <a:spcPts val="0"/>
              </a:spcBef>
              <a:spcAft>
                <a:spcPts val="0"/>
              </a:spcAft>
              <a:buClr>
                <a:schemeClr val="dk1"/>
              </a:buClr>
              <a:buSzPts val="2800"/>
              <a:buFont typeface="Calibri"/>
              <a:buChar char="-"/>
            </a:pPr>
            <a:r>
              <a:rPr b="0" i="0" lang="en-US" sz="2800" u="none" cap="none" strike="noStrike">
                <a:solidFill>
                  <a:schemeClr val="dk1"/>
                </a:solidFill>
                <a:latin typeface="Calibri"/>
                <a:ea typeface="Calibri"/>
                <a:cs typeface="Calibri"/>
                <a:sym typeface="Calibri"/>
              </a:rPr>
              <a:t>Mustafiz</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3404"/>
              <a:buFont typeface="Arial"/>
              <a:buNone/>
            </a:pPr>
            <a:r>
              <a:t/>
            </a:r>
            <a:endParaRPr b="0" i="0" sz="3404"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3404"/>
              <a:buFont typeface="Arial"/>
              <a:buNone/>
            </a:pPr>
            <a:r>
              <a:rPr b="0" i="1" lang="en-US" sz="3404" u="sng" cap="none" strike="noStrike">
                <a:solidFill>
                  <a:schemeClr val="dk1"/>
                </a:solidFill>
                <a:latin typeface="Calibri"/>
                <a:ea typeface="Calibri"/>
                <a:cs typeface="Calibri"/>
                <a:sym typeface="Calibri"/>
              </a:rPr>
              <a:t>SNGP</a:t>
            </a:r>
            <a:endParaRPr b="0" i="1" sz="3404" u="sng" cap="none" strike="noStrike">
              <a:solidFill>
                <a:schemeClr val="dk1"/>
              </a:solidFill>
              <a:latin typeface="Calibri"/>
              <a:ea typeface="Calibri"/>
              <a:cs typeface="Calibri"/>
              <a:sym typeface="Calibri"/>
            </a:endParaRPr>
          </a:p>
          <a:p>
            <a:pPr indent="-406671" lvl="0" marL="457200" marR="0" rtl="0" algn="l">
              <a:lnSpc>
                <a:spcPct val="100000"/>
              </a:lnSpc>
              <a:spcBef>
                <a:spcPts val="100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Simin </a:t>
            </a:r>
            <a:endParaRPr b="0" i="0" sz="2804" u="none" cap="none" strike="noStrike">
              <a:solidFill>
                <a:schemeClr val="dk1"/>
              </a:solidFill>
              <a:latin typeface="Calibri"/>
              <a:ea typeface="Calibri"/>
              <a:cs typeface="Calibri"/>
              <a:sym typeface="Calibri"/>
            </a:endParaRPr>
          </a:p>
          <a:p>
            <a:pPr indent="-406671" lvl="0" marL="457200" marR="0" rtl="0" algn="l">
              <a:lnSpc>
                <a:spcPct val="100000"/>
              </a:lnSpc>
              <a:spcBef>
                <a:spcPts val="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Ramit</a:t>
            </a:r>
            <a:endParaRPr b="0" i="0" sz="2804" u="none" cap="none" strike="noStrike">
              <a:solidFill>
                <a:schemeClr val="dk1"/>
              </a:solidFill>
              <a:latin typeface="Calibri"/>
              <a:ea typeface="Calibri"/>
              <a:cs typeface="Calibri"/>
              <a:sym typeface="Calibri"/>
            </a:endParaRPr>
          </a:p>
          <a:p>
            <a:pPr indent="-406671" lvl="0" marL="457200" marR="0" rtl="0" algn="l">
              <a:lnSpc>
                <a:spcPct val="100000"/>
              </a:lnSpc>
              <a:spcBef>
                <a:spcPts val="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Eylül</a:t>
            </a:r>
            <a:endParaRPr b="0" i="0" sz="2804"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1000"/>
              </a:spcAft>
              <a:buClr>
                <a:srgbClr val="000000"/>
              </a:buClr>
              <a:buSzPts val="3404"/>
              <a:buFont typeface="Arial"/>
              <a:buNone/>
            </a:pPr>
            <a:r>
              <a:t/>
            </a:r>
            <a:endParaRPr b="0" i="0" sz="3404" u="none" cap="none" strike="noStrike">
              <a:solidFill>
                <a:schemeClr val="accent3"/>
              </a:solidFill>
              <a:latin typeface="Average"/>
              <a:ea typeface="Average"/>
              <a:cs typeface="Average"/>
              <a:sym typeface="Average"/>
            </a:endParaRPr>
          </a:p>
        </p:txBody>
      </p:sp>
      <p:sp>
        <p:nvSpPr>
          <p:cNvPr id="67" name="Google Shape;67;g2da8673ca15_3_5"/>
          <p:cNvSpPr txBox="1"/>
          <p:nvPr/>
        </p:nvSpPr>
        <p:spPr>
          <a:xfrm>
            <a:off x="688750" y="1540150"/>
            <a:ext cx="5532000" cy="4432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3404"/>
              <a:buFont typeface="Arial"/>
              <a:buNone/>
            </a:pPr>
            <a:r>
              <a:rPr b="0" i="1" lang="en-US" sz="3404" u="sng" cap="none" strike="noStrike">
                <a:solidFill>
                  <a:schemeClr val="dk1"/>
                </a:solidFill>
                <a:latin typeface="Calibri"/>
                <a:ea typeface="Calibri"/>
                <a:cs typeface="Calibri"/>
                <a:sym typeface="Calibri"/>
              </a:rPr>
              <a:t>Bayesian Neural Network</a:t>
            </a:r>
            <a:endParaRPr b="0" i="1" sz="3404" u="sng" cap="none" strike="noStrike">
              <a:solidFill>
                <a:schemeClr val="dk1"/>
              </a:solidFill>
              <a:latin typeface="Calibri"/>
              <a:ea typeface="Calibri"/>
              <a:cs typeface="Calibri"/>
              <a:sym typeface="Calibri"/>
            </a:endParaRPr>
          </a:p>
          <a:p>
            <a:pPr indent="-406671" lvl="0" marL="457200" marR="0" rtl="0" algn="l">
              <a:lnSpc>
                <a:spcPct val="100000"/>
              </a:lnSpc>
              <a:spcBef>
                <a:spcPts val="100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 Farmal</a:t>
            </a:r>
            <a:endParaRPr b="0" i="0" sz="2804" u="none" cap="none" strike="noStrike">
              <a:solidFill>
                <a:schemeClr val="dk1"/>
              </a:solidFill>
              <a:latin typeface="Calibri"/>
              <a:ea typeface="Calibri"/>
              <a:cs typeface="Calibri"/>
              <a:sym typeface="Calibri"/>
            </a:endParaRPr>
          </a:p>
          <a:p>
            <a:pPr indent="-406671" lvl="0" marL="457200" marR="0" rtl="0" algn="l">
              <a:lnSpc>
                <a:spcPct val="100000"/>
              </a:lnSpc>
              <a:spcBef>
                <a:spcPts val="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 Zafar</a:t>
            </a:r>
            <a:endParaRPr b="0" i="0" sz="2804"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804"/>
              <a:buFont typeface="Arial"/>
              <a:buNone/>
            </a:pPr>
            <a:r>
              <a:t/>
            </a:r>
            <a:endParaRPr b="0" i="0" sz="2804"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3404"/>
              <a:buFont typeface="Arial"/>
              <a:buNone/>
            </a:pPr>
            <a:r>
              <a:rPr b="0" i="1" lang="en-US" sz="3404" u="sng" cap="none" strike="noStrike">
                <a:solidFill>
                  <a:schemeClr val="dk1"/>
                </a:solidFill>
                <a:latin typeface="Calibri"/>
                <a:ea typeface="Calibri"/>
                <a:cs typeface="Calibri"/>
                <a:sym typeface="Calibri"/>
              </a:rPr>
              <a:t>Posterior Network</a:t>
            </a:r>
            <a:endParaRPr b="0" i="1" sz="3404" u="sng" cap="none" strike="noStrike">
              <a:solidFill>
                <a:schemeClr val="dk1"/>
              </a:solidFill>
              <a:latin typeface="Calibri"/>
              <a:ea typeface="Calibri"/>
              <a:cs typeface="Calibri"/>
              <a:sym typeface="Calibri"/>
            </a:endParaRPr>
          </a:p>
          <a:p>
            <a:pPr indent="-406671" lvl="0" marL="457200" marR="0" rtl="0" algn="l">
              <a:lnSpc>
                <a:spcPct val="100000"/>
              </a:lnSpc>
              <a:spcBef>
                <a:spcPts val="100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Muhammad Farhan</a:t>
            </a:r>
            <a:endParaRPr b="0" i="0" sz="2804" u="none" cap="none" strike="noStrike">
              <a:solidFill>
                <a:schemeClr val="dk1"/>
              </a:solidFill>
              <a:latin typeface="Calibri"/>
              <a:ea typeface="Calibri"/>
              <a:cs typeface="Calibri"/>
              <a:sym typeface="Calibri"/>
            </a:endParaRPr>
          </a:p>
          <a:p>
            <a:pPr indent="-406671" lvl="0" marL="457200" marR="0" rtl="0" algn="l">
              <a:lnSpc>
                <a:spcPct val="100000"/>
              </a:lnSpc>
              <a:spcBef>
                <a:spcPts val="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Ikhtiar</a:t>
            </a:r>
            <a:endParaRPr b="0" i="0" sz="2804" u="none" cap="none" strike="noStrike">
              <a:solidFill>
                <a:schemeClr val="dk1"/>
              </a:solidFill>
              <a:latin typeface="Calibri"/>
              <a:ea typeface="Calibri"/>
              <a:cs typeface="Calibri"/>
              <a:sym typeface="Calibri"/>
            </a:endParaRPr>
          </a:p>
          <a:p>
            <a:pPr indent="-406671" lvl="0" marL="457200" marR="0" rtl="0" algn="l">
              <a:lnSpc>
                <a:spcPct val="100000"/>
              </a:lnSpc>
              <a:spcBef>
                <a:spcPts val="0"/>
              </a:spcBef>
              <a:spcAft>
                <a:spcPts val="0"/>
              </a:spcAft>
              <a:buClr>
                <a:schemeClr val="dk1"/>
              </a:buClr>
              <a:buSzPts val="2804"/>
              <a:buFont typeface="Calibri"/>
              <a:buChar char="-"/>
            </a:pPr>
            <a:r>
              <a:rPr b="0" i="0" lang="en-US" sz="2804" u="none" cap="none" strike="noStrike">
                <a:solidFill>
                  <a:schemeClr val="dk1"/>
                </a:solidFill>
                <a:latin typeface="Calibri"/>
                <a:ea typeface="Calibri"/>
                <a:cs typeface="Calibri"/>
                <a:sym typeface="Calibri"/>
              </a:rPr>
              <a:t>Zeynep</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1000"/>
              </a:spcBef>
              <a:spcAft>
                <a:spcPts val="0"/>
              </a:spcAft>
              <a:buClr>
                <a:srgbClr val="000000"/>
              </a:buClr>
              <a:buSzPts val="2400"/>
              <a:buFont typeface="Arial"/>
              <a:buNone/>
            </a:pPr>
            <a:r>
              <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1" name="Shape 71"/>
        <p:cNvGrpSpPr/>
        <p:nvPr/>
      </p:nvGrpSpPr>
      <p:grpSpPr>
        <a:xfrm>
          <a:off x="0" y="0"/>
          <a:ext cx="0" cy="0"/>
          <a:chOff x="0" y="0"/>
          <a:chExt cx="0" cy="0"/>
        </a:xfrm>
      </p:grpSpPr>
      <p:sp>
        <p:nvSpPr>
          <p:cNvPr id="72" name="Google Shape;72;g2da8673ca15_0_469"/>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Contents </a:t>
            </a:r>
            <a:endParaRPr>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p>
        </p:txBody>
      </p:sp>
      <p:sp>
        <p:nvSpPr>
          <p:cNvPr id="73" name="Google Shape;73;g2da8673ca15_0_469"/>
          <p:cNvSpPr txBox="1"/>
          <p:nvPr>
            <p:ph idx="4294967295" type="subTitle"/>
          </p:nvPr>
        </p:nvSpPr>
        <p:spPr>
          <a:xfrm>
            <a:off x="643500" y="1592025"/>
            <a:ext cx="6763500" cy="5151900"/>
          </a:xfrm>
          <a:prstGeom prst="rect">
            <a:avLst/>
          </a:prstGeom>
          <a:noFill/>
          <a:ln>
            <a:noFill/>
          </a:ln>
        </p:spPr>
        <p:txBody>
          <a:bodyPr anchorCtr="0" anchor="ctr" bIns="121900" lIns="121900" spcFirstLastPara="1" rIns="121900" wrap="square" tIns="121900">
            <a:normAutofit fontScale="32500" lnSpcReduction="10000"/>
          </a:bodyPr>
          <a:lstStyle/>
          <a:p>
            <a:pPr indent="-383721" lvl="0" marL="914400" marR="0" rtl="0" algn="l">
              <a:lnSpc>
                <a:spcPct val="100000"/>
              </a:lnSpc>
              <a:spcBef>
                <a:spcPts val="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Motivation and Introduction</a:t>
            </a:r>
            <a:endParaRPr b="0" i="0" sz="7515" u="none" cap="none" strike="noStrike">
              <a:solidFill>
                <a:schemeClr val="dk1"/>
              </a:solidFill>
              <a:latin typeface="Calibri"/>
              <a:ea typeface="Calibri"/>
              <a:cs typeface="Calibri"/>
              <a:sym typeface="Calibri"/>
            </a:endParaRPr>
          </a:p>
          <a:p>
            <a:pPr indent="-383721" lvl="0" marL="914400" marR="0" rtl="0" algn="l">
              <a:lnSpc>
                <a:spcPct val="100000"/>
              </a:lnSpc>
              <a:spcBef>
                <a:spcPts val="100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Methods Description</a:t>
            </a:r>
            <a:endParaRPr b="0" i="0" sz="7515" u="none" cap="none" strike="noStrike">
              <a:solidFill>
                <a:schemeClr val="dk1"/>
              </a:solidFill>
              <a:latin typeface="Calibri"/>
              <a:ea typeface="Calibri"/>
              <a:cs typeface="Calibri"/>
              <a:sym typeface="Calibri"/>
            </a:endParaRPr>
          </a:p>
          <a:p>
            <a:pPr indent="0" lvl="0" marL="914400" marR="0" rtl="0" algn="l">
              <a:lnSpc>
                <a:spcPct val="100000"/>
              </a:lnSpc>
              <a:spcBef>
                <a:spcPts val="1000"/>
              </a:spcBef>
              <a:spcAft>
                <a:spcPts val="0"/>
              </a:spcAft>
              <a:buClr>
                <a:schemeClr val="accent3"/>
              </a:buClr>
              <a:buSzPct val="98265"/>
              <a:buFont typeface="Average"/>
              <a:buNone/>
            </a:pPr>
            <a:r>
              <a:rPr b="0" i="0" lang="en-US" sz="7515" u="none" cap="none" strike="noStrike">
                <a:solidFill>
                  <a:schemeClr val="dk1"/>
                </a:solidFill>
                <a:latin typeface="Calibri"/>
                <a:ea typeface="Calibri"/>
                <a:cs typeface="Calibri"/>
                <a:sym typeface="Calibri"/>
              </a:rPr>
              <a:t>2.1 Bayesian Neural Networks</a:t>
            </a:r>
            <a:endParaRPr b="0" i="0" sz="7515" u="none" cap="none" strike="noStrike">
              <a:solidFill>
                <a:schemeClr val="dk1"/>
              </a:solidFill>
              <a:latin typeface="Calibri"/>
              <a:ea typeface="Calibri"/>
              <a:cs typeface="Calibri"/>
              <a:sym typeface="Calibri"/>
            </a:endParaRPr>
          </a:p>
          <a:p>
            <a:pPr indent="0" lvl="0" marL="914400" marR="0" rtl="0" algn="l">
              <a:lnSpc>
                <a:spcPct val="100000"/>
              </a:lnSpc>
              <a:spcBef>
                <a:spcPts val="1000"/>
              </a:spcBef>
              <a:spcAft>
                <a:spcPts val="0"/>
              </a:spcAft>
              <a:buClr>
                <a:schemeClr val="accent3"/>
              </a:buClr>
              <a:buSzPct val="98265"/>
              <a:buFont typeface="Average"/>
              <a:buNone/>
            </a:pPr>
            <a:r>
              <a:rPr b="0" i="0" lang="en-US" sz="7515" u="none" cap="none" strike="noStrike">
                <a:solidFill>
                  <a:schemeClr val="dk1"/>
                </a:solidFill>
                <a:latin typeface="Calibri"/>
                <a:ea typeface="Calibri"/>
                <a:cs typeface="Calibri"/>
                <a:sym typeface="Calibri"/>
              </a:rPr>
              <a:t>2.2 Posterior Network</a:t>
            </a:r>
            <a:endParaRPr b="0" i="0" sz="7515" u="none" cap="none" strike="noStrike">
              <a:solidFill>
                <a:schemeClr val="dk1"/>
              </a:solidFill>
              <a:latin typeface="Calibri"/>
              <a:ea typeface="Calibri"/>
              <a:cs typeface="Calibri"/>
              <a:sym typeface="Calibri"/>
            </a:endParaRPr>
          </a:p>
          <a:p>
            <a:pPr indent="0" lvl="0" marL="914400" marR="0" rtl="0" algn="l">
              <a:lnSpc>
                <a:spcPct val="100000"/>
              </a:lnSpc>
              <a:spcBef>
                <a:spcPts val="1000"/>
              </a:spcBef>
              <a:spcAft>
                <a:spcPts val="0"/>
              </a:spcAft>
              <a:buClr>
                <a:schemeClr val="accent3"/>
              </a:buClr>
              <a:buSzPct val="98265"/>
              <a:buFont typeface="Average"/>
              <a:buNone/>
            </a:pPr>
            <a:r>
              <a:rPr b="0" i="0" lang="en-US" sz="7515" u="none" cap="none" strike="noStrike">
                <a:solidFill>
                  <a:schemeClr val="dk1"/>
                </a:solidFill>
                <a:latin typeface="Calibri"/>
                <a:ea typeface="Calibri"/>
                <a:cs typeface="Calibri"/>
                <a:sym typeface="Calibri"/>
              </a:rPr>
              <a:t>2.3 Repulsive Deep Ensembles</a:t>
            </a:r>
            <a:endParaRPr b="0" i="0" sz="7515" u="none" cap="none" strike="noStrike">
              <a:solidFill>
                <a:schemeClr val="dk1"/>
              </a:solidFill>
              <a:latin typeface="Calibri"/>
              <a:ea typeface="Calibri"/>
              <a:cs typeface="Calibri"/>
              <a:sym typeface="Calibri"/>
            </a:endParaRPr>
          </a:p>
          <a:p>
            <a:pPr indent="0" lvl="0" marL="914400" marR="0" rtl="0" algn="l">
              <a:lnSpc>
                <a:spcPct val="100000"/>
              </a:lnSpc>
              <a:spcBef>
                <a:spcPts val="1000"/>
              </a:spcBef>
              <a:spcAft>
                <a:spcPts val="0"/>
              </a:spcAft>
              <a:buClr>
                <a:schemeClr val="accent3"/>
              </a:buClr>
              <a:buSzPct val="98265"/>
              <a:buFont typeface="Average"/>
              <a:buNone/>
            </a:pPr>
            <a:r>
              <a:rPr b="0" i="0" lang="en-US" sz="7515" u="none" cap="none" strike="noStrike">
                <a:solidFill>
                  <a:schemeClr val="dk1"/>
                </a:solidFill>
                <a:latin typeface="Calibri"/>
                <a:ea typeface="Calibri"/>
                <a:cs typeface="Calibri"/>
                <a:sym typeface="Calibri"/>
              </a:rPr>
              <a:t>2.4 SNGP</a:t>
            </a:r>
            <a:endParaRPr b="0" i="0" sz="7515" u="none" cap="none" strike="noStrike">
              <a:solidFill>
                <a:schemeClr val="dk1"/>
              </a:solidFill>
              <a:latin typeface="Calibri"/>
              <a:ea typeface="Calibri"/>
              <a:cs typeface="Calibri"/>
              <a:sym typeface="Calibri"/>
            </a:endParaRPr>
          </a:p>
          <a:p>
            <a:pPr indent="-383721" lvl="0" marL="914400" marR="0" rtl="0" algn="l">
              <a:lnSpc>
                <a:spcPct val="100000"/>
              </a:lnSpc>
              <a:spcBef>
                <a:spcPts val="100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Method Similarities</a:t>
            </a:r>
            <a:endParaRPr b="0" i="0" sz="7515" u="none" cap="none" strike="noStrike">
              <a:solidFill>
                <a:schemeClr val="dk1"/>
              </a:solidFill>
              <a:latin typeface="Calibri"/>
              <a:ea typeface="Calibri"/>
              <a:cs typeface="Calibri"/>
              <a:sym typeface="Calibri"/>
            </a:endParaRPr>
          </a:p>
          <a:p>
            <a:pPr indent="-383721" lvl="0" marL="914400" marR="0" rtl="0" algn="l">
              <a:lnSpc>
                <a:spcPct val="100000"/>
              </a:lnSpc>
              <a:spcBef>
                <a:spcPts val="100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Dataset Interpretation (We will use)</a:t>
            </a:r>
            <a:endParaRPr b="0" i="0" sz="7515" u="none" cap="none" strike="noStrike">
              <a:solidFill>
                <a:schemeClr val="dk1"/>
              </a:solidFill>
              <a:latin typeface="Calibri"/>
              <a:ea typeface="Calibri"/>
              <a:cs typeface="Calibri"/>
              <a:sym typeface="Calibri"/>
            </a:endParaRPr>
          </a:p>
          <a:p>
            <a:pPr indent="-383721" lvl="0" marL="914400" marR="0" rtl="0" algn="l">
              <a:lnSpc>
                <a:spcPct val="100000"/>
              </a:lnSpc>
              <a:spcBef>
                <a:spcPts val="100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Conclusion </a:t>
            </a:r>
            <a:endParaRPr b="0" i="0" sz="7515" u="none" cap="none" strike="noStrike">
              <a:solidFill>
                <a:schemeClr val="dk1"/>
              </a:solidFill>
              <a:latin typeface="Calibri"/>
              <a:ea typeface="Calibri"/>
              <a:cs typeface="Calibri"/>
              <a:sym typeface="Calibri"/>
            </a:endParaRPr>
          </a:p>
          <a:p>
            <a:pPr indent="-383721" lvl="0" marL="914400" marR="0" rtl="0" algn="l">
              <a:lnSpc>
                <a:spcPct val="100000"/>
              </a:lnSpc>
              <a:spcBef>
                <a:spcPts val="1000"/>
              </a:spcBef>
              <a:spcAft>
                <a:spcPts val="0"/>
              </a:spcAft>
              <a:buClr>
                <a:schemeClr val="dk1"/>
              </a:buClr>
              <a:buSzPct val="100000"/>
              <a:buFont typeface="Calibri"/>
              <a:buAutoNum type="arabicPeriod"/>
            </a:pPr>
            <a:r>
              <a:rPr b="0" i="0" lang="en-US" sz="7515" u="none" cap="none" strike="noStrike">
                <a:solidFill>
                  <a:schemeClr val="dk1"/>
                </a:solidFill>
                <a:latin typeface="Calibri"/>
                <a:ea typeface="Calibri"/>
                <a:cs typeface="Calibri"/>
                <a:sym typeface="Calibri"/>
              </a:rPr>
              <a:t>Q&amp;A Session</a:t>
            </a:r>
            <a:endParaRPr b="0" i="0" sz="7515" u="none" cap="none" strike="noStrike">
              <a:solidFill>
                <a:schemeClr val="dk1"/>
              </a:solidFill>
              <a:latin typeface="Calibri"/>
              <a:ea typeface="Calibri"/>
              <a:cs typeface="Calibri"/>
              <a:sym typeface="Calibri"/>
            </a:endParaRPr>
          </a:p>
          <a:p>
            <a:pPr indent="0" lvl="0" marL="914400" marR="0" rtl="0" algn="l">
              <a:lnSpc>
                <a:spcPct val="115000"/>
              </a:lnSpc>
              <a:spcBef>
                <a:spcPts val="1000"/>
              </a:spcBef>
              <a:spcAft>
                <a:spcPts val="1600"/>
              </a:spcAft>
              <a:buClr>
                <a:schemeClr val="accent3"/>
              </a:buClr>
              <a:buSzPct val="307692"/>
              <a:buFont typeface="Average"/>
              <a:buNone/>
            </a:pPr>
            <a:r>
              <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g2da8673ca15_2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457200" lvl="0" marL="457200" rtl="0" algn="l">
              <a:lnSpc>
                <a:spcPct val="100000"/>
              </a:lnSpc>
              <a:spcBef>
                <a:spcPts val="0"/>
              </a:spcBef>
              <a:spcAft>
                <a:spcPts val="0"/>
              </a:spcAft>
              <a:buSzPct val="100000"/>
              <a:buFont typeface="Calibri"/>
              <a:buAutoNum type="arabicPeriod"/>
            </a:pPr>
            <a:r>
              <a:rPr lang="en-US">
                <a:latin typeface="Calibri"/>
                <a:ea typeface="Calibri"/>
                <a:cs typeface="Calibri"/>
                <a:sym typeface="Calibri"/>
              </a:rPr>
              <a:t>Motivation </a:t>
            </a:r>
            <a:endParaRPr>
              <a:latin typeface="Calibri"/>
              <a:ea typeface="Calibri"/>
              <a:cs typeface="Calibri"/>
              <a:sym typeface="Calibri"/>
            </a:endParaRPr>
          </a:p>
        </p:txBody>
      </p:sp>
      <p:sp>
        <p:nvSpPr>
          <p:cNvPr id="79" name="Google Shape;79;g2da8673ca15_2_0"/>
          <p:cNvSpPr txBox="1"/>
          <p:nvPr/>
        </p:nvSpPr>
        <p:spPr>
          <a:xfrm>
            <a:off x="415600" y="1356875"/>
            <a:ext cx="11207700" cy="5322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dk1"/>
                </a:solidFill>
                <a:latin typeface="Calibri"/>
                <a:ea typeface="Calibri"/>
                <a:cs typeface="Calibri"/>
                <a:sym typeface="Calibri"/>
              </a:rPr>
              <a:t>Uncertainty quantification in deep learning refers to the process of understanding and estimating the uncertainty associated with predictions made by deep learning algorithm.</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Calibri"/>
                <a:ea typeface="Calibri"/>
                <a:cs typeface="Calibri"/>
                <a:sym typeface="Calibri"/>
              </a:rPr>
              <a:t>Objective:  </a:t>
            </a:r>
            <a:r>
              <a:rPr b="0" i="0" lang="en-US" sz="2000" u="none" cap="none" strike="noStrike">
                <a:solidFill>
                  <a:schemeClr val="dk1"/>
                </a:solidFill>
                <a:latin typeface="Calibri"/>
                <a:ea typeface="Calibri"/>
                <a:cs typeface="Calibri"/>
                <a:sym typeface="Calibri"/>
              </a:rPr>
              <a:t>Evaluate methods for quantifying uncertainty in deep learning.</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1" i="1" lang="en-US" sz="2000" u="none" cap="none" strike="noStrike">
                <a:solidFill>
                  <a:schemeClr val="dk1"/>
                </a:solidFill>
                <a:latin typeface="Calibri"/>
                <a:ea typeface="Calibri"/>
                <a:cs typeface="Calibri"/>
                <a:sym typeface="Calibri"/>
              </a:rPr>
              <a:t>Importance: </a:t>
            </a:r>
            <a:r>
              <a:rPr b="0" i="0" lang="en-US" sz="2000" u="none" cap="none" strike="noStrike">
                <a:solidFill>
                  <a:schemeClr val="dk1"/>
                </a:solidFill>
                <a:latin typeface="Calibri"/>
                <a:ea typeface="Calibri"/>
                <a:cs typeface="Calibri"/>
                <a:sym typeface="Calibri"/>
              </a:rPr>
              <a:t>Crucial for safe AI deployment in high-stakes environments.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1" i="0" lang="en-US" sz="2000" u="none" cap="none" strike="noStrike">
                <a:solidFill>
                  <a:schemeClr val="dk1"/>
                </a:solidFill>
                <a:latin typeface="Calibri"/>
                <a:ea typeface="Calibri"/>
                <a:cs typeface="Calibri"/>
                <a:sym typeface="Calibri"/>
              </a:rPr>
              <a:t>Robust Decision Making: </a:t>
            </a:r>
            <a:r>
              <a:rPr b="0" i="0" lang="en-US" sz="2000" u="none" cap="none" strike="noStrike">
                <a:solidFill>
                  <a:schemeClr val="dk1"/>
                </a:solidFill>
                <a:latin typeface="Calibri"/>
                <a:ea typeface="Calibri"/>
                <a:cs typeface="Calibri"/>
                <a:sym typeface="Calibri"/>
              </a:rPr>
              <a:t>Instead of blindly trusting model outputs, decision-makers can take into account the level of confidence or uncertainty associated with each prediction.</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1" i="0" lang="en-US" sz="2000" u="none" cap="none" strike="noStrike">
                <a:solidFill>
                  <a:schemeClr val="dk1"/>
                </a:solidFill>
                <a:latin typeface="Calibri"/>
                <a:ea typeface="Calibri"/>
                <a:cs typeface="Calibri"/>
                <a:sym typeface="Calibri"/>
              </a:rPr>
              <a:t>Reliability Estimation</a:t>
            </a:r>
            <a:r>
              <a:rPr b="0" i="0" lang="en-US" sz="2000" u="none" cap="none" strike="noStrike">
                <a:solidFill>
                  <a:schemeClr val="dk1"/>
                </a:solidFill>
                <a:latin typeface="Calibri"/>
                <a:ea typeface="Calibri"/>
                <a:cs typeface="Calibri"/>
                <a:sym typeface="Calibri"/>
              </a:rPr>
              <a:t>: For applications such as autonomous driving or the analysis of medical imaging results, the predictions are relevant for the safety of road users or the patient, uncertainty estimates are essential.</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g270db738eac_27_19"/>
          <p:cNvSpPr txBox="1"/>
          <p:nvPr>
            <p:ph type="title"/>
          </p:nvPr>
        </p:nvSpPr>
        <p:spPr>
          <a:xfrm>
            <a:off x="41565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ctr">
              <a:lnSpc>
                <a:spcPct val="100000"/>
              </a:lnSpc>
              <a:spcBef>
                <a:spcPts val="0"/>
              </a:spcBef>
              <a:spcAft>
                <a:spcPts val="0"/>
              </a:spcAft>
              <a:buClr>
                <a:schemeClr val="dk1"/>
              </a:buClr>
              <a:buSzPct val="122221"/>
              <a:buFont typeface="Calibri"/>
              <a:buNone/>
            </a:pPr>
            <a:r>
              <a:rPr b="1" lang="en-US" sz="3600">
                <a:latin typeface="Calibri"/>
                <a:ea typeface="Calibri"/>
                <a:cs typeface="Calibri"/>
                <a:sym typeface="Calibri"/>
              </a:rPr>
              <a:t>Types of Uncertainty</a:t>
            </a:r>
            <a:endParaRPr/>
          </a:p>
        </p:txBody>
      </p:sp>
      <p:sp>
        <p:nvSpPr>
          <p:cNvPr id="85" name="Google Shape;85;g270db738eac_27_19"/>
          <p:cNvSpPr txBox="1"/>
          <p:nvPr/>
        </p:nvSpPr>
        <p:spPr>
          <a:xfrm>
            <a:off x="651750" y="1617550"/>
            <a:ext cx="10888500" cy="4386900"/>
          </a:xfrm>
          <a:prstGeom prst="rect">
            <a:avLst/>
          </a:prstGeom>
          <a:noFill/>
          <a:ln>
            <a:noFill/>
          </a:ln>
        </p:spPr>
        <p:txBody>
          <a:bodyPr anchorCtr="0" anchor="t" bIns="91425" lIns="91425" spcFirstLastPara="1" rIns="91425" wrap="square" tIns="91425">
            <a:spAutoFit/>
          </a:bodyPr>
          <a:lstStyle/>
          <a:p>
            <a:pPr indent="-228600" lvl="0" marL="228600" marR="0" rtl="0" algn="l">
              <a:lnSpc>
                <a:spcPct val="90000"/>
              </a:lnSpc>
              <a:spcBef>
                <a:spcPts val="1000"/>
              </a:spcBef>
              <a:spcAft>
                <a:spcPts val="0"/>
              </a:spcAft>
              <a:buClr>
                <a:srgbClr val="00FF00"/>
              </a:buClr>
              <a:buSzPts val="2000"/>
              <a:buFont typeface="Calibri"/>
              <a:buChar char="●"/>
            </a:pPr>
            <a:r>
              <a:rPr b="1" i="0" lang="en-US" sz="2000" u="none" cap="none" strike="noStrike">
                <a:solidFill>
                  <a:srgbClr val="00FF00"/>
                </a:solidFill>
                <a:highlight>
                  <a:schemeClr val="lt1"/>
                </a:highlight>
                <a:latin typeface="Calibri"/>
                <a:ea typeface="Calibri"/>
                <a:cs typeface="Calibri"/>
                <a:sym typeface="Calibri"/>
              </a:rPr>
              <a:t>Aleatoric Uncertainty</a:t>
            </a:r>
            <a:endParaRPr b="1" i="0" sz="2000" u="none" cap="none" strike="noStrike">
              <a:solidFill>
                <a:srgbClr val="00FF00"/>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Caused by inherent randomness or noise in the input data.</a:t>
            </a:r>
            <a:endParaRPr b="0" i="0" sz="2000" u="none" cap="none" strike="noStrike">
              <a:solidFill>
                <a:schemeClr val="dk1"/>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It  describes the influence of the stochastic input data noise, and therefore cannot be reduced with more training data.</a:t>
            </a:r>
            <a:endParaRPr b="0" i="0" sz="2000" u="none" cap="none" strike="noStrike">
              <a:solidFill>
                <a:schemeClr val="dk1"/>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Also known as data uncertainty.</a:t>
            </a:r>
            <a:endParaRPr b="0" i="0" sz="2000" u="none" cap="none" strike="noStrike">
              <a:solidFill>
                <a:schemeClr val="dk1"/>
              </a:solidFill>
              <a:highlight>
                <a:schemeClr val="lt1"/>
              </a:highlight>
              <a:latin typeface="Calibri"/>
              <a:ea typeface="Calibri"/>
              <a:cs typeface="Calibri"/>
              <a:sym typeface="Calibri"/>
            </a:endParaRPr>
          </a:p>
          <a:p>
            <a:pPr indent="0" lvl="0" marL="685800" marR="0" rtl="0" algn="l">
              <a:lnSpc>
                <a:spcPct val="90000"/>
              </a:lnSpc>
              <a:spcBef>
                <a:spcPts val="1000"/>
              </a:spcBef>
              <a:spcAft>
                <a:spcPts val="0"/>
              </a:spcAft>
              <a:buClr>
                <a:srgbClr val="000000"/>
              </a:buClr>
              <a:buSzPts val="2000"/>
              <a:buFont typeface="Arial"/>
              <a:buNone/>
            </a:pPr>
            <a:r>
              <a:t/>
            </a:r>
            <a:endParaRPr b="0" i="0" sz="2000" u="none" cap="none" strike="noStrike">
              <a:solidFill>
                <a:schemeClr val="dk1"/>
              </a:solidFill>
              <a:highlight>
                <a:schemeClr val="lt1"/>
              </a:highlight>
              <a:latin typeface="Calibri"/>
              <a:ea typeface="Calibri"/>
              <a:cs typeface="Calibri"/>
              <a:sym typeface="Calibri"/>
            </a:endParaRPr>
          </a:p>
          <a:p>
            <a:pPr indent="-228600" lvl="0" marL="228600" marR="0" rtl="0" algn="l">
              <a:lnSpc>
                <a:spcPct val="90000"/>
              </a:lnSpc>
              <a:spcBef>
                <a:spcPts val="1000"/>
              </a:spcBef>
              <a:spcAft>
                <a:spcPts val="0"/>
              </a:spcAft>
              <a:buClr>
                <a:srgbClr val="00FF00"/>
              </a:buClr>
              <a:buSzPts val="2000"/>
              <a:buFont typeface="Calibri"/>
              <a:buChar char="●"/>
            </a:pPr>
            <a:r>
              <a:rPr b="1" i="0" lang="en-US" sz="2000" u="none" cap="none" strike="noStrike">
                <a:solidFill>
                  <a:srgbClr val="00FF00"/>
                </a:solidFill>
                <a:highlight>
                  <a:schemeClr val="lt1"/>
                </a:highlight>
                <a:latin typeface="Calibri"/>
                <a:ea typeface="Calibri"/>
                <a:cs typeface="Calibri"/>
                <a:sym typeface="Calibri"/>
              </a:rPr>
              <a:t>Epistemic Uncertainty</a:t>
            </a:r>
            <a:endParaRPr b="1" i="0" sz="2000" u="none" cap="none" strike="noStrike">
              <a:solidFill>
                <a:srgbClr val="00FF00"/>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Systematic uncertainty that arises from a lack of knowledge or understanding within the model.</a:t>
            </a:r>
            <a:endParaRPr b="0" i="0" sz="2000" u="none" cap="none" strike="noStrike">
              <a:solidFill>
                <a:schemeClr val="dk1"/>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It is reducible through better model training.</a:t>
            </a:r>
            <a:endParaRPr b="0" i="0" sz="2000" u="none" cap="none" strike="noStrike">
              <a:solidFill>
                <a:schemeClr val="dk1"/>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It increases for new input data not seen in the training process.</a:t>
            </a:r>
            <a:endParaRPr b="0" i="0" sz="2000" u="none" cap="none" strike="noStrike">
              <a:solidFill>
                <a:schemeClr val="dk1"/>
              </a:solidFill>
              <a:highlight>
                <a:schemeClr val="lt1"/>
              </a:highlight>
              <a:latin typeface="Calibri"/>
              <a:ea typeface="Calibri"/>
              <a:cs typeface="Calibri"/>
              <a:sym typeface="Calibri"/>
            </a:endParaRPr>
          </a:p>
          <a:p>
            <a:pPr indent="-241300" lvl="1" marL="685800" marR="0" rtl="0" algn="l">
              <a:lnSpc>
                <a:spcPct val="90000"/>
              </a:lnSpc>
              <a:spcBef>
                <a:spcPts val="1000"/>
              </a:spcBef>
              <a:spcAft>
                <a:spcPts val="0"/>
              </a:spcAft>
              <a:buClr>
                <a:schemeClr val="dk1"/>
              </a:buClr>
              <a:buSzPts val="2000"/>
              <a:buFont typeface="Calibri"/>
              <a:buChar char="○"/>
            </a:pPr>
            <a:r>
              <a:rPr b="0" i="0" lang="en-US" sz="2000" u="none" cap="none" strike="noStrike">
                <a:solidFill>
                  <a:schemeClr val="dk1"/>
                </a:solidFill>
                <a:highlight>
                  <a:schemeClr val="lt1"/>
                </a:highlight>
                <a:latin typeface="Calibri"/>
                <a:ea typeface="Calibri"/>
                <a:cs typeface="Calibri"/>
                <a:sym typeface="Calibri"/>
              </a:rPr>
              <a:t>Also known as model uncertainty.</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g2da8673ca15_3_13"/>
          <p:cNvSpPr txBox="1"/>
          <p:nvPr>
            <p:ph type="title"/>
          </p:nvPr>
        </p:nvSpPr>
        <p:spPr>
          <a:xfrm>
            <a:off x="415650" y="347354"/>
            <a:ext cx="11360700" cy="11124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 Methods Description</a:t>
            </a:r>
            <a:endParaRPr>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2.1 Bayesian Neural Networks</a:t>
            </a:r>
            <a:endParaRPr i="1" sz="2888">
              <a:latin typeface="Calibri"/>
              <a:ea typeface="Calibri"/>
              <a:cs typeface="Calibri"/>
              <a:sym typeface="Calibri"/>
            </a:endParaRPr>
          </a:p>
        </p:txBody>
      </p:sp>
      <p:sp>
        <p:nvSpPr>
          <p:cNvPr id="91" name="Google Shape;91;g2da8673ca15_3_13"/>
          <p:cNvSpPr txBox="1"/>
          <p:nvPr>
            <p:ph idx="1" type="body"/>
          </p:nvPr>
        </p:nvSpPr>
        <p:spPr>
          <a:xfrm>
            <a:off x="415600" y="1536633"/>
            <a:ext cx="5333100" cy="4555200"/>
          </a:xfrm>
          <a:prstGeom prst="rect">
            <a:avLst/>
          </a:prstGeom>
          <a:noFill/>
          <a:ln>
            <a:noFill/>
          </a:ln>
        </p:spPr>
        <p:txBody>
          <a:bodyPr anchorCtr="0" anchor="t" bIns="121900" lIns="121900" spcFirstLastPara="1" rIns="121900" wrap="square" tIns="121900">
            <a:normAutofit/>
          </a:bodyPr>
          <a:lstStyle/>
          <a:p>
            <a:pPr indent="-349250" lvl="0" marL="457200" rtl="0" algn="l">
              <a:lnSpc>
                <a:spcPct val="115000"/>
              </a:lnSpc>
              <a:spcBef>
                <a:spcPts val="0"/>
              </a:spcBef>
              <a:spcAft>
                <a:spcPts val="0"/>
              </a:spcAft>
              <a:buClr>
                <a:schemeClr val="dk1"/>
              </a:buClr>
              <a:buSzPts val="1900"/>
              <a:buFont typeface="Calibri"/>
              <a:buChar char="-"/>
            </a:pPr>
            <a:r>
              <a:rPr lang="en-US">
                <a:solidFill>
                  <a:schemeClr val="dk1"/>
                </a:solidFill>
                <a:latin typeface="Calibri"/>
                <a:ea typeface="Calibri"/>
                <a:cs typeface="Calibri"/>
                <a:sym typeface="Calibri"/>
              </a:rPr>
              <a:t>A Bayesian neural network (BNN) is a type of deep learning network that uses Bayesian methods to quantify the uncertainty in the predictions of a deep learning network.</a:t>
            </a:r>
            <a:endParaRPr>
              <a:solidFill>
                <a:schemeClr val="dk1"/>
              </a:solidFill>
              <a:latin typeface="Calibri"/>
              <a:ea typeface="Calibri"/>
              <a:cs typeface="Calibri"/>
              <a:sym typeface="Calibri"/>
            </a:endParaRPr>
          </a:p>
          <a:p>
            <a:pPr indent="0" lvl="0" marL="457200" rtl="0" algn="l">
              <a:lnSpc>
                <a:spcPct val="115000"/>
              </a:lnSpc>
              <a:spcBef>
                <a:spcPts val="1600"/>
              </a:spcBef>
              <a:spcAft>
                <a:spcPts val="0"/>
              </a:spcAft>
              <a:buSzPts val="1900"/>
              <a:buNone/>
            </a:pPr>
            <a:r>
              <a:t/>
            </a:r>
            <a:endParaRPr>
              <a:solidFill>
                <a:schemeClr val="dk1"/>
              </a:solidFill>
              <a:latin typeface="Calibri"/>
              <a:ea typeface="Calibri"/>
              <a:cs typeface="Calibri"/>
              <a:sym typeface="Calibri"/>
            </a:endParaRPr>
          </a:p>
          <a:p>
            <a:pPr indent="-349250" lvl="0" marL="457200" rtl="0" algn="l">
              <a:lnSpc>
                <a:spcPct val="115000"/>
              </a:lnSpc>
              <a:spcBef>
                <a:spcPts val="1600"/>
              </a:spcBef>
              <a:spcAft>
                <a:spcPts val="0"/>
              </a:spcAft>
              <a:buClr>
                <a:schemeClr val="dk1"/>
              </a:buClr>
              <a:buSzPts val="1900"/>
              <a:buFont typeface="Calibri"/>
              <a:buChar char="-"/>
            </a:pPr>
            <a:r>
              <a:rPr lang="en-US">
                <a:solidFill>
                  <a:schemeClr val="dk1"/>
                </a:solidFill>
                <a:latin typeface="Calibri"/>
                <a:ea typeface="Calibri"/>
                <a:cs typeface="Calibri"/>
                <a:sym typeface="Calibri"/>
              </a:rPr>
              <a:t>It employs statistical methodology so that everything has a </a:t>
            </a:r>
            <a:r>
              <a:rPr lang="en-US">
                <a:solidFill>
                  <a:srgbClr val="00FF00"/>
                </a:solidFill>
                <a:latin typeface="Calibri"/>
                <a:ea typeface="Calibri"/>
                <a:cs typeface="Calibri"/>
                <a:sym typeface="Calibri"/>
              </a:rPr>
              <a:t>probability distribution</a:t>
            </a:r>
            <a:r>
              <a:rPr lang="en-US">
                <a:solidFill>
                  <a:schemeClr val="dk1"/>
                </a:solidFill>
                <a:latin typeface="Calibri"/>
                <a:ea typeface="Calibri"/>
                <a:cs typeface="Calibri"/>
                <a:sym typeface="Calibri"/>
              </a:rPr>
              <a:t> attached to it, including model parameters (weights and biases in neural networks).</a:t>
            </a:r>
            <a:endParaRPr>
              <a:solidFill>
                <a:schemeClr val="dk1"/>
              </a:solidFill>
              <a:latin typeface="Calibri"/>
              <a:ea typeface="Calibri"/>
              <a:cs typeface="Calibri"/>
              <a:sym typeface="Calibri"/>
            </a:endParaRPr>
          </a:p>
        </p:txBody>
      </p:sp>
      <p:sp>
        <p:nvSpPr>
          <p:cNvPr id="92" name="Google Shape;92;g2da8673ca15_3_13"/>
          <p:cNvSpPr txBox="1"/>
          <p:nvPr>
            <p:ph idx="2" type="body"/>
          </p:nvPr>
        </p:nvSpPr>
        <p:spPr>
          <a:xfrm>
            <a:off x="5888850" y="4012250"/>
            <a:ext cx="5887500" cy="1791000"/>
          </a:xfrm>
          <a:prstGeom prst="rect">
            <a:avLst/>
          </a:prstGeom>
          <a:noFill/>
          <a:ln>
            <a:noFill/>
          </a:ln>
        </p:spPr>
        <p:txBody>
          <a:bodyPr anchorCtr="0" anchor="t" bIns="121900" lIns="121900" spcFirstLastPara="1" rIns="121900" wrap="square" tIns="121900">
            <a:normAutofit/>
          </a:bodyPr>
          <a:lstStyle/>
          <a:p>
            <a:pPr indent="-349250" lvl="0" marL="457200" rtl="0" algn="l">
              <a:lnSpc>
                <a:spcPct val="115000"/>
              </a:lnSpc>
              <a:spcBef>
                <a:spcPts val="0"/>
              </a:spcBef>
              <a:spcAft>
                <a:spcPts val="0"/>
              </a:spcAft>
              <a:buClr>
                <a:schemeClr val="dk1"/>
              </a:buClr>
              <a:buSzPts val="1900"/>
              <a:buFont typeface="Calibri"/>
              <a:buChar char="-"/>
            </a:pPr>
            <a:r>
              <a:rPr lang="en-US">
                <a:solidFill>
                  <a:schemeClr val="dk1"/>
                </a:solidFill>
                <a:latin typeface="Calibri"/>
                <a:ea typeface="Calibri"/>
                <a:cs typeface="Calibri"/>
                <a:sym typeface="Calibri"/>
              </a:rPr>
              <a:t>BNNs extend traditional neural networks by treating model parameters as </a:t>
            </a:r>
            <a:r>
              <a:rPr lang="en-US">
                <a:solidFill>
                  <a:srgbClr val="00FF00"/>
                </a:solidFill>
                <a:latin typeface="Calibri"/>
                <a:ea typeface="Calibri"/>
                <a:cs typeface="Calibri"/>
                <a:sym typeface="Calibri"/>
              </a:rPr>
              <a:t>random variables</a:t>
            </a:r>
            <a:r>
              <a:rPr lang="en-US">
                <a:solidFill>
                  <a:schemeClr val="dk1"/>
                </a:solidFill>
                <a:latin typeface="Calibri"/>
                <a:ea typeface="Calibri"/>
                <a:cs typeface="Calibri"/>
                <a:sym typeface="Calibri"/>
              </a:rPr>
              <a:t> with associated probability distributions.</a:t>
            </a:r>
            <a:endParaRPr>
              <a:solidFill>
                <a:schemeClr val="dk1"/>
              </a:solidFill>
              <a:latin typeface="Calibri"/>
              <a:ea typeface="Calibri"/>
              <a:cs typeface="Calibri"/>
              <a:sym typeface="Calibri"/>
            </a:endParaRPr>
          </a:p>
        </p:txBody>
      </p:sp>
      <p:pic>
        <p:nvPicPr>
          <p:cNvPr id="93" name="Google Shape;93;g2da8673ca15_3_13"/>
          <p:cNvPicPr preferRelativeResize="0"/>
          <p:nvPr/>
        </p:nvPicPr>
        <p:blipFill rotWithShape="1">
          <a:blip r:embed="rId3">
            <a:alphaModFix/>
          </a:blip>
          <a:srcRect b="0" l="0" r="0" t="0"/>
          <a:stretch/>
        </p:blipFill>
        <p:spPr>
          <a:xfrm>
            <a:off x="5719350" y="1213687"/>
            <a:ext cx="6226500" cy="270107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 name="Shape 97"/>
        <p:cNvGrpSpPr/>
        <p:nvPr/>
      </p:nvGrpSpPr>
      <p:grpSpPr>
        <a:xfrm>
          <a:off x="0" y="0"/>
          <a:ext cx="0" cy="0"/>
          <a:chOff x="0" y="0"/>
          <a:chExt cx="0" cy="0"/>
        </a:xfrm>
      </p:grpSpPr>
      <p:sp>
        <p:nvSpPr>
          <p:cNvPr id="98" name="Google Shape;98;g2da8673ca15_3_9"/>
          <p:cNvSpPr txBox="1"/>
          <p:nvPr>
            <p:ph type="title"/>
          </p:nvPr>
        </p:nvSpPr>
        <p:spPr>
          <a:xfrm>
            <a:off x="415600" y="593380"/>
            <a:ext cx="11360700" cy="12579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Working</a:t>
            </a:r>
            <a:endParaRPr i="1" sz="2888">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latin typeface="Calibri"/>
              <a:ea typeface="Calibri"/>
              <a:cs typeface="Calibri"/>
              <a:sym typeface="Calibri"/>
            </a:endParaRPr>
          </a:p>
        </p:txBody>
      </p:sp>
      <p:sp>
        <p:nvSpPr>
          <p:cNvPr id="99" name="Google Shape;99;g2da8673ca15_3_9"/>
          <p:cNvSpPr txBox="1"/>
          <p:nvPr/>
        </p:nvSpPr>
        <p:spPr>
          <a:xfrm>
            <a:off x="541250" y="1751200"/>
            <a:ext cx="10917600" cy="4920600"/>
          </a:xfrm>
          <a:prstGeom prst="rect">
            <a:avLst/>
          </a:prstGeom>
          <a:noFill/>
          <a:ln>
            <a:noFill/>
          </a:ln>
        </p:spPr>
        <p:txBody>
          <a:bodyPr anchorCtr="0" anchor="t" bIns="91425" lIns="91425" spcFirstLastPara="1" rIns="91425" wrap="square" tIns="91425">
            <a:noAutofit/>
          </a:bodyPr>
          <a:lstStyle/>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In BNN we can model the weights and biases as  random variables that will give us a different value every time we access it.</a:t>
            </a:r>
            <a:endParaRPr b="0" i="0" sz="21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This process of getting a new value from a random variable is called </a:t>
            </a:r>
            <a:r>
              <a:rPr b="0" i="0" lang="en-US" sz="2100" u="none" cap="none" strike="noStrike">
                <a:solidFill>
                  <a:srgbClr val="00FF00"/>
                </a:solidFill>
                <a:latin typeface="Calibri"/>
                <a:ea typeface="Calibri"/>
                <a:cs typeface="Calibri"/>
                <a:sym typeface="Calibri"/>
              </a:rPr>
              <a:t>sampling</a:t>
            </a:r>
            <a:r>
              <a:rPr b="0" i="0" lang="en-US" sz="2100" u="none" cap="none" strike="noStrike">
                <a:solidFill>
                  <a:schemeClr val="dk1"/>
                </a:solidFill>
                <a:latin typeface="Calibri"/>
                <a:ea typeface="Calibri"/>
                <a:cs typeface="Calibri"/>
                <a:sym typeface="Calibri"/>
              </a:rPr>
              <a:t>. What value comes out depends on the random variable’s associated probability distribution.</a:t>
            </a:r>
            <a:endParaRPr b="0" i="0" sz="21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To model the weights and biases using a distribution rather than a single deterministic set, we define a probability distribution for the weights. This can be achieved using </a:t>
            </a:r>
            <a:r>
              <a:rPr b="0" i="0" lang="en-US" sz="2100" u="none" cap="none" strike="noStrike">
                <a:solidFill>
                  <a:srgbClr val="00FF00"/>
                </a:solidFill>
                <a:latin typeface="Calibri"/>
                <a:ea typeface="Calibri"/>
                <a:cs typeface="Calibri"/>
                <a:sym typeface="Calibri"/>
              </a:rPr>
              <a:t>Bayes' theorem</a:t>
            </a:r>
            <a:r>
              <a:rPr b="0" i="0" lang="en-US" sz="2100" u="none" cap="none" strike="noStrike">
                <a:solidFill>
                  <a:schemeClr val="dk1"/>
                </a:solidFill>
                <a:latin typeface="Calibri"/>
                <a:ea typeface="Calibri"/>
                <a:cs typeface="Calibri"/>
                <a:sym typeface="Calibri"/>
              </a:rPr>
              <a:t>:</a:t>
            </a:r>
            <a:endParaRPr b="0" i="0" sz="2100" u="none" cap="none" strike="noStrike">
              <a:solidFill>
                <a:schemeClr val="dk1"/>
              </a:solidFill>
              <a:latin typeface="Calibri"/>
              <a:ea typeface="Calibri"/>
              <a:cs typeface="Calibri"/>
              <a:sym typeface="Calibri"/>
            </a:endParaRPr>
          </a:p>
          <a:p>
            <a:pPr indent="-361950" lvl="1" marL="9144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P(parameters ∣data) = (P(data∣parameters) × P(parameters)) / P(data)</a:t>
            </a:r>
            <a:endParaRPr b="0" i="0" sz="21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Each set of weights corresponds to a different possible configuration of the network, reflecting the uncertainty in the parameters.</a:t>
            </a:r>
            <a:endParaRPr b="0" i="0" sz="2100"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g2dabf7cdf1e_1_8"/>
          <p:cNvSpPr txBox="1"/>
          <p:nvPr>
            <p:ph type="title"/>
          </p:nvPr>
        </p:nvSpPr>
        <p:spPr>
          <a:xfrm>
            <a:off x="415600" y="593380"/>
            <a:ext cx="11360700" cy="12579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Benefits and Limitations</a:t>
            </a:r>
            <a:endParaRPr i="1" sz="2888">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latin typeface="Calibri"/>
              <a:ea typeface="Calibri"/>
              <a:cs typeface="Calibri"/>
              <a:sym typeface="Calibri"/>
            </a:endParaRPr>
          </a:p>
        </p:txBody>
      </p:sp>
      <p:sp>
        <p:nvSpPr>
          <p:cNvPr id="105" name="Google Shape;105;g2dabf7cdf1e_1_8"/>
          <p:cNvSpPr txBox="1"/>
          <p:nvPr/>
        </p:nvSpPr>
        <p:spPr>
          <a:xfrm>
            <a:off x="572000" y="1651450"/>
            <a:ext cx="11040600" cy="47667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Bayesian neural nets are useful for solving problems in domains where data is scarce, as a way to prevent overfitting. Example applications are molecular biology and medical diagnosis (areas where data often come from costly and difficult experimental work).</a:t>
            </a:r>
            <a:endParaRPr b="0" i="0" sz="24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Natural approach to quantify uncertainty (less often overconfident or underconfident than general NNs).</a:t>
            </a:r>
            <a:endParaRPr b="0" i="0" sz="24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Training BNNs can be computationally intensive and time-consuming, particularly for large datasets and complex models.</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 name="Shape 109"/>
        <p:cNvGrpSpPr/>
        <p:nvPr/>
      </p:nvGrpSpPr>
      <p:grpSpPr>
        <a:xfrm>
          <a:off x="0" y="0"/>
          <a:ext cx="0" cy="0"/>
          <a:chOff x="0" y="0"/>
          <a:chExt cx="0" cy="0"/>
        </a:xfrm>
      </p:grpSpPr>
      <p:sp>
        <p:nvSpPr>
          <p:cNvPr id="110" name="Google Shape;110;g2da8673ca15_3_0"/>
          <p:cNvSpPr txBox="1"/>
          <p:nvPr>
            <p:ph type="title"/>
          </p:nvPr>
        </p:nvSpPr>
        <p:spPr>
          <a:xfrm>
            <a:off x="415600" y="593377"/>
            <a:ext cx="11360700" cy="9492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Sampling Based Inference (SBI) Methods</a:t>
            </a:r>
            <a:endParaRPr i="1" sz="2888">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latin typeface="Calibri"/>
              <a:ea typeface="Calibri"/>
              <a:cs typeface="Calibri"/>
              <a:sym typeface="Calibri"/>
            </a:endParaRPr>
          </a:p>
        </p:txBody>
      </p:sp>
      <p:sp>
        <p:nvSpPr>
          <p:cNvPr id="111" name="Google Shape;111;g2da8673ca15_3_0"/>
          <p:cNvSpPr txBox="1"/>
          <p:nvPr/>
        </p:nvSpPr>
        <p:spPr>
          <a:xfrm>
            <a:off x="425700" y="1826700"/>
            <a:ext cx="11340600" cy="4544100"/>
          </a:xfrm>
          <a:prstGeom prst="rect">
            <a:avLst/>
          </a:prstGeom>
          <a:noFill/>
          <a:ln>
            <a:noFill/>
          </a:ln>
        </p:spPr>
        <p:txBody>
          <a:bodyPr anchorCtr="0" anchor="t" bIns="91425" lIns="91425" spcFirstLastPara="1" rIns="91425" wrap="square" tIns="91425">
            <a:noAutofit/>
          </a:bodyPr>
          <a:lstStyle/>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Using SBI methods, we can take samples from the posterior distribution to generate multiple sets of weights instead of using a single set of weights to make predictions.</a:t>
            </a:r>
            <a:endParaRPr b="0" i="0" sz="20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rgbClr val="00FF00"/>
                </a:solidFill>
                <a:latin typeface="Calibri"/>
                <a:ea typeface="Calibri"/>
                <a:cs typeface="Calibri"/>
                <a:sym typeface="Calibri"/>
              </a:rPr>
              <a:t>Markov Chain Monte Carlo</a:t>
            </a:r>
            <a:r>
              <a:rPr b="0" i="0" lang="en-US" sz="2000" u="none" cap="none" strike="noStrike">
                <a:solidFill>
                  <a:schemeClr val="dk1"/>
                </a:solidFill>
                <a:latin typeface="Calibri"/>
                <a:ea typeface="Calibri"/>
                <a:cs typeface="Calibri"/>
                <a:sym typeface="Calibri"/>
              </a:rPr>
              <a:t> methods: These methods sample from the posterior distribution by constructing a Markov chain (</a:t>
            </a:r>
            <a:r>
              <a:rPr b="0" i="0" lang="en-US" sz="2000" u="none" cap="none" strike="noStrike">
                <a:solidFill>
                  <a:srgbClr val="FFFF00"/>
                </a:solidFill>
                <a:latin typeface="Calibri"/>
                <a:ea typeface="Calibri"/>
                <a:cs typeface="Calibri"/>
                <a:sym typeface="Calibri"/>
              </a:rPr>
              <a:t>or multiple chains</a:t>
            </a:r>
            <a:r>
              <a:rPr b="0" i="0" lang="en-US" sz="2000" u="none" cap="none" strike="noStrike">
                <a:solidFill>
                  <a:schemeClr val="dk1"/>
                </a:solidFill>
                <a:latin typeface="Calibri"/>
                <a:ea typeface="Calibri"/>
                <a:cs typeface="Calibri"/>
                <a:sym typeface="Calibri"/>
              </a:rPr>
              <a:t>) that converges to the stationary distribution.</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a:p>
            <a:pPr indent="-355600" lvl="0" marL="457200" marR="0" rtl="0" algn="l">
              <a:lnSpc>
                <a:spcPct val="100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Variants of MCMC methods:</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355600" lvl="1" marL="914400" marR="0" rtl="0" algn="l">
              <a:lnSpc>
                <a:spcPct val="100000"/>
              </a:lnSpc>
              <a:spcBef>
                <a:spcPts val="0"/>
              </a:spcBef>
              <a:spcAft>
                <a:spcPts val="0"/>
              </a:spcAft>
              <a:buClr>
                <a:schemeClr val="accent3"/>
              </a:buClr>
              <a:buSzPts val="2000"/>
              <a:buFont typeface="Calibri"/>
              <a:buChar char="○"/>
            </a:pPr>
            <a:r>
              <a:rPr b="0" i="0" lang="en-US" sz="2000" u="none" cap="none" strike="noStrike">
                <a:solidFill>
                  <a:srgbClr val="00FF00"/>
                </a:solidFill>
                <a:latin typeface="Calibri"/>
                <a:ea typeface="Calibri"/>
                <a:cs typeface="Calibri"/>
                <a:sym typeface="Calibri"/>
              </a:rPr>
              <a:t>Hamiltonian Monte Carlo (HMC): </a:t>
            </a:r>
            <a:r>
              <a:rPr b="0" i="0" lang="en-US" sz="2000" u="none" cap="none" strike="noStrike">
                <a:solidFill>
                  <a:schemeClr val="dk1"/>
                </a:solidFill>
                <a:latin typeface="Calibri"/>
                <a:ea typeface="Calibri"/>
                <a:cs typeface="Calibri"/>
                <a:sym typeface="Calibri"/>
              </a:rPr>
              <a:t>The algorithm uses Hamiltonian dynamics to sample from probability distributions efficiently.</a:t>
            </a:r>
            <a:endParaRPr b="0" i="0" sz="2000" u="none" cap="none" strike="noStrike">
              <a:solidFill>
                <a:schemeClr val="dk1"/>
              </a:solidFill>
              <a:latin typeface="Calibri"/>
              <a:ea typeface="Calibri"/>
              <a:cs typeface="Calibri"/>
              <a:sym typeface="Calibri"/>
            </a:endParaRPr>
          </a:p>
          <a:p>
            <a:pPr indent="0" lvl="0" marL="9144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a:p>
            <a:pPr indent="-355600" lvl="1" marL="914400" marR="0" rtl="0" algn="l">
              <a:lnSpc>
                <a:spcPct val="100000"/>
              </a:lnSpc>
              <a:spcBef>
                <a:spcPts val="0"/>
              </a:spcBef>
              <a:spcAft>
                <a:spcPts val="0"/>
              </a:spcAft>
              <a:buClr>
                <a:schemeClr val="accent3"/>
              </a:buClr>
              <a:buSzPts val="2000"/>
              <a:buFont typeface="Calibri"/>
              <a:buChar char="○"/>
            </a:pPr>
            <a:r>
              <a:rPr b="0" i="0" lang="en-US" sz="2000" u="none" cap="none" strike="noStrike">
                <a:solidFill>
                  <a:srgbClr val="00FF00"/>
                </a:solidFill>
                <a:latin typeface="Calibri"/>
                <a:ea typeface="Calibri"/>
                <a:cs typeface="Calibri"/>
                <a:sym typeface="Calibri"/>
              </a:rPr>
              <a:t>No-U-Turn Sampler (NUTS):</a:t>
            </a:r>
            <a:r>
              <a:rPr b="0" i="0" lang="en-US" sz="2000" u="none" cap="none" strike="noStrike">
                <a:solidFill>
                  <a:schemeClr val="accent3"/>
                </a:solidFill>
                <a:latin typeface="Calibri"/>
                <a:ea typeface="Calibri"/>
                <a:cs typeface="Calibri"/>
                <a:sym typeface="Calibri"/>
              </a:rPr>
              <a:t> </a:t>
            </a:r>
            <a:r>
              <a:rPr b="0" i="0" lang="en-US" sz="2000" u="none" cap="none" strike="noStrike">
                <a:solidFill>
                  <a:schemeClr val="dk1"/>
                </a:solidFill>
                <a:latin typeface="Calibri"/>
                <a:ea typeface="Calibri"/>
                <a:cs typeface="Calibri"/>
                <a:sym typeface="Calibri"/>
              </a:rPr>
              <a:t>An extension of HMC that automatically tunes its parameters and dynamically adapts the number of steps.</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 name="Shape 115"/>
        <p:cNvGrpSpPr/>
        <p:nvPr/>
      </p:nvGrpSpPr>
      <p:grpSpPr>
        <a:xfrm>
          <a:off x="0" y="0"/>
          <a:ext cx="0" cy="0"/>
          <a:chOff x="0" y="0"/>
          <a:chExt cx="0" cy="0"/>
        </a:xfrm>
      </p:grpSpPr>
      <p:sp>
        <p:nvSpPr>
          <p:cNvPr id="116" name="Google Shape;116;g2da8673ca15_3_23"/>
          <p:cNvSpPr txBox="1"/>
          <p:nvPr>
            <p:ph type="title"/>
          </p:nvPr>
        </p:nvSpPr>
        <p:spPr>
          <a:xfrm>
            <a:off x="284075" y="5745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Posterior Predictive Density</a:t>
            </a:r>
            <a:endParaRPr>
              <a:latin typeface="Calibri"/>
              <a:ea typeface="Calibri"/>
              <a:cs typeface="Calibri"/>
              <a:sym typeface="Calibri"/>
            </a:endParaRPr>
          </a:p>
        </p:txBody>
      </p:sp>
      <p:sp>
        <p:nvSpPr>
          <p:cNvPr id="117" name="Google Shape;117;g2da8673ca15_3_23"/>
          <p:cNvSpPr txBox="1"/>
          <p:nvPr/>
        </p:nvSpPr>
        <p:spPr>
          <a:xfrm>
            <a:off x="540675" y="1755125"/>
            <a:ext cx="11360700" cy="4383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The posterior predictive density refers to the distribution of predictions for new data points given the observed data and the uncertainty in the model parameters.</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Formula: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p(y*|x*, D): Predictive distribution of new observations given data.</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p(y*|x*, θ): Likelihood of new observations given parameters and data.</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rPr b="0" i="0" lang="en-US" sz="2200" u="none" cap="none" strike="noStrike">
                <a:solidFill>
                  <a:schemeClr val="dk1"/>
                </a:solidFill>
                <a:latin typeface="Calibri"/>
                <a:ea typeface="Calibri"/>
                <a:cs typeface="Calibri"/>
                <a:sym typeface="Calibri"/>
              </a:rPr>
              <a:t>p(θ∣D): Posterior distribution of parameters given data. (use Bayes theorem)</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p:txBody>
      </p:sp>
      <p:pic>
        <p:nvPicPr>
          <p:cNvPr id="118" name="Google Shape;118;g2da8673ca15_3_23"/>
          <p:cNvPicPr preferRelativeResize="0"/>
          <p:nvPr/>
        </p:nvPicPr>
        <p:blipFill rotWithShape="1">
          <a:blip r:embed="rId3">
            <a:alphaModFix/>
          </a:blip>
          <a:srcRect b="0" l="0" r="0" t="0"/>
          <a:stretch/>
        </p:blipFill>
        <p:spPr>
          <a:xfrm>
            <a:off x="1982655" y="2986750"/>
            <a:ext cx="4695650" cy="8845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g2da8673ca15_3_27"/>
          <p:cNvSpPr txBox="1"/>
          <p:nvPr>
            <p:ph type="title"/>
          </p:nvPr>
        </p:nvSpPr>
        <p:spPr>
          <a:xfrm>
            <a:off x="415600" y="593378"/>
            <a:ext cx="11360700" cy="10653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Log Posterior Predictive Density (LPPD)</a:t>
            </a:r>
            <a:endParaRPr>
              <a:latin typeface="Calibri"/>
              <a:ea typeface="Calibri"/>
              <a:cs typeface="Calibri"/>
              <a:sym typeface="Calibri"/>
            </a:endParaRPr>
          </a:p>
        </p:txBody>
      </p:sp>
      <p:sp>
        <p:nvSpPr>
          <p:cNvPr id="124" name="Google Shape;124;g2da8673ca15_3_27"/>
          <p:cNvSpPr txBox="1"/>
          <p:nvPr/>
        </p:nvSpPr>
        <p:spPr>
          <a:xfrm>
            <a:off x="463900" y="1514000"/>
            <a:ext cx="11264100" cy="45354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Since the previous equation lacks a closed form solution we can rely on </a:t>
            </a:r>
            <a:r>
              <a:rPr b="0" i="0" lang="en-US" sz="2400" u="none" cap="none" strike="noStrike">
                <a:solidFill>
                  <a:srgbClr val="00FF00"/>
                </a:solidFill>
                <a:latin typeface="Calibri"/>
                <a:ea typeface="Calibri"/>
                <a:cs typeface="Calibri"/>
                <a:sym typeface="Calibri"/>
              </a:rPr>
              <a:t>Monte Carlo estimates</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The LPPD quantifies how well, on average, the predictive distribution covers the observed labels.</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rgbClr val="FFFF00"/>
                </a:solidFill>
                <a:latin typeface="Calibri"/>
                <a:ea typeface="Calibri"/>
                <a:cs typeface="Calibri"/>
                <a:sym typeface="Calibri"/>
              </a:rPr>
              <a:t>Higher LPPD values indicate lower uncertainty</a:t>
            </a:r>
            <a:r>
              <a:rPr b="0" i="0" lang="en-US" sz="2400" u="none" cap="none" strike="noStrike">
                <a:solidFill>
                  <a:schemeClr val="dk1"/>
                </a:solidFill>
                <a:latin typeface="Calibri"/>
                <a:ea typeface="Calibri"/>
                <a:cs typeface="Calibri"/>
                <a:sym typeface="Calibri"/>
              </a:rPr>
              <a:t>, as the model is more confident in its predictions and vice versa.</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p:txBody>
      </p:sp>
      <p:pic>
        <p:nvPicPr>
          <p:cNvPr id="125" name="Google Shape;125;g2da8673ca15_3_27"/>
          <p:cNvPicPr preferRelativeResize="0"/>
          <p:nvPr/>
        </p:nvPicPr>
        <p:blipFill rotWithShape="1">
          <a:blip r:embed="rId3">
            <a:alphaModFix/>
          </a:blip>
          <a:srcRect b="0" l="0" r="0" t="0"/>
          <a:stretch/>
        </p:blipFill>
        <p:spPr>
          <a:xfrm>
            <a:off x="5382000" y="2838700"/>
            <a:ext cx="6079575" cy="763475"/>
          </a:xfrm>
          <a:prstGeom prst="rect">
            <a:avLst/>
          </a:prstGeom>
          <a:noFill/>
          <a:ln>
            <a:noFill/>
          </a:ln>
        </p:spPr>
      </p:pic>
      <p:pic>
        <p:nvPicPr>
          <p:cNvPr id="126" name="Google Shape;126;g2da8673ca15_3_27"/>
          <p:cNvPicPr preferRelativeResize="0"/>
          <p:nvPr/>
        </p:nvPicPr>
        <p:blipFill rotWithShape="1">
          <a:blip r:embed="rId4">
            <a:alphaModFix/>
          </a:blip>
          <a:srcRect b="0" l="0" r="0" t="0"/>
          <a:stretch/>
        </p:blipFill>
        <p:spPr>
          <a:xfrm>
            <a:off x="1003325" y="2838675"/>
            <a:ext cx="3248125" cy="763500"/>
          </a:xfrm>
          <a:prstGeom prst="rect">
            <a:avLst/>
          </a:prstGeom>
          <a:noFill/>
          <a:ln>
            <a:noFill/>
          </a:ln>
        </p:spPr>
      </p:pic>
      <p:sp>
        <p:nvSpPr>
          <p:cNvPr id="127" name="Google Shape;127;g2da8673ca15_3_27"/>
          <p:cNvSpPr/>
          <p:nvPr/>
        </p:nvSpPr>
        <p:spPr>
          <a:xfrm>
            <a:off x="4497575" y="3036075"/>
            <a:ext cx="601800" cy="4059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g2da8673ca15_3_31"/>
          <p:cNvSpPr txBox="1"/>
          <p:nvPr>
            <p:ph type="title"/>
          </p:nvPr>
        </p:nvSpPr>
        <p:spPr>
          <a:xfrm>
            <a:off x="300675" y="593378"/>
            <a:ext cx="11360700" cy="10074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Bayesian Deep Ensembles (BDEs)</a:t>
            </a:r>
            <a:endParaRPr>
              <a:latin typeface="Calibri"/>
              <a:ea typeface="Calibri"/>
              <a:cs typeface="Calibri"/>
              <a:sym typeface="Calibri"/>
            </a:endParaRPr>
          </a:p>
        </p:txBody>
      </p:sp>
      <p:sp>
        <p:nvSpPr>
          <p:cNvPr id="133" name="Google Shape;133;g2da8673ca15_3_31"/>
          <p:cNvSpPr txBox="1"/>
          <p:nvPr/>
        </p:nvSpPr>
        <p:spPr>
          <a:xfrm>
            <a:off x="300675" y="1600775"/>
            <a:ext cx="5900100" cy="5134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Multiple BNNs are trained independently on the same dataset, each with different initializations or subsets of the data.</a:t>
            </a:r>
            <a:endParaRPr b="0" i="0" sz="2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Each BNN in the ensemble provides a different estimate of the posterior distribution over the parameters.</a:t>
            </a:r>
            <a:endParaRPr b="0" i="0" sz="2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dk1"/>
              </a:solidFill>
              <a:latin typeface="Calibri"/>
              <a:ea typeface="Calibri"/>
              <a:cs typeface="Calibri"/>
              <a:sym typeface="Calibri"/>
            </a:endParaRPr>
          </a:p>
          <a:p>
            <a:pPr indent="-361950" lvl="0" marL="457200" marR="0" rtl="0" algn="l">
              <a:lnSpc>
                <a:spcPct val="100000"/>
              </a:lnSpc>
              <a:spcBef>
                <a:spcPts val="0"/>
              </a:spcBef>
              <a:spcAft>
                <a:spcPts val="0"/>
              </a:spcAft>
              <a:buClr>
                <a:schemeClr val="dk1"/>
              </a:buClr>
              <a:buSzPts val="2100"/>
              <a:buFont typeface="Calibri"/>
              <a:buChar char="●"/>
            </a:pPr>
            <a:r>
              <a:rPr b="0" i="0" lang="en-US" sz="2100" u="none" cap="none" strike="noStrike">
                <a:solidFill>
                  <a:schemeClr val="dk1"/>
                </a:solidFill>
                <a:latin typeface="Calibri"/>
                <a:ea typeface="Calibri"/>
                <a:cs typeface="Calibri"/>
                <a:sym typeface="Calibri"/>
              </a:rPr>
              <a:t>Predictions are then obtained by averaging the predictions of all BNNs in the ensemble, providing uncertainty estimates as well with LPPD value of each network.</a:t>
            </a:r>
            <a:endParaRPr b="0" i="0" sz="21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100"/>
              <a:buFont typeface="Arial"/>
              <a:buNone/>
            </a:pPr>
            <a:r>
              <a:t/>
            </a:r>
            <a:endParaRPr b="0" i="0" sz="21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p:txBody>
      </p:sp>
      <p:pic>
        <p:nvPicPr>
          <p:cNvPr id="134" name="Google Shape;134;g2da8673ca15_3_31"/>
          <p:cNvPicPr preferRelativeResize="0"/>
          <p:nvPr/>
        </p:nvPicPr>
        <p:blipFill rotWithShape="1">
          <a:blip r:embed="rId3">
            <a:alphaModFix/>
          </a:blip>
          <a:srcRect b="0" l="0" r="0" t="0"/>
          <a:stretch/>
        </p:blipFill>
        <p:spPr>
          <a:xfrm>
            <a:off x="6439125" y="1917500"/>
            <a:ext cx="5453174" cy="425715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270d8b55fc8_2_7"/>
          <p:cNvSpPr txBox="1"/>
          <p:nvPr>
            <p:ph type="title"/>
          </p:nvPr>
        </p:nvSpPr>
        <p:spPr>
          <a:xfrm>
            <a:off x="415600" y="593378"/>
            <a:ext cx="11360700" cy="10218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lang="en-US" sz="2888">
                <a:latin typeface="Calibri"/>
                <a:ea typeface="Calibri"/>
                <a:cs typeface="Calibri"/>
                <a:sym typeface="Calibri"/>
              </a:rPr>
              <a:t>2.1 Bayesian Neural Networks</a:t>
            </a:r>
            <a:endParaRPr sz="2888">
              <a:latin typeface="Calibri"/>
              <a:ea typeface="Calibri"/>
              <a:cs typeface="Calibri"/>
              <a:sym typeface="Calibri"/>
            </a:endParaRPr>
          </a:p>
          <a:p>
            <a:pPr indent="0" lvl="0" marL="0" rtl="0" algn="l">
              <a:lnSpc>
                <a:spcPct val="100000"/>
              </a:lnSpc>
              <a:spcBef>
                <a:spcPts val="0"/>
              </a:spcBef>
              <a:spcAft>
                <a:spcPts val="0"/>
              </a:spcAft>
              <a:buSzPct val="153893"/>
              <a:buNone/>
            </a:pPr>
            <a:r>
              <a:rPr i="1" lang="en-US" sz="2888">
                <a:latin typeface="Calibri"/>
                <a:ea typeface="Calibri"/>
                <a:cs typeface="Calibri"/>
                <a:sym typeface="Calibri"/>
              </a:rPr>
              <a:t>Bayesian Deep Ensembles (BDEs)</a:t>
            </a:r>
            <a:endParaRPr>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latin typeface="Calibri"/>
              <a:ea typeface="Calibri"/>
              <a:cs typeface="Calibri"/>
              <a:sym typeface="Calibri"/>
            </a:endParaRPr>
          </a:p>
        </p:txBody>
      </p:sp>
      <p:sp>
        <p:nvSpPr>
          <p:cNvPr id="140" name="Google Shape;140;g270d8b55fc8_2_7"/>
          <p:cNvSpPr txBox="1"/>
          <p:nvPr>
            <p:ph idx="1" type="body"/>
          </p:nvPr>
        </p:nvSpPr>
        <p:spPr>
          <a:xfrm>
            <a:off x="415600" y="1841133"/>
            <a:ext cx="11360700" cy="4555200"/>
          </a:xfrm>
          <a:prstGeom prst="rect">
            <a:avLst/>
          </a:prstGeom>
          <a:noFill/>
          <a:ln>
            <a:noFill/>
          </a:ln>
        </p:spPr>
        <p:txBody>
          <a:bodyPr anchorCtr="0" anchor="t" bIns="121900" lIns="121900" spcFirstLastPara="1" rIns="121900" wrap="square" tIns="121900">
            <a:normAutofit lnSpcReduction="10000"/>
          </a:bodyPr>
          <a:lstStyle/>
          <a:p>
            <a:pPr indent="0" lvl="0" marL="0" rtl="0" algn="l">
              <a:lnSpc>
                <a:spcPct val="115000"/>
              </a:lnSpc>
              <a:spcBef>
                <a:spcPts val="0"/>
              </a:spcBef>
              <a:spcAft>
                <a:spcPts val="0"/>
              </a:spcAft>
              <a:buSzPts val="2400"/>
              <a:buNone/>
            </a:pPr>
            <a:r>
              <a:rPr lang="en-US">
                <a:solidFill>
                  <a:srgbClr val="FFFF00"/>
                </a:solidFill>
                <a:latin typeface="Calibri"/>
                <a:ea typeface="Calibri"/>
                <a:cs typeface="Calibri"/>
                <a:sym typeface="Calibri"/>
              </a:rPr>
              <a:t>Benefits:</a:t>
            </a:r>
            <a:endParaRPr>
              <a:solidFill>
                <a:srgbClr val="FFFF00"/>
              </a:solidFill>
              <a:latin typeface="Calibri"/>
              <a:ea typeface="Calibri"/>
              <a:cs typeface="Calibri"/>
              <a:sym typeface="Calibri"/>
            </a:endParaRPr>
          </a:p>
          <a:p>
            <a:pPr indent="-381000" lvl="0" marL="457200" rtl="0" algn="l">
              <a:lnSpc>
                <a:spcPct val="115000"/>
              </a:lnSpc>
              <a:spcBef>
                <a:spcPts val="1600"/>
              </a:spcBef>
              <a:spcAft>
                <a:spcPts val="0"/>
              </a:spcAft>
              <a:buClr>
                <a:schemeClr val="dk1"/>
              </a:buClr>
              <a:buSzPts val="2400"/>
              <a:buFont typeface="Calibri"/>
              <a:buChar char="●"/>
            </a:pPr>
            <a:r>
              <a:rPr lang="en-US">
                <a:solidFill>
                  <a:schemeClr val="dk1"/>
                </a:solidFill>
                <a:latin typeface="Calibri"/>
                <a:ea typeface="Calibri"/>
                <a:cs typeface="Calibri"/>
                <a:sym typeface="Calibri"/>
              </a:rPr>
              <a:t>Increases LPPD values leading to low uncertainty.</a:t>
            </a:r>
            <a:endParaRPr>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BDEs can provide more robust and generalizable predictions that reduces overfitting.</a:t>
            </a:r>
            <a:endParaRPr>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Flexible in different model architectures including CNNs, RNNS.</a:t>
            </a:r>
            <a:endParaRPr>
              <a:solidFill>
                <a:schemeClr val="dk1"/>
              </a:solidFill>
              <a:latin typeface="Calibri"/>
              <a:ea typeface="Calibri"/>
              <a:cs typeface="Calibri"/>
              <a:sym typeface="Calibri"/>
            </a:endParaRPr>
          </a:p>
          <a:p>
            <a:pPr indent="0" lvl="0" marL="0" rtl="0" algn="l">
              <a:lnSpc>
                <a:spcPct val="115000"/>
              </a:lnSpc>
              <a:spcBef>
                <a:spcPts val="1600"/>
              </a:spcBef>
              <a:spcAft>
                <a:spcPts val="0"/>
              </a:spcAft>
              <a:buSzPts val="2400"/>
              <a:buNone/>
            </a:pPr>
            <a:r>
              <a:rPr lang="en-US">
                <a:solidFill>
                  <a:srgbClr val="FFFF00"/>
                </a:solidFill>
                <a:latin typeface="Calibri"/>
                <a:ea typeface="Calibri"/>
                <a:cs typeface="Calibri"/>
                <a:sym typeface="Calibri"/>
              </a:rPr>
              <a:t>Limitations:</a:t>
            </a:r>
            <a:endParaRPr>
              <a:solidFill>
                <a:srgbClr val="FFFF00"/>
              </a:solidFill>
              <a:latin typeface="Calibri"/>
              <a:ea typeface="Calibri"/>
              <a:cs typeface="Calibri"/>
              <a:sym typeface="Calibri"/>
            </a:endParaRPr>
          </a:p>
          <a:p>
            <a:pPr indent="-381000" lvl="0" marL="457200" rtl="0" algn="l">
              <a:lnSpc>
                <a:spcPct val="115000"/>
              </a:lnSpc>
              <a:spcBef>
                <a:spcPts val="1600"/>
              </a:spcBef>
              <a:spcAft>
                <a:spcPts val="0"/>
              </a:spcAft>
              <a:buClr>
                <a:schemeClr val="dk1"/>
              </a:buClr>
              <a:buSzPts val="2400"/>
              <a:buFont typeface="Calibri"/>
              <a:buChar char="●"/>
            </a:pPr>
            <a:r>
              <a:rPr lang="en-US">
                <a:solidFill>
                  <a:schemeClr val="dk1"/>
                </a:solidFill>
                <a:latin typeface="Calibri"/>
                <a:ea typeface="Calibri"/>
                <a:cs typeface="Calibri"/>
                <a:sym typeface="Calibri"/>
              </a:rPr>
              <a:t>Scaling BDEs to very large datasets or high-dimensional input spaces can be challenging.</a:t>
            </a:r>
            <a:endParaRPr>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lang="en-US">
                <a:solidFill>
                  <a:schemeClr val="dk1"/>
                </a:solidFill>
                <a:latin typeface="Calibri"/>
                <a:ea typeface="Calibri"/>
                <a:cs typeface="Calibri"/>
                <a:sym typeface="Calibri"/>
              </a:rPr>
              <a:t>Computationally expensive and significant memory resources required.</a:t>
            </a:r>
            <a:endParaRPr>
              <a:solidFill>
                <a:schemeClr val="dk1"/>
              </a:solidFill>
              <a:latin typeface="Calibri"/>
              <a:ea typeface="Calibri"/>
              <a:cs typeface="Calibri"/>
              <a:sym typeface="Calibri"/>
            </a:endParaRPr>
          </a:p>
          <a:p>
            <a:pPr indent="0" lvl="0" marL="457200" rtl="0" algn="l">
              <a:lnSpc>
                <a:spcPct val="115000"/>
              </a:lnSpc>
              <a:spcBef>
                <a:spcPts val="1600"/>
              </a:spcBef>
              <a:spcAft>
                <a:spcPts val="1600"/>
              </a:spcAft>
              <a:buSzPts val="2400"/>
              <a:buNone/>
            </a:pPr>
            <a:r>
              <a:t/>
            </a:r>
            <a:endParaRPr>
              <a:latin typeface="Calibri"/>
              <a:ea typeface="Calibri"/>
              <a:cs typeface="Calibri"/>
              <a:sym typeface="Calibri"/>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270db738eac_20_0"/>
          <p:cNvSpPr txBox="1"/>
          <p:nvPr>
            <p:ph type="title"/>
          </p:nvPr>
        </p:nvSpPr>
        <p:spPr>
          <a:xfrm>
            <a:off x="415600" y="593379"/>
            <a:ext cx="11360700" cy="11712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b="1" lang="en-US">
                <a:latin typeface="Calibri"/>
                <a:ea typeface="Calibri"/>
                <a:cs typeface="Calibri"/>
                <a:sym typeface="Calibri"/>
              </a:rPr>
              <a:t>2. Methods Description</a:t>
            </a:r>
            <a:endParaRPr b="1">
              <a:latin typeface="Calibri"/>
              <a:ea typeface="Calibri"/>
              <a:cs typeface="Calibri"/>
              <a:sym typeface="Calibri"/>
            </a:endParaRPr>
          </a:p>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2.2 Posterior Network</a:t>
            </a:r>
            <a:endParaRPr b="1">
              <a:latin typeface="Calibri"/>
              <a:ea typeface="Calibri"/>
              <a:cs typeface="Calibri"/>
              <a:sym typeface="Calibri"/>
            </a:endParaRPr>
          </a:p>
        </p:txBody>
      </p:sp>
      <p:sp>
        <p:nvSpPr>
          <p:cNvPr id="146" name="Google Shape;146;g270db738eac_20_0"/>
          <p:cNvSpPr txBox="1"/>
          <p:nvPr>
            <p:ph idx="1" type="body"/>
          </p:nvPr>
        </p:nvSpPr>
        <p:spPr>
          <a:xfrm>
            <a:off x="415600" y="1915500"/>
            <a:ext cx="5127900" cy="2569800"/>
          </a:xfrm>
          <a:prstGeom prst="rect">
            <a:avLst/>
          </a:prstGeom>
          <a:noFill/>
          <a:ln>
            <a:noFill/>
          </a:ln>
        </p:spPr>
        <p:txBody>
          <a:bodyPr anchorCtr="0" anchor="t" bIns="121900" lIns="121900" spcFirstLastPara="1" rIns="121900" wrap="square" tIns="121900">
            <a:normAutofit lnSpcReduction="10000"/>
          </a:bodyPr>
          <a:lstStyle/>
          <a:p>
            <a:pPr indent="0" lvl="0" marL="0" rtl="0" algn="l">
              <a:lnSpc>
                <a:spcPct val="115000"/>
              </a:lnSpc>
              <a:spcBef>
                <a:spcPts val="0"/>
              </a:spcBef>
              <a:spcAft>
                <a:spcPts val="0"/>
              </a:spcAft>
              <a:buSzPts val="2400"/>
              <a:buNone/>
            </a:pPr>
            <a:r>
              <a:rPr lang="en-US" sz="1900">
                <a:solidFill>
                  <a:schemeClr val="dk1"/>
                </a:solidFill>
                <a:latin typeface="Calibri"/>
                <a:ea typeface="Calibri"/>
                <a:cs typeface="Calibri"/>
                <a:sym typeface="Calibri"/>
              </a:rPr>
              <a:t>Posterior Network (PostNet) uses an innovative approach to uncertainty estimation that leverages normalizing flows and Bayesian principles to model the uncertainty associated with each prediction, particularly focusing on out-of-distribution (OOD) data.</a:t>
            </a:r>
            <a:endParaRPr sz="1900">
              <a:solidFill>
                <a:schemeClr val="dk1"/>
              </a:solidFill>
              <a:latin typeface="Calibri"/>
              <a:ea typeface="Calibri"/>
              <a:cs typeface="Calibri"/>
              <a:sym typeface="Calibri"/>
            </a:endParaRPr>
          </a:p>
          <a:p>
            <a:pPr indent="0" lvl="0" marL="0" rtl="0" algn="l">
              <a:lnSpc>
                <a:spcPct val="115000"/>
              </a:lnSpc>
              <a:spcBef>
                <a:spcPts val="0"/>
              </a:spcBef>
              <a:spcAft>
                <a:spcPts val="1600"/>
              </a:spcAft>
              <a:buSzPts val="2400"/>
              <a:buNone/>
            </a:pPr>
            <a:r>
              <a:t/>
            </a:r>
            <a:endParaRPr/>
          </a:p>
        </p:txBody>
      </p:sp>
      <p:sp>
        <p:nvSpPr>
          <p:cNvPr id="147" name="Google Shape;147;g270db738eac_20_0"/>
          <p:cNvSpPr txBox="1"/>
          <p:nvPr/>
        </p:nvSpPr>
        <p:spPr>
          <a:xfrm>
            <a:off x="6861250" y="1924888"/>
            <a:ext cx="4172100" cy="22356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00"/>
              <a:buFont typeface="Arial"/>
              <a:buNone/>
            </a:pPr>
            <a:r>
              <a:rPr b="1" i="1" lang="en-US" sz="1900" u="none" cap="none" strike="noStrike">
                <a:solidFill>
                  <a:schemeClr val="dk1"/>
                </a:solidFill>
                <a:latin typeface="Calibri"/>
                <a:ea typeface="Calibri"/>
                <a:cs typeface="Calibri"/>
                <a:sym typeface="Calibri"/>
              </a:rPr>
              <a:t>Key Insight:</a:t>
            </a:r>
            <a:r>
              <a:rPr b="0" i="0" lang="en-US" sz="1900" u="none" cap="none" strike="noStrike">
                <a:solidFill>
                  <a:schemeClr val="dk1"/>
                </a:solidFill>
                <a:latin typeface="Calibri"/>
                <a:ea typeface="Calibri"/>
                <a:cs typeface="Calibri"/>
                <a:sym typeface="Calibri"/>
              </a:rPr>
              <a:t> Unlike traditional methods, PostNet does not require OOD samples during training, which makes it highly applicable in real-world scenarios where OOD samples are not readily available.</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Average"/>
              <a:ea typeface="Average"/>
              <a:cs typeface="Average"/>
              <a:sym typeface="Average"/>
            </a:endParaRPr>
          </a:p>
        </p:txBody>
      </p:sp>
      <p:pic>
        <p:nvPicPr>
          <p:cNvPr id="148" name="Google Shape;148;g270db738eac_20_0"/>
          <p:cNvPicPr preferRelativeResize="0"/>
          <p:nvPr/>
        </p:nvPicPr>
        <p:blipFill rotWithShape="1">
          <a:blip r:embed="rId3">
            <a:alphaModFix/>
          </a:blip>
          <a:srcRect b="0" l="0" r="0" t="0"/>
          <a:stretch/>
        </p:blipFill>
        <p:spPr>
          <a:xfrm>
            <a:off x="1448660" y="4320790"/>
            <a:ext cx="9294575" cy="202285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g270db738eac_20_14"/>
          <p:cNvSpPr txBox="1"/>
          <p:nvPr>
            <p:ph type="title"/>
          </p:nvPr>
        </p:nvSpPr>
        <p:spPr>
          <a:xfrm>
            <a:off x="415600" y="593375"/>
            <a:ext cx="11360700" cy="12546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2.2 Posterior Network</a:t>
            </a:r>
            <a:endParaRPr b="1">
              <a:latin typeface="Calibri"/>
              <a:ea typeface="Calibri"/>
              <a:cs typeface="Calibri"/>
              <a:sym typeface="Calibri"/>
            </a:endParaRPr>
          </a:p>
          <a:p>
            <a:pPr indent="0" lvl="0" marL="0" rtl="0" algn="l">
              <a:lnSpc>
                <a:spcPct val="160000"/>
              </a:lnSpc>
              <a:spcBef>
                <a:spcPts val="1400"/>
              </a:spcBef>
              <a:spcAft>
                <a:spcPts val="0"/>
              </a:spcAft>
              <a:buSzPct val="167714"/>
              <a:buNone/>
            </a:pPr>
            <a:r>
              <a:rPr i="1" lang="en-US" sz="2650">
                <a:latin typeface="Calibri"/>
                <a:ea typeface="Calibri"/>
                <a:cs typeface="Calibri"/>
                <a:sym typeface="Calibri"/>
              </a:rPr>
              <a:t>Methodology of PostNet</a:t>
            </a:r>
            <a:endParaRPr i="1" sz="2650">
              <a:latin typeface="Calibri"/>
              <a:ea typeface="Calibri"/>
              <a:cs typeface="Calibri"/>
              <a:sym typeface="Calibri"/>
            </a:endParaRPr>
          </a:p>
          <a:p>
            <a:pPr indent="0" lvl="0" marL="0" rtl="0" algn="l">
              <a:lnSpc>
                <a:spcPct val="100000"/>
              </a:lnSpc>
              <a:spcBef>
                <a:spcPts val="400"/>
              </a:spcBef>
              <a:spcAft>
                <a:spcPts val="0"/>
              </a:spcAft>
              <a:buSzPct val="111111"/>
              <a:buNone/>
            </a:pPr>
            <a:r>
              <a:t/>
            </a:r>
            <a:endParaRPr/>
          </a:p>
        </p:txBody>
      </p:sp>
      <p:sp>
        <p:nvSpPr>
          <p:cNvPr id="154" name="Google Shape;154;g270db738eac_20_14"/>
          <p:cNvSpPr txBox="1"/>
          <p:nvPr>
            <p:ph idx="1" type="body"/>
          </p:nvPr>
        </p:nvSpPr>
        <p:spPr>
          <a:xfrm>
            <a:off x="415600" y="2114550"/>
            <a:ext cx="11360700" cy="3977400"/>
          </a:xfrm>
          <a:prstGeom prst="rect">
            <a:avLst/>
          </a:prstGeom>
          <a:noFill/>
          <a:ln>
            <a:noFill/>
          </a:ln>
        </p:spPr>
        <p:txBody>
          <a:bodyPr anchorCtr="0" anchor="t" bIns="121900" lIns="121900" spcFirstLastPara="1" rIns="121900" wrap="square" tIns="121900">
            <a:normAutofit/>
          </a:bodyPr>
          <a:lstStyle/>
          <a:p>
            <a:pPr indent="-381000" lvl="0" marL="457200" rtl="0" algn="l">
              <a:lnSpc>
                <a:spcPct val="115000"/>
              </a:lnSpc>
              <a:spcBef>
                <a:spcPts val="0"/>
              </a:spcBef>
              <a:spcAft>
                <a:spcPts val="0"/>
              </a:spcAft>
              <a:buClr>
                <a:schemeClr val="dk1"/>
              </a:buClr>
              <a:buSzPts val="2400"/>
              <a:buFont typeface="Calibri"/>
              <a:buChar char="●"/>
            </a:pPr>
            <a:r>
              <a:rPr b="1" lang="en-US">
                <a:solidFill>
                  <a:schemeClr val="dk1"/>
                </a:solidFill>
                <a:latin typeface="Calibri"/>
                <a:ea typeface="Calibri"/>
                <a:cs typeface="Calibri"/>
                <a:sym typeface="Calibri"/>
              </a:rPr>
              <a:t>Epistemic and Aleatoric Uncertainty:</a:t>
            </a:r>
            <a:r>
              <a:rPr lang="en-US">
                <a:solidFill>
                  <a:schemeClr val="dk1"/>
                </a:solidFill>
                <a:latin typeface="Calibri"/>
                <a:ea typeface="Calibri"/>
                <a:cs typeface="Calibri"/>
                <a:sym typeface="Calibri"/>
              </a:rPr>
              <a:t> Explanation of how PostNet distinguishes between these types of uncertainties to provide robust predictions.</a:t>
            </a:r>
            <a:endParaRPr>
              <a:solidFill>
                <a:schemeClr val="dk1"/>
              </a:solidFill>
              <a:latin typeface="Calibri"/>
              <a:ea typeface="Calibri"/>
              <a:cs typeface="Calibri"/>
              <a:sym typeface="Calibri"/>
            </a:endParaRPr>
          </a:p>
          <a:p>
            <a:pPr indent="0" lvl="0" marL="0" rtl="0" algn="l">
              <a:lnSpc>
                <a:spcPct val="115000"/>
              </a:lnSpc>
              <a:spcBef>
                <a:spcPts val="0"/>
              </a:spcBef>
              <a:spcAft>
                <a:spcPts val="0"/>
              </a:spcAft>
              <a:buSzPts val="2400"/>
              <a:buNone/>
            </a:pPr>
            <a:r>
              <a:t/>
            </a:r>
            <a:endParaRPr>
              <a:solidFill>
                <a:schemeClr val="dk1"/>
              </a:solidFill>
              <a:latin typeface="Calibri"/>
              <a:ea typeface="Calibri"/>
              <a:cs typeface="Calibri"/>
              <a:sym typeface="Calibri"/>
            </a:endParaRPr>
          </a:p>
          <a:p>
            <a:pPr indent="-381000" lvl="0" marL="457200" rtl="0" algn="l">
              <a:lnSpc>
                <a:spcPct val="115000"/>
              </a:lnSpc>
              <a:spcBef>
                <a:spcPts val="0"/>
              </a:spcBef>
              <a:spcAft>
                <a:spcPts val="0"/>
              </a:spcAft>
              <a:buClr>
                <a:schemeClr val="dk1"/>
              </a:buClr>
              <a:buSzPts val="2400"/>
              <a:buFont typeface="Calibri"/>
              <a:buChar char="●"/>
            </a:pPr>
            <a:r>
              <a:rPr b="1" lang="en-US">
                <a:solidFill>
                  <a:schemeClr val="dk1"/>
                </a:solidFill>
                <a:latin typeface="Calibri"/>
                <a:ea typeface="Calibri"/>
                <a:cs typeface="Calibri"/>
                <a:sym typeface="Calibri"/>
              </a:rPr>
              <a:t>Dirichlet Distribution:</a:t>
            </a:r>
            <a:r>
              <a:rPr lang="en-US">
                <a:solidFill>
                  <a:schemeClr val="dk1"/>
                </a:solidFill>
                <a:latin typeface="Calibri"/>
                <a:ea typeface="Calibri"/>
                <a:cs typeface="Calibri"/>
                <a:sym typeface="Calibri"/>
              </a:rPr>
              <a:t> Discuss how PostNet uses the Dirichlet distribution to parametrize the uncertainty in predictions, detailing the model's ability to provide a closed-form solution for both epistemic and aleatoric uncertainties.</a:t>
            </a:r>
            <a:endParaRPr>
              <a:solidFill>
                <a:schemeClr val="dk1"/>
              </a:solidFill>
              <a:latin typeface="Calibri"/>
              <a:ea typeface="Calibri"/>
              <a:cs typeface="Calibri"/>
              <a:sym typeface="Calibri"/>
            </a:endParaRPr>
          </a:p>
          <a:p>
            <a:pPr indent="0" lvl="0" marL="0" rtl="0" algn="l">
              <a:lnSpc>
                <a:spcPct val="115000"/>
              </a:lnSpc>
              <a:spcBef>
                <a:spcPts val="0"/>
              </a:spcBef>
              <a:spcAft>
                <a:spcPts val="1600"/>
              </a:spcAft>
              <a:buSzPts val="2400"/>
              <a:buNone/>
            </a:pPr>
            <a:r>
              <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g270db738eac_20_24"/>
          <p:cNvSpPr txBox="1"/>
          <p:nvPr>
            <p:ph type="title"/>
          </p:nvPr>
        </p:nvSpPr>
        <p:spPr>
          <a:xfrm>
            <a:off x="415650" y="250553"/>
            <a:ext cx="11360700" cy="10830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2.2 Posterior Network</a:t>
            </a:r>
            <a:endParaRPr b="1">
              <a:latin typeface="Calibri"/>
              <a:ea typeface="Calibri"/>
              <a:cs typeface="Calibri"/>
              <a:sym typeface="Calibri"/>
            </a:endParaRPr>
          </a:p>
          <a:p>
            <a:pPr indent="0" lvl="0" marL="0" rtl="0" algn="l">
              <a:lnSpc>
                <a:spcPct val="160000"/>
              </a:lnSpc>
              <a:spcBef>
                <a:spcPts val="1400"/>
              </a:spcBef>
              <a:spcAft>
                <a:spcPts val="400"/>
              </a:spcAft>
              <a:buSzPct val="167714"/>
              <a:buNone/>
            </a:pPr>
            <a:r>
              <a:rPr i="1" lang="en-US" sz="2650">
                <a:latin typeface="Calibri"/>
                <a:ea typeface="Calibri"/>
                <a:cs typeface="Calibri"/>
                <a:sym typeface="Calibri"/>
              </a:rPr>
              <a:t>Components &amp; Working</a:t>
            </a:r>
            <a:endParaRPr/>
          </a:p>
        </p:txBody>
      </p:sp>
      <p:graphicFrame>
        <p:nvGraphicFramePr>
          <p:cNvPr id="160" name="Google Shape;160;g270db738eac_20_24"/>
          <p:cNvGraphicFramePr/>
          <p:nvPr/>
        </p:nvGraphicFramePr>
        <p:xfrm>
          <a:off x="952500" y="1504963"/>
          <a:ext cx="3000000" cy="3000000"/>
        </p:xfrm>
        <a:graphic>
          <a:graphicData uri="http://schemas.openxmlformats.org/drawingml/2006/table">
            <a:tbl>
              <a:tblPr>
                <a:noFill/>
                <a:tableStyleId>{1D498BDD-A381-45A0-B073-4B34A80BB521}</a:tableStyleId>
              </a:tblPr>
              <a:tblGrid>
                <a:gridCol w="5143500"/>
                <a:gridCol w="5143500"/>
              </a:tblGrid>
              <a:tr h="2066950">
                <a:tc>
                  <a:txBody>
                    <a:bodyPr/>
                    <a:lstStyle/>
                    <a:p>
                      <a:pPr indent="0" lvl="0" marL="0" marR="0" rtl="0" algn="l">
                        <a:lnSpc>
                          <a:spcPct val="115000"/>
                        </a:lnSpc>
                        <a:spcBef>
                          <a:spcPts val="0"/>
                        </a:spcBef>
                        <a:spcAft>
                          <a:spcPts val="0"/>
                        </a:spcAft>
                        <a:buClr>
                          <a:srgbClr val="000000"/>
                        </a:buClr>
                        <a:buSzPts val="2400"/>
                        <a:buFont typeface="Arial"/>
                        <a:buNone/>
                      </a:pPr>
                      <a:r>
                        <a:rPr b="1" lang="en-US" sz="2400" u="none" cap="none" strike="noStrike">
                          <a:solidFill>
                            <a:schemeClr val="dk1"/>
                          </a:solidFill>
                          <a:latin typeface="Calibri"/>
                          <a:ea typeface="Calibri"/>
                          <a:cs typeface="Calibri"/>
                          <a:sym typeface="Calibri"/>
                        </a:rPr>
                        <a:t>Encoder:</a:t>
                      </a:r>
                      <a:r>
                        <a:rPr lang="en-US" sz="2400" u="none" cap="none" strike="noStrike">
                          <a:solidFill>
                            <a:schemeClr val="dk1"/>
                          </a:solidFill>
                          <a:latin typeface="Calibri"/>
                          <a:ea typeface="Calibri"/>
                          <a:cs typeface="Calibri"/>
                          <a:sym typeface="Calibri"/>
                        </a:rPr>
                        <a:t> </a:t>
                      </a:r>
                      <a:endParaRPr sz="2400" u="none" cap="none" strike="noStrike">
                        <a:solidFill>
                          <a:schemeClr val="dk1"/>
                        </a:solidFill>
                        <a:latin typeface="Calibri"/>
                        <a:ea typeface="Calibri"/>
                        <a:cs typeface="Calibri"/>
                        <a:sym typeface="Calibri"/>
                      </a:endParaRPr>
                    </a:p>
                    <a:p>
                      <a:pPr indent="-368300" lvl="0" marL="457200" marR="0" rtl="0" algn="l">
                        <a:lnSpc>
                          <a:spcPct val="115000"/>
                        </a:lnSpc>
                        <a:spcBef>
                          <a:spcPts val="0"/>
                        </a:spcBef>
                        <a:spcAft>
                          <a:spcPts val="0"/>
                        </a:spcAft>
                        <a:buClr>
                          <a:schemeClr val="dk1"/>
                        </a:buClr>
                        <a:buSzPts val="2200"/>
                        <a:buFont typeface="Calibri"/>
                        <a:buChar char="-"/>
                      </a:pPr>
                      <a:r>
                        <a:rPr lang="en-US" sz="2200" u="none" cap="none" strike="noStrike">
                          <a:solidFill>
                            <a:schemeClr val="dk1"/>
                          </a:solidFill>
                          <a:latin typeface="Calibri"/>
                          <a:ea typeface="Calibri"/>
                          <a:cs typeface="Calibri"/>
                          <a:sym typeface="Calibri"/>
                        </a:rPr>
                        <a:t>Maps input data into a latent space, capturing the essential features relevant to uncertainty estimation.</a:t>
                      </a:r>
                      <a:endParaRPr sz="1200" u="none" cap="none" strike="noStrike"/>
                    </a:p>
                  </a:txBody>
                  <a:tcPr marT="91425" marB="91425" marR="91425" marL="91425">
                    <a:lnL cap="flat" cmpd="sng" w="76200">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400"/>
                        <a:buFont typeface="Arial"/>
                        <a:buNone/>
                      </a:pPr>
                      <a:r>
                        <a:rPr b="1" lang="en-US" sz="2400" u="none" cap="none" strike="noStrike">
                          <a:solidFill>
                            <a:schemeClr val="dk1"/>
                          </a:solidFill>
                          <a:latin typeface="Calibri"/>
                          <a:ea typeface="Calibri"/>
                          <a:cs typeface="Calibri"/>
                          <a:sym typeface="Calibri"/>
                        </a:rPr>
                        <a:t>Normalizing Flow:</a:t>
                      </a:r>
                      <a:r>
                        <a:rPr lang="en-US" sz="2400" u="none" cap="none" strike="noStrike">
                          <a:solidFill>
                            <a:schemeClr val="dk1"/>
                          </a:solidFill>
                          <a:latin typeface="Calibri"/>
                          <a:ea typeface="Calibri"/>
                          <a:cs typeface="Calibri"/>
                          <a:sym typeface="Calibri"/>
                        </a:rPr>
                        <a:t> </a:t>
                      </a:r>
                      <a:endParaRPr sz="2400" u="none" cap="none" strike="noStrike">
                        <a:solidFill>
                          <a:schemeClr val="dk1"/>
                        </a:solidFill>
                        <a:latin typeface="Calibri"/>
                        <a:ea typeface="Calibri"/>
                        <a:cs typeface="Calibri"/>
                        <a:sym typeface="Calibri"/>
                      </a:endParaRPr>
                    </a:p>
                    <a:p>
                      <a:pPr indent="-368300" lvl="0" marL="457200" marR="0" rtl="0" algn="l">
                        <a:lnSpc>
                          <a:spcPct val="115000"/>
                        </a:lnSpc>
                        <a:spcBef>
                          <a:spcPts val="0"/>
                        </a:spcBef>
                        <a:spcAft>
                          <a:spcPts val="0"/>
                        </a:spcAft>
                        <a:buClr>
                          <a:schemeClr val="dk1"/>
                        </a:buClr>
                        <a:buSzPts val="2200"/>
                        <a:buFont typeface="Calibri"/>
                        <a:buChar char="-"/>
                      </a:pPr>
                      <a:r>
                        <a:rPr lang="en-US" sz="2200" u="none" cap="none" strike="noStrike">
                          <a:solidFill>
                            <a:schemeClr val="dk1"/>
                          </a:solidFill>
                          <a:latin typeface="Calibri"/>
                          <a:ea typeface="Calibri"/>
                          <a:cs typeface="Calibri"/>
                          <a:sym typeface="Calibri"/>
                        </a:rPr>
                        <a:t>A sequence of invertible transformations that learns a complex distribution over the latent space, crucial for accurate density estimation.</a:t>
                      </a:r>
                      <a:endParaRPr sz="1200" u="none" cap="none" strike="noStrike"/>
                    </a:p>
                  </a:txBody>
                  <a:tcPr marT="91425" marB="91425" marR="91425" marL="91425">
                    <a:lnL cap="flat" cmpd="sng" w="76200">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r>
              <a:tr h="2066950">
                <a:tc>
                  <a:txBody>
                    <a:bodyPr/>
                    <a:lstStyle/>
                    <a:p>
                      <a:pPr indent="0" lvl="0" marL="0" marR="0" rtl="0" algn="l">
                        <a:lnSpc>
                          <a:spcPct val="115000"/>
                        </a:lnSpc>
                        <a:spcBef>
                          <a:spcPts val="0"/>
                        </a:spcBef>
                        <a:spcAft>
                          <a:spcPts val="0"/>
                        </a:spcAft>
                        <a:buClr>
                          <a:srgbClr val="000000"/>
                        </a:buClr>
                        <a:buSzPts val="2400"/>
                        <a:buFont typeface="Arial"/>
                        <a:buNone/>
                      </a:pPr>
                      <a:r>
                        <a:rPr b="1" lang="en-US" sz="2400" u="none" cap="none" strike="noStrike">
                          <a:solidFill>
                            <a:schemeClr val="dk1"/>
                          </a:solidFill>
                          <a:latin typeface="Calibri"/>
                          <a:ea typeface="Calibri"/>
                          <a:cs typeface="Calibri"/>
                          <a:sym typeface="Calibri"/>
                        </a:rPr>
                        <a:t>Bayesian Loss:</a:t>
                      </a:r>
                      <a:r>
                        <a:rPr lang="en-US" sz="2400" u="none" cap="none" strike="noStrike">
                          <a:solidFill>
                            <a:schemeClr val="dk1"/>
                          </a:solidFill>
                          <a:latin typeface="Calibri"/>
                          <a:ea typeface="Calibri"/>
                          <a:cs typeface="Calibri"/>
                          <a:sym typeface="Calibri"/>
                        </a:rPr>
                        <a:t> </a:t>
                      </a:r>
                      <a:endParaRPr sz="2400" u="none" cap="none" strike="noStrike">
                        <a:solidFill>
                          <a:schemeClr val="dk1"/>
                        </a:solidFill>
                        <a:latin typeface="Calibri"/>
                        <a:ea typeface="Calibri"/>
                        <a:cs typeface="Calibri"/>
                        <a:sym typeface="Calibri"/>
                      </a:endParaRPr>
                    </a:p>
                    <a:p>
                      <a:pPr indent="-368300" lvl="0" marL="457200" marR="0" rtl="0" algn="l">
                        <a:lnSpc>
                          <a:spcPct val="115000"/>
                        </a:lnSpc>
                        <a:spcBef>
                          <a:spcPts val="0"/>
                        </a:spcBef>
                        <a:spcAft>
                          <a:spcPts val="0"/>
                        </a:spcAft>
                        <a:buClr>
                          <a:schemeClr val="dk1"/>
                        </a:buClr>
                        <a:buSzPts val="2200"/>
                        <a:buFont typeface="Calibri"/>
                        <a:buChar char="-"/>
                      </a:pPr>
                      <a:r>
                        <a:rPr lang="en-US" sz="2200" u="none" cap="none" strike="noStrike">
                          <a:solidFill>
                            <a:schemeClr val="dk1"/>
                          </a:solidFill>
                          <a:latin typeface="Calibri"/>
                          <a:ea typeface="Calibri"/>
                          <a:cs typeface="Calibri"/>
                          <a:sym typeface="Calibri"/>
                        </a:rPr>
                        <a:t>Optimizes the parameters of PostNet by aligning the predicted distributions with the true data distributions using a Bayesian updating framework.</a:t>
                      </a:r>
                      <a:endParaRPr sz="1200" u="none" cap="none" strike="noStrike"/>
                    </a:p>
                  </a:txBody>
                  <a:tcPr marT="91425" marB="91425" marR="91425" marL="91425">
                    <a:lnL cap="flat" cmpd="sng" w="76200">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c>
                  <a:txBody>
                    <a:bodyPr/>
                    <a:lstStyle/>
                    <a:p>
                      <a:pPr indent="0" lvl="0" marL="0" marR="0" rtl="0" algn="l">
                        <a:lnSpc>
                          <a:spcPct val="115000"/>
                        </a:lnSpc>
                        <a:spcBef>
                          <a:spcPts val="0"/>
                        </a:spcBef>
                        <a:spcAft>
                          <a:spcPts val="0"/>
                        </a:spcAft>
                        <a:buClr>
                          <a:srgbClr val="000000"/>
                        </a:buClr>
                        <a:buSzPts val="2400"/>
                        <a:buFont typeface="Arial"/>
                        <a:buNone/>
                      </a:pPr>
                      <a:r>
                        <a:rPr b="1" lang="en-US" sz="2400" u="none" cap="none" strike="noStrike">
                          <a:solidFill>
                            <a:schemeClr val="dk1"/>
                          </a:solidFill>
                          <a:latin typeface="Calibri"/>
                          <a:ea typeface="Calibri"/>
                          <a:cs typeface="Calibri"/>
                          <a:sym typeface="Calibri"/>
                        </a:rPr>
                        <a:t>Operational Flow:</a:t>
                      </a:r>
                      <a:r>
                        <a:rPr lang="en-US" sz="2400" u="none" cap="none" strike="noStrike">
                          <a:solidFill>
                            <a:schemeClr val="dk1"/>
                          </a:solidFill>
                          <a:latin typeface="Calibri"/>
                          <a:ea typeface="Calibri"/>
                          <a:cs typeface="Calibri"/>
                          <a:sym typeface="Calibri"/>
                        </a:rPr>
                        <a:t> </a:t>
                      </a:r>
                      <a:endParaRPr sz="2400" u="none" cap="none" strike="noStrike">
                        <a:solidFill>
                          <a:schemeClr val="dk1"/>
                        </a:solidFill>
                        <a:latin typeface="Calibri"/>
                        <a:ea typeface="Calibri"/>
                        <a:cs typeface="Calibri"/>
                        <a:sym typeface="Calibri"/>
                      </a:endParaRPr>
                    </a:p>
                    <a:p>
                      <a:pPr indent="-368300" lvl="0" marL="457200" marR="0" rtl="0" algn="l">
                        <a:lnSpc>
                          <a:spcPct val="115000"/>
                        </a:lnSpc>
                        <a:spcBef>
                          <a:spcPts val="0"/>
                        </a:spcBef>
                        <a:spcAft>
                          <a:spcPts val="0"/>
                        </a:spcAft>
                        <a:buClr>
                          <a:schemeClr val="dk1"/>
                        </a:buClr>
                        <a:buSzPts val="2200"/>
                        <a:buFont typeface="Calibri"/>
                        <a:buChar char="-"/>
                      </a:pPr>
                      <a:r>
                        <a:rPr lang="en-US" sz="2200" u="none" cap="none" strike="noStrike">
                          <a:solidFill>
                            <a:schemeClr val="dk1"/>
                          </a:solidFill>
                          <a:latin typeface="Calibri"/>
                          <a:ea typeface="Calibri"/>
                          <a:cs typeface="Calibri"/>
                          <a:sym typeface="Calibri"/>
                        </a:rPr>
                        <a:t>Visual diagram or flowchart showing how data flows through these components during training and inference to estimate uncertainty.</a:t>
                      </a:r>
                      <a:endParaRPr sz="1200" u="none" cap="none" strike="noStrike"/>
                    </a:p>
                  </a:txBody>
                  <a:tcPr marT="91425" marB="91425" marR="91425" marL="91425">
                    <a:lnL cap="flat" cmpd="sng" w="76200">
                      <a:solidFill>
                        <a:schemeClr val="dk1"/>
                      </a:solidFill>
                      <a:prstDash val="solid"/>
                      <a:round/>
                      <a:headEnd len="sm" w="sm" type="none"/>
                      <a:tailEnd len="sm" w="sm" type="none"/>
                    </a:lnL>
                    <a:lnR cap="flat" cmpd="sng" w="76200">
                      <a:solidFill>
                        <a:schemeClr val="dk1"/>
                      </a:solidFill>
                      <a:prstDash val="solid"/>
                      <a:round/>
                      <a:headEnd len="sm" w="sm" type="none"/>
                      <a:tailEnd len="sm" w="sm" type="none"/>
                    </a:lnR>
                    <a:lnT cap="flat" cmpd="sng" w="76200">
                      <a:solidFill>
                        <a:schemeClr val="dk1"/>
                      </a:solidFill>
                      <a:prstDash val="solid"/>
                      <a:round/>
                      <a:headEnd len="sm" w="sm" type="none"/>
                      <a:tailEnd len="sm" w="sm" type="none"/>
                    </a:lnT>
                    <a:lnB cap="flat" cmpd="sng" w="76200">
                      <a:solidFill>
                        <a:schemeClr val="dk1"/>
                      </a:solidFill>
                      <a:prstDash val="solid"/>
                      <a:round/>
                      <a:headEnd len="sm" w="sm" type="none"/>
                      <a:tailEnd len="sm" w="sm" type="none"/>
                    </a:lnB>
                  </a:tcPr>
                </a:tc>
              </a:tr>
            </a:tbl>
          </a:graphicData>
        </a:graphic>
      </p:graphicFrame>
      <p:sp>
        <p:nvSpPr>
          <p:cNvPr id="161" name="Google Shape;161;g270db738eac_20_24"/>
          <p:cNvSpPr txBox="1"/>
          <p:nvPr/>
        </p:nvSpPr>
        <p:spPr>
          <a:xfrm>
            <a:off x="328200" y="5956575"/>
            <a:ext cx="11535600" cy="1226700"/>
          </a:xfrm>
          <a:prstGeom prst="rect">
            <a:avLst/>
          </a:prstGeom>
          <a:noFill/>
          <a:ln>
            <a:noFill/>
          </a:ln>
        </p:spPr>
        <p:txBody>
          <a:bodyPr anchorCtr="0" anchor="t" bIns="91425" lIns="91425" spcFirstLastPara="1" rIns="91425" wrap="square" tIns="91425">
            <a:spAutoFit/>
          </a:bodyPr>
          <a:lstStyle/>
          <a:p>
            <a:pPr indent="0" lvl="0" marL="0" marR="0" rtl="0" algn="l">
              <a:lnSpc>
                <a:spcPct val="115000"/>
              </a:lnSpc>
              <a:spcBef>
                <a:spcPts val="0"/>
              </a:spcBef>
              <a:spcAft>
                <a:spcPts val="0"/>
              </a:spcAft>
              <a:buClr>
                <a:srgbClr val="000000"/>
              </a:buClr>
              <a:buSzPts val="1900"/>
              <a:buFont typeface="Arial"/>
              <a:buNone/>
            </a:pPr>
            <a:r>
              <a:rPr b="1" i="0" lang="en-US" sz="1900" u="sng" cap="none" strike="noStrike">
                <a:solidFill>
                  <a:schemeClr val="dk1"/>
                </a:solidFill>
                <a:latin typeface="Calibri"/>
                <a:ea typeface="Calibri"/>
                <a:cs typeface="Calibri"/>
                <a:sym typeface="Calibri"/>
              </a:rPr>
              <a:t>How it works</a:t>
            </a:r>
            <a:r>
              <a:rPr b="1" i="0" lang="en-US" sz="1900" u="none" cap="none" strike="noStrike">
                <a:solidFill>
                  <a:schemeClr val="dk1"/>
                </a:solidFill>
                <a:latin typeface="Calibri"/>
                <a:ea typeface="Calibri"/>
                <a:cs typeface="Calibri"/>
                <a:sym typeface="Calibri"/>
              </a:rPr>
              <a:t>?</a:t>
            </a:r>
            <a:r>
              <a:rPr b="0" i="0" lang="en-US" sz="1900" u="none" cap="none" strike="noStrike">
                <a:solidFill>
                  <a:schemeClr val="dk1"/>
                </a:solidFill>
                <a:latin typeface="Calibri"/>
                <a:ea typeface="Calibri"/>
                <a:cs typeface="Calibri"/>
                <a:sym typeface="Calibri"/>
              </a:rPr>
              <a:t> Maps inputs into latent space, estimates density via normalizing flows, and uses density estimations to parameterize a Dirichlet distribution for uncertainty quantification.</a:t>
            </a:r>
            <a:endParaRPr b="0" i="0" sz="19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g270db738eac_20_50"/>
          <p:cNvSpPr txBox="1"/>
          <p:nvPr>
            <p:ph type="title"/>
          </p:nvPr>
        </p:nvSpPr>
        <p:spPr>
          <a:xfrm>
            <a:off x="3311200" y="307625"/>
            <a:ext cx="5756700" cy="763500"/>
          </a:xfrm>
          <a:prstGeom prst="rect">
            <a:avLst/>
          </a:prstGeom>
          <a:noFill/>
          <a:ln>
            <a:noFill/>
          </a:ln>
        </p:spPr>
        <p:txBody>
          <a:bodyPr anchorCtr="0" anchor="t" bIns="121900" lIns="121900" spcFirstLastPara="1" rIns="121900" wrap="square" tIns="121900">
            <a:noAutofit/>
          </a:bodyPr>
          <a:lstStyle/>
          <a:p>
            <a:pPr indent="0" lvl="0" marL="0" rtl="0" algn="l">
              <a:lnSpc>
                <a:spcPct val="100000"/>
              </a:lnSpc>
              <a:spcBef>
                <a:spcPts val="0"/>
              </a:spcBef>
              <a:spcAft>
                <a:spcPts val="0"/>
              </a:spcAft>
              <a:buSzPts val="990"/>
              <a:buNone/>
            </a:pPr>
            <a:r>
              <a:rPr lang="en-US" sz="3400">
                <a:latin typeface="Calibri"/>
                <a:ea typeface="Calibri"/>
                <a:cs typeface="Calibri"/>
                <a:sym typeface="Calibri"/>
              </a:rPr>
              <a:t>Overview of Posterior Network</a:t>
            </a:r>
            <a:endParaRPr sz="3400">
              <a:latin typeface="Calibri"/>
              <a:ea typeface="Calibri"/>
              <a:cs typeface="Calibri"/>
              <a:sym typeface="Calibri"/>
            </a:endParaRPr>
          </a:p>
        </p:txBody>
      </p:sp>
      <p:pic>
        <p:nvPicPr>
          <p:cNvPr id="167" name="Google Shape;167;g270db738eac_20_50"/>
          <p:cNvPicPr preferRelativeResize="0"/>
          <p:nvPr/>
        </p:nvPicPr>
        <p:blipFill rotWithShape="1">
          <a:blip r:embed="rId3">
            <a:alphaModFix/>
          </a:blip>
          <a:srcRect b="0" l="0" r="0" t="0"/>
          <a:stretch/>
        </p:blipFill>
        <p:spPr>
          <a:xfrm>
            <a:off x="2624113" y="1356875"/>
            <a:ext cx="6943676" cy="5114075"/>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1" name="Shape 171"/>
        <p:cNvGrpSpPr/>
        <p:nvPr/>
      </p:nvGrpSpPr>
      <p:grpSpPr>
        <a:xfrm>
          <a:off x="0" y="0"/>
          <a:ext cx="0" cy="0"/>
          <a:chOff x="0" y="0"/>
          <a:chExt cx="0" cy="0"/>
        </a:xfrm>
      </p:grpSpPr>
      <p:sp>
        <p:nvSpPr>
          <p:cNvPr id="172" name="Google Shape;172;g270db738eac_20_34"/>
          <p:cNvSpPr txBox="1"/>
          <p:nvPr>
            <p:ph type="title"/>
          </p:nvPr>
        </p:nvSpPr>
        <p:spPr>
          <a:xfrm>
            <a:off x="415600" y="593375"/>
            <a:ext cx="11360700" cy="11973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2.2 Posterior Network</a:t>
            </a:r>
            <a:endParaRPr b="1">
              <a:latin typeface="Calibri"/>
              <a:ea typeface="Calibri"/>
              <a:cs typeface="Calibri"/>
              <a:sym typeface="Calibri"/>
            </a:endParaRPr>
          </a:p>
          <a:p>
            <a:pPr indent="0" lvl="0" marL="0" rtl="0" algn="l">
              <a:lnSpc>
                <a:spcPct val="160000"/>
              </a:lnSpc>
              <a:spcBef>
                <a:spcPts val="1400"/>
              </a:spcBef>
              <a:spcAft>
                <a:spcPts val="400"/>
              </a:spcAft>
              <a:buSzPct val="167714"/>
              <a:buNone/>
            </a:pPr>
            <a:r>
              <a:rPr i="1" lang="en-US" sz="2650">
                <a:latin typeface="Calibri"/>
                <a:ea typeface="Calibri"/>
                <a:cs typeface="Calibri"/>
                <a:sym typeface="Calibri"/>
              </a:rPr>
              <a:t>Hyperparameters</a:t>
            </a:r>
            <a:endParaRPr/>
          </a:p>
        </p:txBody>
      </p:sp>
      <p:sp>
        <p:nvSpPr>
          <p:cNvPr id="173" name="Google Shape;173;g270db738eac_20_34"/>
          <p:cNvSpPr txBox="1"/>
          <p:nvPr>
            <p:ph idx="1" type="body"/>
          </p:nvPr>
        </p:nvSpPr>
        <p:spPr>
          <a:xfrm>
            <a:off x="415600" y="1924051"/>
            <a:ext cx="11360700" cy="4167900"/>
          </a:xfrm>
          <a:prstGeom prst="rect">
            <a:avLst/>
          </a:prstGeom>
          <a:noFill/>
          <a:ln>
            <a:noFill/>
          </a:ln>
        </p:spPr>
        <p:txBody>
          <a:bodyPr anchorCtr="0" anchor="t" bIns="121900" lIns="121900" spcFirstLastPara="1" rIns="121900" wrap="square" tIns="121900">
            <a:normAutofit/>
          </a:bodyPr>
          <a:lstStyle/>
          <a:p>
            <a:pPr indent="-387350" lvl="0" marL="457200" rtl="0" algn="l">
              <a:lnSpc>
                <a:spcPct val="115000"/>
              </a:lnSpc>
              <a:spcBef>
                <a:spcPts val="0"/>
              </a:spcBef>
              <a:spcAft>
                <a:spcPts val="0"/>
              </a:spcAft>
              <a:buClr>
                <a:schemeClr val="dk1"/>
              </a:buClr>
              <a:buSzPts val="2500"/>
              <a:buFont typeface="Calibri"/>
              <a:buChar char="●"/>
            </a:pPr>
            <a:r>
              <a:rPr b="1" lang="en-US" sz="2500">
                <a:solidFill>
                  <a:schemeClr val="dk1"/>
                </a:solidFill>
                <a:latin typeface="Calibri"/>
                <a:ea typeface="Calibri"/>
                <a:cs typeface="Calibri"/>
                <a:sym typeface="Calibri"/>
              </a:rPr>
              <a:t>Learning Rates:</a:t>
            </a:r>
            <a:r>
              <a:rPr lang="en-US" sz="2500">
                <a:solidFill>
                  <a:schemeClr val="dk1"/>
                </a:solidFill>
                <a:latin typeface="Calibri"/>
                <a:ea typeface="Calibri"/>
                <a:cs typeface="Calibri"/>
                <a:sym typeface="Calibri"/>
              </a:rPr>
              <a:t> Importance of choosing the right learning rate for stability and convergence.</a:t>
            </a:r>
            <a:endParaRPr sz="2500">
              <a:solidFill>
                <a:schemeClr val="dk1"/>
              </a:solidFill>
              <a:latin typeface="Calibri"/>
              <a:ea typeface="Calibri"/>
              <a:cs typeface="Calibri"/>
              <a:sym typeface="Calibri"/>
            </a:endParaRPr>
          </a:p>
          <a:p>
            <a:pPr indent="0" lvl="0" marL="457200" rtl="0" algn="l">
              <a:lnSpc>
                <a:spcPct val="115000"/>
              </a:lnSpc>
              <a:spcBef>
                <a:spcPts val="0"/>
              </a:spcBef>
              <a:spcAft>
                <a:spcPts val="0"/>
              </a:spcAft>
              <a:buSzPts val="2400"/>
              <a:buNone/>
            </a:pPr>
            <a:r>
              <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b="1" lang="en-US" sz="2500">
                <a:solidFill>
                  <a:schemeClr val="dk1"/>
                </a:solidFill>
                <a:latin typeface="Calibri"/>
                <a:ea typeface="Calibri"/>
                <a:cs typeface="Calibri"/>
                <a:sym typeface="Calibri"/>
              </a:rPr>
              <a:t>Normalizing Flow Parameters:</a:t>
            </a:r>
            <a:r>
              <a:rPr lang="en-US" sz="2500">
                <a:solidFill>
                  <a:schemeClr val="dk1"/>
                </a:solidFill>
                <a:latin typeface="Calibri"/>
                <a:ea typeface="Calibri"/>
                <a:cs typeface="Calibri"/>
                <a:sym typeface="Calibri"/>
              </a:rPr>
              <a:t> Discussion on the choice of the type of flow (e.g., radial flow or IAF) and their impact on model performance.</a:t>
            </a:r>
            <a:endParaRPr sz="2500">
              <a:solidFill>
                <a:schemeClr val="dk1"/>
              </a:solidFill>
              <a:latin typeface="Calibri"/>
              <a:ea typeface="Calibri"/>
              <a:cs typeface="Calibri"/>
              <a:sym typeface="Calibri"/>
            </a:endParaRPr>
          </a:p>
          <a:p>
            <a:pPr indent="0" lvl="0" marL="457200" rtl="0" algn="l">
              <a:lnSpc>
                <a:spcPct val="115000"/>
              </a:lnSpc>
              <a:spcBef>
                <a:spcPts val="0"/>
              </a:spcBef>
              <a:spcAft>
                <a:spcPts val="0"/>
              </a:spcAft>
              <a:buSzPts val="2400"/>
              <a:buNone/>
            </a:pPr>
            <a:r>
              <a:t/>
            </a:r>
            <a:endParaRPr sz="2500">
              <a:solidFill>
                <a:schemeClr val="dk1"/>
              </a:solidFill>
              <a:latin typeface="Calibri"/>
              <a:ea typeface="Calibri"/>
              <a:cs typeface="Calibri"/>
              <a:sym typeface="Calibri"/>
            </a:endParaRPr>
          </a:p>
          <a:p>
            <a:pPr indent="-387350" lvl="0" marL="457200" rtl="0" algn="l">
              <a:lnSpc>
                <a:spcPct val="115000"/>
              </a:lnSpc>
              <a:spcBef>
                <a:spcPts val="0"/>
              </a:spcBef>
              <a:spcAft>
                <a:spcPts val="0"/>
              </a:spcAft>
              <a:buClr>
                <a:schemeClr val="dk1"/>
              </a:buClr>
              <a:buSzPts val="2500"/>
              <a:buFont typeface="Calibri"/>
              <a:buChar char="●"/>
            </a:pPr>
            <a:r>
              <a:rPr b="1" lang="en-US" sz="2500">
                <a:solidFill>
                  <a:schemeClr val="dk1"/>
                </a:solidFill>
                <a:latin typeface="Calibri"/>
                <a:ea typeface="Calibri"/>
                <a:cs typeface="Calibri"/>
                <a:sym typeface="Calibri"/>
              </a:rPr>
              <a:t>Regularization Techniques:</a:t>
            </a:r>
            <a:r>
              <a:rPr lang="en-US" sz="2500">
                <a:solidFill>
                  <a:schemeClr val="dk1"/>
                </a:solidFill>
                <a:latin typeface="Calibri"/>
                <a:ea typeface="Calibri"/>
                <a:cs typeface="Calibri"/>
                <a:sym typeface="Calibri"/>
              </a:rPr>
              <a:t> How various regularization techniques are applied to prevent overfitting and ensure generalizability.</a:t>
            </a:r>
            <a:endParaRPr sz="2500">
              <a:solidFill>
                <a:schemeClr val="dk1"/>
              </a:solidFill>
              <a:latin typeface="Calibri"/>
              <a:ea typeface="Calibri"/>
              <a:cs typeface="Calibri"/>
              <a:sym typeface="Calibri"/>
            </a:endParaRPr>
          </a:p>
          <a:p>
            <a:pPr indent="0" lvl="0" marL="0" rtl="0" algn="l">
              <a:lnSpc>
                <a:spcPct val="115000"/>
              </a:lnSpc>
              <a:spcBef>
                <a:spcPts val="0"/>
              </a:spcBef>
              <a:spcAft>
                <a:spcPts val="1600"/>
              </a:spcAft>
              <a:buSzPts val="2400"/>
              <a:buNone/>
            </a:pPr>
            <a:r>
              <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7" name="Shape 177"/>
        <p:cNvGrpSpPr/>
        <p:nvPr/>
      </p:nvGrpSpPr>
      <p:grpSpPr>
        <a:xfrm>
          <a:off x="0" y="0"/>
          <a:ext cx="0" cy="0"/>
          <a:chOff x="0" y="0"/>
          <a:chExt cx="0" cy="0"/>
        </a:xfrm>
      </p:grpSpPr>
      <p:sp>
        <p:nvSpPr>
          <p:cNvPr id="178" name="Google Shape;178;g270db738eac_20_40"/>
          <p:cNvSpPr txBox="1"/>
          <p:nvPr>
            <p:ph type="title"/>
          </p:nvPr>
        </p:nvSpPr>
        <p:spPr>
          <a:xfrm>
            <a:off x="415600" y="593379"/>
            <a:ext cx="11360700" cy="11403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2.2 Posterior Network</a:t>
            </a:r>
            <a:endParaRPr b="1">
              <a:latin typeface="Calibri"/>
              <a:ea typeface="Calibri"/>
              <a:cs typeface="Calibri"/>
              <a:sym typeface="Calibri"/>
            </a:endParaRPr>
          </a:p>
          <a:p>
            <a:pPr indent="0" lvl="0" marL="0" rtl="0" algn="l">
              <a:lnSpc>
                <a:spcPct val="160000"/>
              </a:lnSpc>
              <a:spcBef>
                <a:spcPts val="1400"/>
              </a:spcBef>
              <a:spcAft>
                <a:spcPts val="400"/>
              </a:spcAft>
              <a:buSzPct val="167714"/>
              <a:buNone/>
            </a:pPr>
            <a:r>
              <a:rPr i="1" lang="en-US" sz="2650">
                <a:latin typeface="Calibri"/>
                <a:ea typeface="Calibri"/>
                <a:cs typeface="Calibri"/>
                <a:sym typeface="Calibri"/>
              </a:rPr>
              <a:t>Benefits and Limitations</a:t>
            </a:r>
            <a:endParaRPr/>
          </a:p>
        </p:txBody>
      </p:sp>
      <p:sp>
        <p:nvSpPr>
          <p:cNvPr id="179" name="Google Shape;179;g270db738eac_20_40"/>
          <p:cNvSpPr txBox="1"/>
          <p:nvPr>
            <p:ph idx="1" type="body"/>
          </p:nvPr>
        </p:nvSpPr>
        <p:spPr>
          <a:xfrm>
            <a:off x="415600" y="1924050"/>
            <a:ext cx="11360700" cy="4400400"/>
          </a:xfrm>
          <a:prstGeom prst="rect">
            <a:avLst/>
          </a:prstGeom>
          <a:noFill/>
          <a:ln>
            <a:noFill/>
          </a:ln>
        </p:spPr>
        <p:txBody>
          <a:bodyPr anchorCtr="0" anchor="t" bIns="121900" lIns="121900" spcFirstLastPara="1" rIns="121900" wrap="square" tIns="121900">
            <a:noAutofit/>
          </a:bodyPr>
          <a:lstStyle/>
          <a:p>
            <a:pPr indent="0" lvl="0" marL="457200" rtl="0" algn="l">
              <a:lnSpc>
                <a:spcPct val="100000"/>
              </a:lnSpc>
              <a:spcBef>
                <a:spcPts val="0"/>
              </a:spcBef>
              <a:spcAft>
                <a:spcPts val="0"/>
              </a:spcAft>
              <a:buSzPts val="2400"/>
              <a:buNone/>
            </a:pPr>
            <a:r>
              <a:rPr b="1" lang="en-US" sz="2200">
                <a:solidFill>
                  <a:schemeClr val="dk1"/>
                </a:solidFill>
                <a:latin typeface="Calibri"/>
                <a:ea typeface="Calibri"/>
                <a:cs typeface="Calibri"/>
                <a:sym typeface="Calibri"/>
              </a:rPr>
              <a:t>Benefits</a:t>
            </a:r>
            <a:endParaRPr b="1" sz="2200">
              <a:solidFill>
                <a:schemeClr val="dk1"/>
              </a:solidFill>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High Accuracy and Robustness in OOD Detection: Outperforms traditional methods by effectively detecting OOD samples and providing reliable uncertainty estimates.</a:t>
            </a:r>
            <a:endParaRPr sz="2000">
              <a:solidFill>
                <a:schemeClr val="dk1"/>
              </a:solidFill>
              <a:latin typeface="Calibri"/>
              <a:ea typeface="Calibri"/>
              <a:cs typeface="Calibri"/>
              <a:sym typeface="Calibri"/>
            </a:endParaRPr>
          </a:p>
          <a:p>
            <a:pPr indent="0" lvl="0" marL="457200" rtl="0" algn="l">
              <a:lnSpc>
                <a:spcPct val="100000"/>
              </a:lnSpc>
              <a:spcBef>
                <a:spcPts val="0"/>
              </a:spcBef>
              <a:spcAft>
                <a:spcPts val="0"/>
              </a:spcAft>
              <a:buSzPts val="2400"/>
              <a:buNone/>
            </a:pPr>
            <a:r>
              <a:t/>
            </a:r>
            <a:endParaRPr sz="2000">
              <a:solidFill>
                <a:schemeClr val="dk1"/>
              </a:solidFill>
              <a:latin typeface="Calibri"/>
              <a:ea typeface="Calibri"/>
              <a:cs typeface="Calibri"/>
              <a:sym typeface="Calibri"/>
            </a:endParaRPr>
          </a:p>
          <a:p>
            <a:pPr indent="-355600" lvl="0" marL="457200" rtl="0" algn="l">
              <a:lnSpc>
                <a:spcPct val="100000"/>
              </a:lnSpc>
              <a:spcBef>
                <a:spcPts val="0"/>
              </a:spcBef>
              <a:spcAft>
                <a:spcPts val="0"/>
              </a:spcAft>
              <a:buClr>
                <a:schemeClr val="dk1"/>
              </a:buClr>
              <a:buSzPts val="2000"/>
              <a:buFont typeface="Calibri"/>
              <a:buChar char="-"/>
            </a:pPr>
            <a:r>
              <a:rPr lang="en-US" sz="2000">
                <a:solidFill>
                  <a:schemeClr val="dk1"/>
                </a:solidFill>
                <a:latin typeface="Calibri"/>
                <a:ea typeface="Calibri"/>
                <a:cs typeface="Calibri"/>
                <a:sym typeface="Calibri"/>
              </a:rPr>
              <a:t>Scalability: Efficient in terms of computation, especially compared to methods requiring extensive sampling.</a:t>
            </a:r>
            <a:endParaRPr sz="20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2400"/>
              <a:buNone/>
            </a:pPr>
            <a:r>
              <a:t/>
            </a:r>
            <a:endParaRPr sz="22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2400"/>
              <a:buNone/>
            </a:pPr>
            <a:r>
              <a:rPr lang="en-US" sz="2200">
                <a:solidFill>
                  <a:schemeClr val="dk1"/>
                </a:solidFill>
                <a:latin typeface="Calibri"/>
                <a:ea typeface="Calibri"/>
                <a:cs typeface="Calibri"/>
                <a:sym typeface="Calibri"/>
              </a:rPr>
              <a:t>       </a:t>
            </a:r>
            <a:r>
              <a:rPr b="1" lang="en-US" sz="2200">
                <a:solidFill>
                  <a:schemeClr val="dk1"/>
                </a:solidFill>
                <a:latin typeface="Calibri"/>
                <a:ea typeface="Calibri"/>
                <a:cs typeface="Calibri"/>
                <a:sym typeface="Calibri"/>
              </a:rPr>
              <a:t>Limitations</a:t>
            </a:r>
            <a:endParaRPr b="1" sz="2200">
              <a:solidFill>
                <a:schemeClr val="dk1"/>
              </a:solidFill>
              <a:latin typeface="Calibri"/>
              <a:ea typeface="Calibri"/>
              <a:cs typeface="Calibri"/>
              <a:sym typeface="Calibri"/>
            </a:endParaRPr>
          </a:p>
          <a:p>
            <a:pPr indent="-349250" lvl="0" marL="457200" rtl="0" algn="l">
              <a:lnSpc>
                <a:spcPct val="100000"/>
              </a:lnSpc>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Complexity in Tuning: Requires careful calibration of hyperparameters and understanding of underlying statistical models.</a:t>
            </a:r>
            <a:endParaRPr sz="1900">
              <a:solidFill>
                <a:schemeClr val="dk1"/>
              </a:solidFill>
              <a:latin typeface="Calibri"/>
              <a:ea typeface="Calibri"/>
              <a:cs typeface="Calibri"/>
              <a:sym typeface="Calibri"/>
            </a:endParaRPr>
          </a:p>
          <a:p>
            <a:pPr indent="0" lvl="0" marL="0" rtl="0" algn="l">
              <a:lnSpc>
                <a:spcPct val="100000"/>
              </a:lnSpc>
              <a:spcBef>
                <a:spcPts val="0"/>
              </a:spcBef>
              <a:spcAft>
                <a:spcPts val="0"/>
              </a:spcAft>
              <a:buSzPts val="2400"/>
              <a:buNone/>
            </a:pPr>
            <a:r>
              <a:t/>
            </a:r>
            <a:endParaRPr sz="1900">
              <a:solidFill>
                <a:schemeClr val="dk1"/>
              </a:solidFill>
              <a:latin typeface="Calibri"/>
              <a:ea typeface="Calibri"/>
              <a:cs typeface="Calibri"/>
              <a:sym typeface="Calibri"/>
            </a:endParaRPr>
          </a:p>
          <a:p>
            <a:pPr indent="-349250" lvl="0" marL="457200" rtl="0" algn="l">
              <a:lnSpc>
                <a:spcPct val="100000"/>
              </a:lnSpc>
              <a:spcBef>
                <a:spcPts val="0"/>
              </a:spcBef>
              <a:spcAft>
                <a:spcPts val="0"/>
              </a:spcAft>
              <a:buClr>
                <a:schemeClr val="dk1"/>
              </a:buClr>
              <a:buSzPts val="1900"/>
              <a:buFont typeface="Calibri"/>
              <a:buChar char="-"/>
            </a:pPr>
            <a:r>
              <a:rPr lang="en-US" sz="1900">
                <a:solidFill>
                  <a:schemeClr val="dk1"/>
                </a:solidFill>
                <a:latin typeface="Calibri"/>
                <a:ea typeface="Calibri"/>
                <a:cs typeface="Calibri"/>
                <a:sym typeface="Calibri"/>
              </a:rPr>
              <a:t>Computational Demand: While generally efficient, the complexity of normalizing flows can lead to higher computational costs compared to simpler models.</a:t>
            </a:r>
            <a:endParaRPr sz="2600">
              <a:solidFill>
                <a:schemeClr val="dk1"/>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 name="Shape 183"/>
        <p:cNvGrpSpPr/>
        <p:nvPr/>
      </p:nvGrpSpPr>
      <p:grpSpPr>
        <a:xfrm>
          <a:off x="0" y="0"/>
          <a:ext cx="0" cy="0"/>
          <a:chOff x="0" y="0"/>
          <a:chExt cx="0" cy="0"/>
        </a:xfrm>
      </p:grpSpPr>
      <p:sp>
        <p:nvSpPr>
          <p:cNvPr id="184" name="Google Shape;184;g12fbd10340172da6_3"/>
          <p:cNvSpPr txBox="1"/>
          <p:nvPr>
            <p:ph idx="4294967295" type="title"/>
          </p:nvPr>
        </p:nvSpPr>
        <p:spPr>
          <a:xfrm>
            <a:off x="415650" y="318279"/>
            <a:ext cx="11360700" cy="11712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b="1" lang="en-US">
                <a:latin typeface="Calibri"/>
                <a:ea typeface="Calibri"/>
                <a:cs typeface="Calibri"/>
                <a:sym typeface="Calibri"/>
              </a:rPr>
              <a:t>2. Methods Description</a:t>
            </a:r>
            <a:endParaRPr b="1">
              <a:latin typeface="Calibri"/>
              <a:ea typeface="Calibri"/>
              <a:cs typeface="Calibri"/>
              <a:sym typeface="Calibri"/>
            </a:endParaRPr>
          </a:p>
          <a:p>
            <a:pPr indent="0" lvl="0" marL="0" rtl="0" algn="l">
              <a:lnSpc>
                <a:spcPct val="100000"/>
              </a:lnSpc>
              <a:spcBef>
                <a:spcPts val="0"/>
              </a:spcBef>
              <a:spcAft>
                <a:spcPts val="0"/>
              </a:spcAft>
              <a:buSzPct val="153893"/>
              <a:buNone/>
            </a:pPr>
            <a:r>
              <a:rPr b="1" lang="en-US" sz="2888">
                <a:latin typeface="Calibri"/>
                <a:ea typeface="Calibri"/>
                <a:cs typeface="Calibri"/>
                <a:sym typeface="Calibri"/>
              </a:rPr>
              <a:t>2.3 Repulsive Deep Ensembles</a:t>
            </a:r>
            <a:endParaRPr b="1">
              <a:latin typeface="Calibri"/>
              <a:ea typeface="Calibri"/>
              <a:cs typeface="Calibri"/>
              <a:sym typeface="Calibri"/>
            </a:endParaRPr>
          </a:p>
        </p:txBody>
      </p:sp>
      <p:sp>
        <p:nvSpPr>
          <p:cNvPr id="185" name="Google Shape;185;g12fbd10340172da6_3"/>
          <p:cNvSpPr txBox="1"/>
          <p:nvPr/>
        </p:nvSpPr>
        <p:spPr>
          <a:xfrm>
            <a:off x="753500" y="1657675"/>
            <a:ext cx="11292300" cy="5694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0"/>
              </a:spcBef>
              <a:spcAft>
                <a:spcPts val="0"/>
              </a:spcAft>
              <a:buClr>
                <a:schemeClr val="dk1"/>
              </a:buClr>
              <a:buSzPts val="1100"/>
              <a:buFont typeface="Arial"/>
              <a:buNone/>
            </a:pPr>
            <a:r>
              <a:rPr b="0" i="0" lang="en-US" sz="1400" u="none" cap="none" strike="noStrike">
                <a:solidFill>
                  <a:schemeClr val="dk1"/>
                </a:solidFill>
                <a:latin typeface="Calibri"/>
                <a:ea typeface="Calibri"/>
                <a:cs typeface="Calibri"/>
                <a:sym typeface="Calibri"/>
              </a:rPr>
              <a:t>     </a:t>
            </a:r>
            <a:r>
              <a:rPr b="0" i="0" lang="en-US" sz="2500" u="none" cap="none" strike="noStrike">
                <a:solidFill>
                  <a:schemeClr val="dk1"/>
                </a:solidFill>
                <a:latin typeface="Calibri"/>
                <a:ea typeface="Calibri"/>
                <a:cs typeface="Calibri"/>
                <a:sym typeface="Calibri"/>
              </a:rPr>
              <a:t>Paper aims to solve the Non-identifiability of neural networks.</a:t>
            </a:r>
            <a:endParaRPr b="0" i="0" sz="3000" u="none" cap="none" strike="noStrike">
              <a:solidFill>
                <a:schemeClr val="dk1"/>
              </a:solidFill>
              <a:latin typeface="Calibri"/>
              <a:ea typeface="Calibri"/>
              <a:cs typeface="Calibri"/>
              <a:sym typeface="Calibri"/>
            </a:endParaRPr>
          </a:p>
        </p:txBody>
      </p:sp>
      <p:sp>
        <p:nvSpPr>
          <p:cNvPr id="186" name="Google Shape;186;g12fbd10340172da6_3"/>
          <p:cNvSpPr/>
          <p:nvPr/>
        </p:nvSpPr>
        <p:spPr>
          <a:xfrm>
            <a:off x="613550" y="1782625"/>
            <a:ext cx="375900" cy="31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7" name="Google Shape;187;g12fbd10340172da6_3"/>
          <p:cNvSpPr/>
          <p:nvPr/>
        </p:nvSpPr>
        <p:spPr>
          <a:xfrm>
            <a:off x="613550" y="2525975"/>
            <a:ext cx="375900" cy="31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88" name="Google Shape;188;g12fbd10340172da6_3"/>
          <p:cNvSpPr txBox="1"/>
          <p:nvPr/>
        </p:nvSpPr>
        <p:spPr>
          <a:xfrm>
            <a:off x="899700" y="2395275"/>
            <a:ext cx="11292300" cy="10119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0"/>
              </a:spcBef>
              <a:spcAft>
                <a:spcPts val="0"/>
              </a:spcAft>
              <a:buClr>
                <a:schemeClr val="dk1"/>
              </a:buClr>
              <a:buSzPts val="1100"/>
              <a:buFont typeface="Arial"/>
              <a:buNone/>
            </a:pPr>
            <a:r>
              <a:rPr b="0" i="0" lang="en-US" sz="2500" u="none" cap="none" strike="noStrike">
                <a:solidFill>
                  <a:schemeClr val="dk1"/>
                </a:solidFill>
                <a:latin typeface="Calibri"/>
                <a:ea typeface="Calibri"/>
                <a:cs typeface="Calibri"/>
                <a:sym typeface="Calibri"/>
              </a:rPr>
              <a:t>Empirical test error of the ensemble converges to the one of a single trained model when the number of parameters goes to infinity.</a:t>
            </a:r>
            <a:endParaRPr b="0" i="0" sz="2500" u="none" cap="none" strike="noStrike">
              <a:solidFill>
                <a:schemeClr val="dk1"/>
              </a:solidFill>
              <a:latin typeface="Calibri"/>
              <a:ea typeface="Calibri"/>
              <a:cs typeface="Calibri"/>
              <a:sym typeface="Calibri"/>
            </a:endParaRPr>
          </a:p>
        </p:txBody>
      </p:sp>
      <p:sp>
        <p:nvSpPr>
          <p:cNvPr id="189" name="Google Shape;189;g12fbd10340172da6_3"/>
          <p:cNvSpPr txBox="1"/>
          <p:nvPr/>
        </p:nvSpPr>
        <p:spPr>
          <a:xfrm>
            <a:off x="899700" y="3700325"/>
            <a:ext cx="11292300" cy="14037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0"/>
              </a:spcBef>
              <a:spcAft>
                <a:spcPts val="0"/>
              </a:spcAft>
              <a:buClr>
                <a:schemeClr val="dk1"/>
              </a:buClr>
              <a:buSzPts val="1100"/>
              <a:buFont typeface="Arial"/>
              <a:buNone/>
            </a:pPr>
            <a:r>
              <a:rPr b="1" i="0" lang="en-US" sz="2400" u="none" cap="none" strike="noStrike">
                <a:solidFill>
                  <a:schemeClr val="dk1"/>
                </a:solidFill>
                <a:latin typeface="Calibri"/>
                <a:ea typeface="Calibri"/>
                <a:cs typeface="Calibri"/>
                <a:sym typeface="Calibri"/>
              </a:rPr>
              <a:t>Method Family Particle-Optimization Variational Inference (POVI)</a:t>
            </a:r>
            <a:r>
              <a:rPr b="0" i="0" lang="en-US" sz="2400" u="none" cap="none" strike="noStrike">
                <a:solidFill>
                  <a:schemeClr val="dk1"/>
                </a:solidFill>
                <a:latin typeface="Calibri"/>
                <a:ea typeface="Calibri"/>
                <a:cs typeface="Calibri"/>
                <a:sym typeface="Calibri"/>
              </a:rPr>
              <a:t>, Inspired by SVGD, which aims to decrease the KL divergence between the particle-approximated distribution and the target posterior distribution.</a:t>
            </a:r>
            <a:endParaRPr b="0" i="0" sz="2400" u="none" cap="none" strike="noStrike">
              <a:solidFill>
                <a:schemeClr val="dk1"/>
              </a:solidFill>
              <a:latin typeface="Calibri"/>
              <a:ea typeface="Calibri"/>
              <a:cs typeface="Calibri"/>
              <a:sym typeface="Calibri"/>
            </a:endParaRPr>
          </a:p>
        </p:txBody>
      </p:sp>
      <p:sp>
        <p:nvSpPr>
          <p:cNvPr id="190" name="Google Shape;190;g12fbd10340172da6_3"/>
          <p:cNvSpPr/>
          <p:nvPr/>
        </p:nvSpPr>
        <p:spPr>
          <a:xfrm>
            <a:off x="613550" y="4046525"/>
            <a:ext cx="375900" cy="31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g2d2b00f2ec8_5_10"/>
          <p:cNvSpPr txBox="1"/>
          <p:nvPr/>
        </p:nvSpPr>
        <p:spPr>
          <a:xfrm>
            <a:off x="3830000" y="147300"/>
            <a:ext cx="5139300" cy="6927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3300"/>
              <a:buFont typeface="Arial"/>
              <a:buNone/>
            </a:pPr>
            <a:r>
              <a:rPr b="1" i="0" lang="en-US" sz="3300" u="none" cap="none" strike="noStrike">
                <a:solidFill>
                  <a:schemeClr val="dk1"/>
                </a:solidFill>
                <a:latin typeface="Calibri"/>
                <a:ea typeface="Calibri"/>
                <a:cs typeface="Calibri"/>
                <a:sym typeface="Calibri"/>
              </a:rPr>
              <a:t>Methods of this paper</a:t>
            </a:r>
            <a:endParaRPr b="1" i="0" sz="3300" u="none" cap="none" strike="noStrike">
              <a:solidFill>
                <a:schemeClr val="dk1"/>
              </a:solidFill>
              <a:latin typeface="Calibri"/>
              <a:ea typeface="Calibri"/>
              <a:cs typeface="Calibri"/>
              <a:sym typeface="Calibri"/>
            </a:endParaRPr>
          </a:p>
        </p:txBody>
      </p:sp>
      <p:sp>
        <p:nvSpPr>
          <p:cNvPr id="196" name="Google Shape;196;g2d2b00f2ec8_5_10"/>
          <p:cNvSpPr txBox="1"/>
          <p:nvPr/>
        </p:nvSpPr>
        <p:spPr>
          <a:xfrm>
            <a:off x="299550" y="1006600"/>
            <a:ext cx="94278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1" lang="en-US" sz="2600" u="none" cap="none" strike="noStrike">
                <a:solidFill>
                  <a:schemeClr val="dk1"/>
                </a:solidFill>
                <a:latin typeface="Calibri"/>
                <a:ea typeface="Calibri"/>
                <a:cs typeface="Calibri"/>
                <a:sym typeface="Calibri"/>
              </a:rPr>
              <a:t>Repulsive Force in Weight Space:</a:t>
            </a:r>
            <a:endParaRPr b="0" i="1" sz="2600" u="none" cap="none" strike="noStrike">
              <a:solidFill>
                <a:schemeClr val="dk1"/>
              </a:solidFill>
              <a:latin typeface="Calibri"/>
              <a:ea typeface="Calibri"/>
              <a:cs typeface="Calibri"/>
              <a:sym typeface="Calibri"/>
            </a:endParaRPr>
          </a:p>
        </p:txBody>
      </p:sp>
      <p:sp>
        <p:nvSpPr>
          <p:cNvPr id="197" name="Google Shape;197;g2d2b00f2ec8_5_10"/>
          <p:cNvSpPr txBox="1"/>
          <p:nvPr/>
        </p:nvSpPr>
        <p:spPr>
          <a:xfrm>
            <a:off x="1202500" y="2735638"/>
            <a:ext cx="107286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This repulsive term models the interaction between ensemble members using a kernel function, causing the members to repel each other in weight space to avoid collapsing to the same solution.</a:t>
            </a:r>
            <a:endParaRPr b="0" i="0" sz="2500" u="none" cap="none" strike="noStrike">
              <a:solidFill>
                <a:schemeClr val="dk1"/>
              </a:solidFill>
              <a:latin typeface="Calibri"/>
              <a:ea typeface="Calibri"/>
              <a:cs typeface="Calibri"/>
              <a:sym typeface="Calibri"/>
            </a:endParaRPr>
          </a:p>
        </p:txBody>
      </p:sp>
      <p:sp>
        <p:nvSpPr>
          <p:cNvPr id="198" name="Google Shape;198;g2d2b00f2ec8_5_10"/>
          <p:cNvSpPr/>
          <p:nvPr/>
        </p:nvSpPr>
        <p:spPr>
          <a:xfrm>
            <a:off x="582450" y="2104400"/>
            <a:ext cx="375900" cy="31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199" name="Google Shape;199;g2d2b00f2ec8_5_10"/>
          <p:cNvSpPr txBox="1"/>
          <p:nvPr/>
        </p:nvSpPr>
        <p:spPr>
          <a:xfrm>
            <a:off x="753500" y="1657675"/>
            <a:ext cx="11292300" cy="1011900"/>
          </a:xfrm>
          <a:prstGeom prst="rect">
            <a:avLst/>
          </a:prstGeom>
          <a:noFill/>
          <a:ln>
            <a:noFill/>
          </a:ln>
        </p:spPr>
        <p:txBody>
          <a:bodyPr anchorCtr="0" anchor="t" bIns="91425" lIns="91425" spcFirstLastPara="1" rIns="91425" wrap="square" tIns="91425">
            <a:spAutoFit/>
          </a:bodyPr>
          <a:lstStyle/>
          <a:p>
            <a:pPr indent="-228600" lvl="0" marL="457200" marR="0" rtl="0" algn="l">
              <a:lnSpc>
                <a:spcPct val="115000"/>
              </a:lnSpc>
              <a:spcBef>
                <a:spcPts val="0"/>
              </a:spcBef>
              <a:spcAft>
                <a:spcPts val="0"/>
              </a:spcAft>
              <a:buClr>
                <a:schemeClr val="dk1"/>
              </a:buClr>
              <a:buSzPts val="1100"/>
              <a:buFont typeface="Arial"/>
              <a:buNone/>
            </a:pPr>
            <a:r>
              <a:rPr b="0" i="0" lang="en-US" sz="1400" u="none" cap="none" strike="noStrike">
                <a:solidFill>
                  <a:schemeClr val="dk1"/>
                </a:solidFill>
                <a:latin typeface="Calibri"/>
                <a:ea typeface="Calibri"/>
                <a:cs typeface="Calibri"/>
                <a:sym typeface="Calibri"/>
              </a:rPr>
              <a:t>     </a:t>
            </a:r>
            <a:r>
              <a:rPr b="0" i="0" lang="en-US" sz="2500" u="none" cap="none" strike="noStrike">
                <a:solidFill>
                  <a:schemeClr val="dk1"/>
                </a:solidFill>
                <a:latin typeface="Calibri"/>
                <a:ea typeface="Calibri"/>
                <a:cs typeface="Calibri"/>
                <a:sym typeface="Calibri"/>
              </a:rPr>
              <a:t>To overcome the limitations of standard deep ensembles, the authors introduce a repulsive term inspired by Stein Variational Gradient Descent (SVGD).</a:t>
            </a:r>
            <a:endParaRPr b="0" i="0" sz="3000" u="none" cap="none" strike="noStrike">
              <a:solidFill>
                <a:schemeClr val="dk1"/>
              </a:solidFill>
              <a:latin typeface="Calibri"/>
              <a:ea typeface="Calibri"/>
              <a:cs typeface="Calibri"/>
              <a:sym typeface="Calibri"/>
            </a:endParaRPr>
          </a:p>
        </p:txBody>
      </p:sp>
      <p:sp>
        <p:nvSpPr>
          <p:cNvPr id="200" name="Google Shape;200;g2d2b00f2ec8_5_10"/>
          <p:cNvSpPr/>
          <p:nvPr/>
        </p:nvSpPr>
        <p:spPr>
          <a:xfrm>
            <a:off x="582450" y="3269250"/>
            <a:ext cx="375900" cy="3195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Calibri"/>
              <a:ea typeface="Calibri"/>
              <a:cs typeface="Calibri"/>
              <a:sym typeface="Calibri"/>
            </a:endParaRPr>
          </a:p>
        </p:txBody>
      </p:sp>
      <p:sp>
        <p:nvSpPr>
          <p:cNvPr id="201" name="Google Shape;201;g2d2b00f2ec8_5_10"/>
          <p:cNvSpPr/>
          <p:nvPr/>
        </p:nvSpPr>
        <p:spPr>
          <a:xfrm>
            <a:off x="582450" y="4434100"/>
            <a:ext cx="375900" cy="319500"/>
          </a:xfrm>
          <a:prstGeom prst="rightArrow">
            <a:avLst>
              <a:gd fmla="val 50000" name="adj1"/>
              <a:gd fmla="val 41197"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02" name="Google Shape;202;g2d2b00f2ec8_5_10"/>
          <p:cNvSpPr txBox="1"/>
          <p:nvPr/>
        </p:nvSpPr>
        <p:spPr>
          <a:xfrm>
            <a:off x="1193050" y="4140925"/>
            <a:ext cx="10747500" cy="9543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The repulsive term is added to the gradient update rule for the ensemble members, taking the form: </a:t>
            </a:r>
            <a:endParaRPr b="0" i="0" sz="2500" u="none" cap="none" strike="noStrike">
              <a:solidFill>
                <a:schemeClr val="dk1"/>
              </a:solidFill>
              <a:latin typeface="Calibri"/>
              <a:ea typeface="Calibri"/>
              <a:cs typeface="Calibri"/>
              <a:sym typeface="Calibri"/>
            </a:endParaRPr>
          </a:p>
        </p:txBody>
      </p:sp>
      <p:pic>
        <p:nvPicPr>
          <p:cNvPr id="203" name="Google Shape;203;g2d2b00f2ec8_5_10"/>
          <p:cNvPicPr preferRelativeResize="0"/>
          <p:nvPr/>
        </p:nvPicPr>
        <p:blipFill rotWithShape="1">
          <a:blip r:embed="rId3">
            <a:alphaModFix/>
          </a:blip>
          <a:srcRect b="0" l="0" r="0" t="0"/>
          <a:stretch/>
        </p:blipFill>
        <p:spPr>
          <a:xfrm>
            <a:off x="3363250" y="5095225"/>
            <a:ext cx="4791200" cy="6927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g2d2b00f2ec8_5_5"/>
          <p:cNvSpPr txBox="1"/>
          <p:nvPr/>
        </p:nvSpPr>
        <p:spPr>
          <a:xfrm>
            <a:off x="526100" y="488500"/>
            <a:ext cx="54114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1" lang="en-US" sz="2600" u="none" cap="none" strike="noStrike">
                <a:solidFill>
                  <a:schemeClr val="dk1"/>
                </a:solidFill>
                <a:latin typeface="Calibri"/>
                <a:ea typeface="Calibri"/>
                <a:cs typeface="Calibri"/>
                <a:sym typeface="Calibri"/>
              </a:rPr>
              <a:t>Repulsive Force in Function Space:</a:t>
            </a:r>
            <a:endParaRPr b="0" i="1" sz="2600" u="none" cap="none" strike="noStrike">
              <a:solidFill>
                <a:schemeClr val="dk1"/>
              </a:solidFill>
              <a:latin typeface="Calibri"/>
              <a:ea typeface="Calibri"/>
              <a:cs typeface="Calibri"/>
              <a:sym typeface="Calibri"/>
            </a:endParaRPr>
          </a:p>
        </p:txBody>
      </p:sp>
      <p:sp>
        <p:nvSpPr>
          <p:cNvPr id="209" name="Google Shape;209;g2d2b00f2ec8_5_5"/>
          <p:cNvSpPr txBox="1"/>
          <p:nvPr/>
        </p:nvSpPr>
        <p:spPr>
          <a:xfrm>
            <a:off x="2179525" y="1747375"/>
            <a:ext cx="100521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Average"/>
              <a:ea typeface="Average"/>
              <a:cs typeface="Average"/>
              <a:sym typeface="Average"/>
            </a:endParaRPr>
          </a:p>
        </p:txBody>
      </p:sp>
      <p:sp>
        <p:nvSpPr>
          <p:cNvPr id="210" name="Google Shape;210;g2d2b00f2ec8_5_5"/>
          <p:cNvSpPr/>
          <p:nvPr/>
        </p:nvSpPr>
        <p:spPr>
          <a:xfrm>
            <a:off x="620025" y="1615850"/>
            <a:ext cx="394500" cy="28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11" name="Google Shape;211;g2d2b00f2ec8_5_5"/>
          <p:cNvSpPr txBox="1"/>
          <p:nvPr/>
        </p:nvSpPr>
        <p:spPr>
          <a:xfrm>
            <a:off x="1277650" y="1295150"/>
            <a:ext cx="106911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To overcome the overparameterization issue, the authors also consider formulating the repulsive term in function space instead of weight space.</a:t>
            </a:r>
            <a:endParaRPr b="0" i="0" sz="2400" u="none" cap="none" strike="noStrike">
              <a:solidFill>
                <a:schemeClr val="dk1"/>
              </a:solidFill>
              <a:latin typeface="Calibri"/>
              <a:ea typeface="Calibri"/>
              <a:cs typeface="Calibri"/>
              <a:sym typeface="Calibri"/>
            </a:endParaRPr>
          </a:p>
        </p:txBody>
      </p:sp>
      <p:sp>
        <p:nvSpPr>
          <p:cNvPr id="212" name="Google Shape;212;g2d2b00f2ec8_5_5"/>
          <p:cNvSpPr/>
          <p:nvPr/>
        </p:nvSpPr>
        <p:spPr>
          <a:xfrm>
            <a:off x="638775" y="2818175"/>
            <a:ext cx="357000" cy="28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13" name="Google Shape;213;g2d2b00f2ec8_5_5"/>
          <p:cNvSpPr txBox="1"/>
          <p:nvPr/>
        </p:nvSpPr>
        <p:spPr>
          <a:xfrm>
            <a:off x="1277650" y="2440200"/>
            <a:ext cx="100335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This involves modeling the interaction between ensemble members as particles in function space, using a kernel to capture the repulsion between functions.</a:t>
            </a:r>
            <a:endParaRPr b="0" i="0" sz="2500" u="none" cap="none" strike="noStrike">
              <a:solidFill>
                <a:schemeClr val="dk1"/>
              </a:solidFill>
              <a:latin typeface="Calibri"/>
              <a:ea typeface="Calibri"/>
              <a:cs typeface="Calibri"/>
              <a:sym typeface="Calibri"/>
            </a:endParaRPr>
          </a:p>
        </p:txBody>
      </p:sp>
      <p:sp>
        <p:nvSpPr>
          <p:cNvPr id="214" name="Google Shape;214;g2d2b00f2ec8_5_5"/>
          <p:cNvSpPr/>
          <p:nvPr/>
        </p:nvSpPr>
        <p:spPr>
          <a:xfrm>
            <a:off x="638775" y="4061825"/>
            <a:ext cx="357000" cy="2820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15" name="Google Shape;215;g2d2b00f2ec8_5_5"/>
          <p:cNvSpPr txBox="1"/>
          <p:nvPr/>
        </p:nvSpPr>
        <p:spPr>
          <a:xfrm>
            <a:off x="1296550" y="3918125"/>
            <a:ext cx="10653300" cy="569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The update rule in function space takes the form:</a:t>
            </a:r>
            <a:endParaRPr b="0" i="0" sz="2500" u="none" cap="none" strike="noStrike">
              <a:solidFill>
                <a:schemeClr val="dk1"/>
              </a:solidFill>
              <a:latin typeface="Calibri"/>
              <a:ea typeface="Calibri"/>
              <a:cs typeface="Calibri"/>
              <a:sym typeface="Calibri"/>
            </a:endParaRPr>
          </a:p>
        </p:txBody>
      </p:sp>
      <p:pic>
        <p:nvPicPr>
          <p:cNvPr id="216" name="Google Shape;216;g2d2b00f2ec8_5_5"/>
          <p:cNvPicPr preferRelativeResize="0"/>
          <p:nvPr/>
        </p:nvPicPr>
        <p:blipFill rotWithShape="1">
          <a:blip r:embed="rId3">
            <a:alphaModFix/>
          </a:blip>
          <a:srcRect b="0" l="0" r="0" t="0"/>
          <a:stretch/>
        </p:blipFill>
        <p:spPr>
          <a:xfrm>
            <a:off x="2409825" y="4828775"/>
            <a:ext cx="6571325" cy="676425"/>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g2da0af87549_0_10"/>
          <p:cNvSpPr txBox="1"/>
          <p:nvPr/>
        </p:nvSpPr>
        <p:spPr>
          <a:xfrm>
            <a:off x="300625" y="544875"/>
            <a:ext cx="60876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1" lang="en-US" sz="2600" u="none" cap="none" strike="noStrike">
                <a:solidFill>
                  <a:schemeClr val="dk1"/>
                </a:solidFill>
                <a:latin typeface="Calibri"/>
                <a:ea typeface="Calibri"/>
                <a:cs typeface="Calibri"/>
                <a:sym typeface="Calibri"/>
              </a:rPr>
              <a:t>Repulsive Deep Ensembles are Bayesian:</a:t>
            </a:r>
            <a:endParaRPr b="0" i="1" sz="2600" u="none" cap="none" strike="noStrike">
              <a:solidFill>
                <a:schemeClr val="dk1"/>
              </a:solidFill>
              <a:latin typeface="Calibri"/>
              <a:ea typeface="Calibri"/>
              <a:cs typeface="Calibri"/>
              <a:sym typeface="Calibri"/>
            </a:endParaRPr>
          </a:p>
        </p:txBody>
      </p:sp>
      <p:sp>
        <p:nvSpPr>
          <p:cNvPr id="222" name="Google Shape;222;g2da0af87549_0_10"/>
          <p:cNvSpPr/>
          <p:nvPr/>
        </p:nvSpPr>
        <p:spPr>
          <a:xfrm>
            <a:off x="413500" y="1625150"/>
            <a:ext cx="375600" cy="34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23" name="Google Shape;223;g2da0af87549_0_10"/>
          <p:cNvSpPr txBox="1"/>
          <p:nvPr/>
        </p:nvSpPr>
        <p:spPr>
          <a:xfrm>
            <a:off x="929025" y="1448775"/>
            <a:ext cx="99873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Choosing the repulsive term appropriately, the update rules for the repulsive deep ensembles can be interpreted as a discretization of the gradient flow dynamics of the KL divergence in Wasserstein space.</a:t>
            </a:r>
            <a:endParaRPr b="0" i="0" sz="2500" u="none" cap="none" strike="noStrike">
              <a:solidFill>
                <a:schemeClr val="dk1"/>
              </a:solidFill>
              <a:latin typeface="Calibri"/>
              <a:ea typeface="Calibri"/>
              <a:cs typeface="Calibri"/>
              <a:sym typeface="Calibri"/>
            </a:endParaRPr>
          </a:p>
        </p:txBody>
      </p:sp>
      <p:sp>
        <p:nvSpPr>
          <p:cNvPr id="224" name="Google Shape;224;g2da0af87549_0_10"/>
          <p:cNvSpPr/>
          <p:nvPr/>
        </p:nvSpPr>
        <p:spPr>
          <a:xfrm>
            <a:off x="413500" y="3410100"/>
            <a:ext cx="375600" cy="347700"/>
          </a:xfrm>
          <a:prstGeom prst="right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25" name="Google Shape;225;g2da0af87549_0_10"/>
          <p:cNvSpPr txBox="1"/>
          <p:nvPr/>
        </p:nvSpPr>
        <p:spPr>
          <a:xfrm>
            <a:off x="966525" y="3306900"/>
            <a:ext cx="10175400" cy="1339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This means that the repulsive deep ensembles can be seen as performing proper Bayesian inference, converging to the true Bayesian posterior in the limit of infinitely many ensemble members.</a:t>
            </a:r>
            <a:endParaRPr b="0" i="0" sz="2500" u="none" cap="none" strike="noStrike">
              <a:solidFill>
                <a:schemeClr val="dk1"/>
              </a:solidFill>
              <a:latin typeface="Calibri"/>
              <a:ea typeface="Calibri"/>
              <a:cs typeface="Calibri"/>
              <a:sym typeface="Calibri"/>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9" name="Shape 229"/>
        <p:cNvGrpSpPr/>
        <p:nvPr/>
      </p:nvGrpSpPr>
      <p:grpSpPr>
        <a:xfrm>
          <a:off x="0" y="0"/>
          <a:ext cx="0" cy="0"/>
          <a:chOff x="0" y="0"/>
          <a:chExt cx="0" cy="0"/>
        </a:xfrm>
      </p:grpSpPr>
      <p:sp>
        <p:nvSpPr>
          <p:cNvPr id="230" name="Google Shape;230;g2d2b00f2ec8_5_20"/>
          <p:cNvSpPr txBox="1"/>
          <p:nvPr/>
        </p:nvSpPr>
        <p:spPr>
          <a:xfrm>
            <a:off x="949325" y="1260300"/>
            <a:ext cx="9427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1" name="Google Shape;231;g2d2b00f2ec8_5_20"/>
          <p:cNvSpPr txBox="1"/>
          <p:nvPr/>
        </p:nvSpPr>
        <p:spPr>
          <a:xfrm>
            <a:off x="510600" y="932950"/>
            <a:ext cx="11454000" cy="4779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2" name="Google Shape;232;g2d2b00f2ec8_5_20"/>
          <p:cNvSpPr txBox="1"/>
          <p:nvPr/>
        </p:nvSpPr>
        <p:spPr>
          <a:xfrm>
            <a:off x="466475" y="1650638"/>
            <a:ext cx="10393500" cy="9543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0"/>
              </a:spcBef>
              <a:spcAft>
                <a:spcPts val="0"/>
              </a:spcAft>
              <a:buClr>
                <a:schemeClr val="dk1"/>
              </a:buClr>
              <a:buSzPts val="2500"/>
              <a:buFont typeface="Calibri"/>
              <a:buChar char="●"/>
            </a:pPr>
            <a:r>
              <a:rPr b="0" i="0" lang="en-US" sz="2500" u="none" cap="none" strike="noStrike">
                <a:solidFill>
                  <a:schemeClr val="dk1"/>
                </a:solidFill>
                <a:latin typeface="Calibri"/>
                <a:ea typeface="Calibri"/>
                <a:cs typeface="Calibri"/>
                <a:sym typeface="Calibri"/>
              </a:rPr>
              <a:t>Prediction accuracy is increased by adding a kernelized repulsion between ensemble members.</a:t>
            </a:r>
            <a:endParaRPr b="0" i="0" sz="2500" u="none" cap="none" strike="noStrike">
              <a:solidFill>
                <a:schemeClr val="dk1"/>
              </a:solidFill>
              <a:latin typeface="Calibri"/>
              <a:ea typeface="Calibri"/>
              <a:cs typeface="Calibri"/>
              <a:sym typeface="Calibri"/>
            </a:endParaRPr>
          </a:p>
        </p:txBody>
      </p:sp>
      <p:sp>
        <p:nvSpPr>
          <p:cNvPr id="233" name="Google Shape;233;g2d2b00f2ec8_5_20"/>
          <p:cNvSpPr txBox="1"/>
          <p:nvPr/>
        </p:nvSpPr>
        <p:spPr>
          <a:xfrm>
            <a:off x="477900" y="2766125"/>
            <a:ext cx="11097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4" name="Google Shape;234;g2d2b00f2ec8_5_20"/>
          <p:cNvSpPr txBox="1"/>
          <p:nvPr/>
        </p:nvSpPr>
        <p:spPr>
          <a:xfrm>
            <a:off x="426875" y="2766125"/>
            <a:ext cx="11013600" cy="13392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0"/>
              </a:spcBef>
              <a:spcAft>
                <a:spcPts val="0"/>
              </a:spcAft>
              <a:buClr>
                <a:schemeClr val="dk1"/>
              </a:buClr>
              <a:buSzPts val="2500"/>
              <a:buFont typeface="Calibri"/>
              <a:buChar char="●"/>
            </a:pPr>
            <a:r>
              <a:rPr b="0" i="0" lang="en-US" sz="2500" u="none" cap="none" strike="noStrike">
                <a:solidFill>
                  <a:schemeClr val="dk1"/>
                </a:solidFill>
                <a:latin typeface="Calibri"/>
                <a:ea typeface="Calibri"/>
                <a:cs typeface="Calibri"/>
                <a:sym typeface="Calibri"/>
              </a:rPr>
              <a:t>Functional repulsion among ensemble members can improve the quality of out-of-distribution detection on real-world data and estimated uncertainty            </a:t>
            </a:r>
            <a:endParaRPr b="0" i="0" sz="25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500"/>
              <a:buFont typeface="Arial"/>
              <a:buNone/>
            </a:pPr>
            <a:r>
              <a:rPr b="0" i="0" lang="en-US" sz="2500" u="none" cap="none" strike="noStrike">
                <a:solidFill>
                  <a:schemeClr val="dk1"/>
                </a:solidFill>
                <a:latin typeface="Calibri"/>
                <a:ea typeface="Calibri"/>
                <a:cs typeface="Calibri"/>
                <a:sym typeface="Calibri"/>
              </a:rPr>
              <a:t>      on basic synthetic instances.</a:t>
            </a:r>
            <a:endParaRPr b="0" i="0" sz="2500" u="none" cap="none" strike="noStrike">
              <a:solidFill>
                <a:schemeClr val="dk1"/>
              </a:solidFill>
              <a:latin typeface="Calibri"/>
              <a:ea typeface="Calibri"/>
              <a:cs typeface="Calibri"/>
              <a:sym typeface="Calibri"/>
            </a:endParaRPr>
          </a:p>
        </p:txBody>
      </p:sp>
      <p:sp>
        <p:nvSpPr>
          <p:cNvPr id="235" name="Google Shape;235;g2d2b00f2ec8_5_20"/>
          <p:cNvSpPr txBox="1"/>
          <p:nvPr/>
        </p:nvSpPr>
        <p:spPr>
          <a:xfrm>
            <a:off x="736550" y="4042775"/>
            <a:ext cx="9427800" cy="6156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800"/>
              <a:buFont typeface="Arial"/>
              <a:buNone/>
            </a:pPr>
            <a:r>
              <a:t/>
            </a:r>
            <a:endParaRPr b="0" i="0" sz="2800" u="none" cap="none" strike="noStrike">
              <a:solidFill>
                <a:schemeClr val="dk1"/>
              </a:solidFill>
              <a:latin typeface="Calibri"/>
              <a:ea typeface="Calibri"/>
              <a:cs typeface="Calibri"/>
              <a:sym typeface="Calibri"/>
            </a:endParaRPr>
          </a:p>
        </p:txBody>
      </p:sp>
      <p:sp>
        <p:nvSpPr>
          <p:cNvPr id="236" name="Google Shape;236;g2d2b00f2ec8_5_20"/>
          <p:cNvSpPr txBox="1"/>
          <p:nvPr/>
        </p:nvSpPr>
        <p:spPr>
          <a:xfrm>
            <a:off x="442925" y="4266500"/>
            <a:ext cx="10440600" cy="13392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100000"/>
              </a:lnSpc>
              <a:spcBef>
                <a:spcPts val="0"/>
              </a:spcBef>
              <a:spcAft>
                <a:spcPts val="0"/>
              </a:spcAft>
              <a:buClr>
                <a:schemeClr val="dk1"/>
              </a:buClr>
              <a:buSzPts val="2500"/>
              <a:buFont typeface="Calibri"/>
              <a:buChar char="●"/>
            </a:pPr>
            <a:r>
              <a:rPr b="0" i="0" lang="en-US" sz="2500" u="none" cap="none" strike="noStrike">
                <a:solidFill>
                  <a:schemeClr val="dk1"/>
                </a:solidFill>
                <a:latin typeface="Calibri"/>
                <a:ea typeface="Calibri"/>
                <a:cs typeface="Calibri"/>
                <a:sym typeface="Calibri"/>
              </a:rPr>
              <a:t>This provides a simple and principled way to improve upon standard deep ensemble methods, which are not well-understood in terms of their Bayesian interpretation.</a:t>
            </a:r>
            <a:endParaRPr b="0" i="0" sz="2500" u="none" cap="none" strike="noStrike">
              <a:solidFill>
                <a:schemeClr val="dk1"/>
              </a:solidFill>
              <a:latin typeface="Calibri"/>
              <a:ea typeface="Calibri"/>
              <a:cs typeface="Calibri"/>
              <a:sym typeface="Calibri"/>
            </a:endParaRPr>
          </a:p>
        </p:txBody>
      </p:sp>
      <p:sp>
        <p:nvSpPr>
          <p:cNvPr id="237" name="Google Shape;237;g2d2b00f2ec8_5_20"/>
          <p:cNvSpPr txBox="1"/>
          <p:nvPr/>
        </p:nvSpPr>
        <p:spPr>
          <a:xfrm>
            <a:off x="5805825" y="1315225"/>
            <a:ext cx="6426000" cy="5541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Average"/>
              <a:ea typeface="Average"/>
              <a:cs typeface="Average"/>
              <a:sym typeface="Average"/>
            </a:endParaRPr>
          </a:p>
        </p:txBody>
      </p:sp>
      <p:sp>
        <p:nvSpPr>
          <p:cNvPr id="238" name="Google Shape;238;g2d2b00f2ec8_5_20"/>
          <p:cNvSpPr txBox="1"/>
          <p:nvPr/>
        </p:nvSpPr>
        <p:spPr>
          <a:xfrm>
            <a:off x="300625" y="544875"/>
            <a:ext cx="6087600" cy="5850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600"/>
              <a:buFont typeface="Arial"/>
              <a:buNone/>
            </a:pPr>
            <a:r>
              <a:rPr b="0" i="1" lang="en-US" sz="2600" u="none" cap="none" strike="noStrike">
                <a:solidFill>
                  <a:schemeClr val="dk1"/>
                </a:solidFill>
                <a:latin typeface="Calibri"/>
                <a:ea typeface="Calibri"/>
                <a:cs typeface="Calibri"/>
                <a:sym typeface="Calibri"/>
              </a:rPr>
              <a:t>Benefits</a:t>
            </a:r>
            <a:endParaRPr b="0" i="1" sz="2600" u="none" cap="none" strike="noStrike">
              <a:solidFill>
                <a:schemeClr val="dk1"/>
              </a:solidFill>
              <a:latin typeface="Calibri"/>
              <a:ea typeface="Calibri"/>
              <a:cs typeface="Calibri"/>
              <a:sym typeface="Calibri"/>
            </a:endParaRP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sp>
        <p:nvSpPr>
          <p:cNvPr id="243" name="Google Shape;243;g2da8673ca15_3_3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Introduction to SNGP</a:t>
            </a:r>
            <a:endParaRPr>
              <a:latin typeface="Calibri"/>
              <a:ea typeface="Calibri"/>
              <a:cs typeface="Calibri"/>
              <a:sym typeface="Calibri"/>
            </a:endParaRPr>
          </a:p>
        </p:txBody>
      </p:sp>
      <p:sp>
        <p:nvSpPr>
          <p:cNvPr id="244" name="Google Shape;244;g2da8673ca15_3_35"/>
          <p:cNvSpPr txBox="1"/>
          <p:nvPr/>
        </p:nvSpPr>
        <p:spPr>
          <a:xfrm>
            <a:off x="736750" y="5138300"/>
            <a:ext cx="10855500" cy="1284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Given a deep residual network, SNGP makes two simple changes to the model:</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It applies spectral normalization to the hidden residual layers.</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It replaces the Dense output layer with a Gaussian process layer.</a:t>
            </a:r>
            <a:endParaRPr b="0" i="0" sz="2400" u="none" cap="none" strike="noStrike">
              <a:solidFill>
                <a:schemeClr val="dk1"/>
              </a:solidFill>
              <a:latin typeface="Calibri"/>
              <a:ea typeface="Calibri"/>
              <a:cs typeface="Calibri"/>
              <a:sym typeface="Calibri"/>
            </a:endParaRPr>
          </a:p>
        </p:txBody>
      </p:sp>
      <p:pic>
        <p:nvPicPr>
          <p:cNvPr id="245" name="Google Shape;245;g2da8673ca15_3_35"/>
          <p:cNvPicPr preferRelativeResize="0"/>
          <p:nvPr/>
        </p:nvPicPr>
        <p:blipFill rotWithShape="1">
          <a:blip r:embed="rId3">
            <a:alphaModFix/>
          </a:blip>
          <a:srcRect b="0" l="0" r="0" t="0"/>
          <a:stretch/>
        </p:blipFill>
        <p:spPr>
          <a:xfrm>
            <a:off x="1283076" y="1870576"/>
            <a:ext cx="9252575" cy="3023528"/>
          </a:xfrm>
          <a:prstGeom prst="rect">
            <a:avLst/>
          </a:prstGeom>
          <a:noFill/>
          <a:ln>
            <a:noFill/>
          </a:ln>
        </p:spPr>
      </p:pic>
      <p:sp>
        <p:nvSpPr>
          <p:cNvPr id="246" name="Google Shape;246;g2da8673ca15_3_35"/>
          <p:cNvSpPr txBox="1"/>
          <p:nvPr/>
        </p:nvSpPr>
        <p:spPr>
          <a:xfrm>
            <a:off x="497250" y="1315650"/>
            <a:ext cx="10577100" cy="1866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&lt;</a:t>
            </a:r>
            <a:r>
              <a:rPr b="0" i="1" lang="en-US" sz="1600" u="none" cap="none" strike="noStrike">
                <a:solidFill>
                  <a:schemeClr val="dk1"/>
                </a:solidFill>
                <a:latin typeface="Calibri"/>
                <a:ea typeface="Calibri"/>
                <a:cs typeface="Calibri"/>
                <a:sym typeface="Calibri"/>
              </a:rPr>
              <a:t>Simple and Principled Uncertainty Estimation with Deterministic Deep Learning via Distance Awareness</a:t>
            </a:r>
            <a:r>
              <a:rPr b="0" i="0" lang="en-US" sz="1600" u="none" cap="none" strike="noStrike">
                <a:solidFill>
                  <a:schemeClr val="dk1"/>
                </a:solidFill>
                <a:latin typeface="Calibri"/>
                <a:ea typeface="Calibri"/>
                <a:cs typeface="Calibri"/>
                <a:sym typeface="Calibri"/>
              </a:rPr>
              <a:t>&gt;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0" name="Shape 250"/>
        <p:cNvGrpSpPr/>
        <p:nvPr/>
      </p:nvGrpSpPr>
      <p:grpSpPr>
        <a:xfrm>
          <a:off x="0" y="0"/>
          <a:ext cx="0" cy="0"/>
          <a:chOff x="0" y="0"/>
          <a:chExt cx="0" cy="0"/>
        </a:xfrm>
      </p:grpSpPr>
      <p:sp>
        <p:nvSpPr>
          <p:cNvPr id="251" name="Google Shape;251;g2db18d60713_1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Distance Awareness </a:t>
            </a:r>
            <a:endParaRPr>
              <a:latin typeface="Calibri"/>
              <a:ea typeface="Calibri"/>
              <a:cs typeface="Calibri"/>
              <a:sym typeface="Calibri"/>
            </a:endParaRPr>
          </a:p>
        </p:txBody>
      </p:sp>
      <p:pic>
        <p:nvPicPr>
          <p:cNvPr id="252" name="Google Shape;252;g2db18d60713_1_0"/>
          <p:cNvPicPr preferRelativeResize="0"/>
          <p:nvPr/>
        </p:nvPicPr>
        <p:blipFill rotWithShape="1">
          <a:blip r:embed="rId3">
            <a:alphaModFix/>
          </a:blip>
          <a:srcRect b="0" l="0" r="0" t="0"/>
          <a:stretch/>
        </p:blipFill>
        <p:spPr>
          <a:xfrm>
            <a:off x="1312650" y="2451992"/>
            <a:ext cx="8486775" cy="981075"/>
          </a:xfrm>
          <a:prstGeom prst="rect">
            <a:avLst/>
          </a:prstGeom>
          <a:noFill/>
          <a:ln>
            <a:noFill/>
          </a:ln>
        </p:spPr>
      </p:pic>
      <p:sp>
        <p:nvSpPr>
          <p:cNvPr id="253" name="Google Shape;253;g2db18d60713_1_0"/>
          <p:cNvSpPr/>
          <p:nvPr/>
        </p:nvSpPr>
        <p:spPr>
          <a:xfrm>
            <a:off x="9095625" y="1875075"/>
            <a:ext cx="1408800" cy="5076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verage"/>
                <a:ea typeface="Average"/>
                <a:cs typeface="Average"/>
                <a:sym typeface="Average"/>
              </a:rPr>
              <a:t>Distance Aware</a:t>
            </a:r>
            <a:endParaRPr b="0" i="0" sz="1400" u="none" cap="none" strike="noStrike">
              <a:solidFill>
                <a:srgbClr val="000000"/>
              </a:solidFill>
              <a:latin typeface="Average"/>
              <a:ea typeface="Average"/>
              <a:cs typeface="Average"/>
              <a:sym typeface="Average"/>
            </a:endParaRPr>
          </a:p>
        </p:txBody>
      </p:sp>
      <p:sp>
        <p:nvSpPr>
          <p:cNvPr id="254" name="Google Shape;254;g2db18d60713_1_0"/>
          <p:cNvSpPr/>
          <p:nvPr/>
        </p:nvSpPr>
        <p:spPr>
          <a:xfrm>
            <a:off x="4868975" y="1875075"/>
            <a:ext cx="1864800" cy="466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verage"/>
                <a:ea typeface="Average"/>
                <a:cs typeface="Average"/>
                <a:sym typeface="Average"/>
              </a:rPr>
              <a:t>Distance Preserving</a:t>
            </a:r>
            <a:endParaRPr b="0" i="0" sz="1400" u="none" cap="none" strike="noStrike">
              <a:solidFill>
                <a:srgbClr val="000000"/>
              </a:solidFill>
              <a:latin typeface="Average"/>
              <a:ea typeface="Average"/>
              <a:cs typeface="Average"/>
              <a:sym typeface="Average"/>
            </a:endParaRPr>
          </a:p>
        </p:txBody>
      </p:sp>
      <p:pic>
        <p:nvPicPr>
          <p:cNvPr id="255" name="Google Shape;255;g2db18d60713_1_0"/>
          <p:cNvPicPr preferRelativeResize="0"/>
          <p:nvPr/>
        </p:nvPicPr>
        <p:blipFill rotWithShape="1">
          <a:blip r:embed="rId4">
            <a:alphaModFix/>
          </a:blip>
          <a:srcRect b="0" l="0" r="0" t="0"/>
          <a:stretch/>
        </p:blipFill>
        <p:spPr>
          <a:xfrm>
            <a:off x="374153" y="5034724"/>
            <a:ext cx="6095568" cy="639950"/>
          </a:xfrm>
          <a:prstGeom prst="rect">
            <a:avLst/>
          </a:prstGeom>
          <a:noFill/>
          <a:ln>
            <a:noFill/>
          </a:ln>
        </p:spPr>
      </p:pic>
      <p:sp>
        <p:nvSpPr>
          <p:cNvPr id="256" name="Google Shape;256;g2db18d60713_1_0"/>
          <p:cNvSpPr/>
          <p:nvPr/>
        </p:nvSpPr>
        <p:spPr>
          <a:xfrm>
            <a:off x="3449700" y="3504725"/>
            <a:ext cx="279600" cy="15300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pic>
        <p:nvPicPr>
          <p:cNvPr id="257" name="Google Shape;257;g2db18d60713_1_0"/>
          <p:cNvPicPr preferRelativeResize="0"/>
          <p:nvPr/>
        </p:nvPicPr>
        <p:blipFill rotWithShape="1">
          <a:blip r:embed="rId5">
            <a:alphaModFix/>
          </a:blip>
          <a:srcRect b="0" l="0" r="0" t="0"/>
          <a:stretch/>
        </p:blipFill>
        <p:spPr>
          <a:xfrm>
            <a:off x="4875000" y="3504724"/>
            <a:ext cx="1362075" cy="419100"/>
          </a:xfrm>
          <a:prstGeom prst="rect">
            <a:avLst/>
          </a:prstGeom>
          <a:noFill/>
          <a:ln>
            <a:noFill/>
          </a:ln>
        </p:spPr>
      </p:pic>
      <p:pic>
        <p:nvPicPr>
          <p:cNvPr id="258" name="Google Shape;258;g2db18d60713_1_0"/>
          <p:cNvPicPr preferRelativeResize="0"/>
          <p:nvPr/>
        </p:nvPicPr>
        <p:blipFill rotWithShape="1">
          <a:blip r:embed="rId6">
            <a:alphaModFix/>
          </a:blip>
          <a:srcRect b="0" l="0" r="0" t="0"/>
          <a:stretch/>
        </p:blipFill>
        <p:spPr>
          <a:xfrm>
            <a:off x="1312650" y="3499974"/>
            <a:ext cx="857250" cy="428625"/>
          </a:xfrm>
          <a:prstGeom prst="rect">
            <a:avLst/>
          </a:prstGeom>
          <a:noFill/>
          <a:ln>
            <a:noFill/>
          </a:ln>
        </p:spPr>
      </p:pic>
      <p:sp>
        <p:nvSpPr>
          <p:cNvPr id="259" name="Google Shape;259;g2db18d60713_1_0"/>
          <p:cNvSpPr txBox="1"/>
          <p:nvPr/>
        </p:nvSpPr>
        <p:spPr>
          <a:xfrm>
            <a:off x="486900" y="4589250"/>
            <a:ext cx="2610600" cy="3648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4"/>
                </a:solidFill>
                <a:latin typeface="Calibri"/>
                <a:ea typeface="Calibri"/>
                <a:cs typeface="Calibri"/>
                <a:sym typeface="Calibri"/>
              </a:rPr>
              <a:t>Bi-Lipschitz</a:t>
            </a:r>
            <a:endParaRPr b="0" i="0" sz="2400" u="none" cap="none" strike="noStrike">
              <a:solidFill>
                <a:schemeClr val="accent4"/>
              </a:solidFill>
              <a:latin typeface="Calibri"/>
              <a:ea typeface="Calibri"/>
              <a:cs typeface="Calibri"/>
              <a:sym typeface="Calibri"/>
            </a:endParaRPr>
          </a:p>
        </p:txBody>
      </p:sp>
      <p:sp>
        <p:nvSpPr>
          <p:cNvPr id="260" name="Google Shape;260;g2db18d60713_1_0"/>
          <p:cNvSpPr txBox="1"/>
          <p:nvPr/>
        </p:nvSpPr>
        <p:spPr>
          <a:xfrm>
            <a:off x="6733775" y="4287975"/>
            <a:ext cx="5086500" cy="219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None/>
            </a:pPr>
            <a:r>
              <a:rPr b="0" i="0" lang="en-US" sz="2400" u="none" cap="none" strike="noStrike">
                <a:solidFill>
                  <a:schemeClr val="accent4"/>
                </a:solidFill>
                <a:latin typeface="Calibri"/>
                <a:ea typeface="Calibri"/>
                <a:cs typeface="Calibri"/>
                <a:sym typeface="Calibri"/>
              </a:rPr>
              <a:t>RFF</a:t>
            </a:r>
            <a:r>
              <a:rPr b="0" i="0" lang="en-US" sz="2400" u="none" cap="none" strike="noStrike">
                <a:solidFill>
                  <a:schemeClr val="accent3"/>
                </a:solidFill>
                <a:latin typeface="Calibri"/>
                <a:ea typeface="Calibri"/>
                <a:cs typeface="Calibri"/>
                <a:sym typeface="Calibri"/>
              </a:rPr>
              <a:t>: </a:t>
            </a:r>
            <a:endParaRPr b="0" i="0" sz="24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700"/>
              <a:buFont typeface="Arial"/>
              <a:buNone/>
            </a:pPr>
            <a:r>
              <a:rPr b="0" i="0" lang="en-US" sz="1700" u="none" cap="none" strike="noStrike">
                <a:solidFill>
                  <a:schemeClr val="accent3"/>
                </a:solidFill>
                <a:latin typeface="Calibri"/>
                <a:ea typeface="Calibri"/>
                <a:cs typeface="Calibri"/>
                <a:sym typeface="Calibri"/>
              </a:rPr>
              <a:t>Mapping a kernel function to a low-dimensional space.</a:t>
            </a:r>
            <a:endParaRPr b="0" i="0" sz="17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None/>
            </a:pPr>
            <a:r>
              <a:rPr b="0" i="0" lang="en-US" sz="2400" u="none" cap="none" strike="noStrike">
                <a:solidFill>
                  <a:schemeClr val="accent4"/>
                </a:solidFill>
                <a:latin typeface="Calibri"/>
                <a:ea typeface="Calibri"/>
                <a:cs typeface="Calibri"/>
                <a:sym typeface="Calibri"/>
              </a:rPr>
              <a:t>Laplace Approximation:</a:t>
            </a:r>
            <a:endParaRPr b="0" i="0" sz="2400" u="none" cap="none" strike="noStrike">
              <a:solidFill>
                <a:schemeClr val="accent4"/>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700"/>
              <a:buFont typeface="Arial"/>
              <a:buNone/>
            </a:pPr>
            <a:r>
              <a:rPr b="0" i="0" lang="en-US" sz="1700" u="none" cap="none" strike="noStrike">
                <a:solidFill>
                  <a:schemeClr val="accent3"/>
                </a:solidFill>
                <a:latin typeface="Calibri"/>
                <a:ea typeface="Calibri"/>
                <a:cs typeface="Calibri"/>
                <a:sym typeface="Calibri"/>
              </a:rPr>
              <a:t>Approximating the posterior distribution with a Gaussian distribution</a:t>
            </a:r>
            <a:endParaRPr b="0" i="0" sz="1700" u="none" cap="none" strike="noStrike">
              <a:solidFill>
                <a:schemeClr val="accent3"/>
              </a:solidFill>
              <a:latin typeface="Calibri"/>
              <a:ea typeface="Calibri"/>
              <a:cs typeface="Calibri"/>
              <a:sym typeface="Calibri"/>
            </a:endParaRPr>
          </a:p>
        </p:txBody>
      </p:sp>
      <p:pic>
        <p:nvPicPr>
          <p:cNvPr id="261" name="Google Shape;261;g2db18d60713_1_0"/>
          <p:cNvPicPr preferRelativeResize="0"/>
          <p:nvPr/>
        </p:nvPicPr>
        <p:blipFill rotWithShape="1">
          <a:blip r:embed="rId7">
            <a:alphaModFix/>
          </a:blip>
          <a:srcRect b="0" l="0" r="0" t="0"/>
          <a:stretch/>
        </p:blipFill>
        <p:spPr>
          <a:xfrm>
            <a:off x="6733775" y="3433075"/>
            <a:ext cx="1709225" cy="295675"/>
          </a:xfrm>
          <a:prstGeom prst="rect">
            <a:avLst/>
          </a:prstGeom>
          <a:noFill/>
          <a:ln>
            <a:noFill/>
          </a:ln>
        </p:spPr>
      </p:pic>
      <p:sp>
        <p:nvSpPr>
          <p:cNvPr id="262" name="Google Shape;262;g2db18d60713_1_0"/>
          <p:cNvSpPr/>
          <p:nvPr/>
        </p:nvSpPr>
        <p:spPr>
          <a:xfrm>
            <a:off x="8028050" y="3754563"/>
            <a:ext cx="218100" cy="507600"/>
          </a:xfrm>
          <a:prstGeom prst="downArrow">
            <a:avLst>
              <a:gd fmla="val 50000" name="adj1"/>
              <a:gd fmla="val 50000" name="adj2"/>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63" name="Google Shape;263;g2db18d60713_1_0"/>
          <p:cNvSpPr txBox="1"/>
          <p:nvPr/>
        </p:nvSpPr>
        <p:spPr>
          <a:xfrm>
            <a:off x="374150" y="5674675"/>
            <a:ext cx="6024300" cy="63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accent4"/>
                </a:solidFill>
                <a:latin typeface="Calibri"/>
                <a:ea typeface="Calibri"/>
                <a:cs typeface="Calibri"/>
                <a:sym typeface="Calibri"/>
              </a:rPr>
              <a:t>- </a:t>
            </a:r>
            <a:r>
              <a:rPr b="0" i="0" lang="en-US" sz="1700" u="none" cap="none" strike="noStrike">
                <a:solidFill>
                  <a:schemeClr val="accent3"/>
                </a:solidFill>
                <a:latin typeface="Calibri"/>
                <a:ea typeface="Calibri"/>
                <a:cs typeface="Calibri"/>
                <a:sym typeface="Calibri"/>
              </a:rPr>
              <a:t>Achieving this by applying </a:t>
            </a:r>
            <a:r>
              <a:rPr b="0" i="0" lang="en-US" sz="1700" u="none" cap="none" strike="noStrike">
                <a:solidFill>
                  <a:schemeClr val="accent4"/>
                </a:solidFill>
                <a:latin typeface="Calibri"/>
                <a:ea typeface="Calibri"/>
                <a:cs typeface="Calibri"/>
                <a:sym typeface="Calibri"/>
              </a:rPr>
              <a:t>spectral normalization</a:t>
            </a:r>
            <a:r>
              <a:rPr b="0" i="0" lang="en-US" sz="1700" u="none" cap="none" strike="noStrike">
                <a:solidFill>
                  <a:schemeClr val="accent3"/>
                </a:solidFill>
                <a:latin typeface="Calibri"/>
                <a:ea typeface="Calibri"/>
                <a:cs typeface="Calibri"/>
                <a:sym typeface="Calibri"/>
              </a:rPr>
              <a:t> to the weight matrices.(largest singular value less than 1)</a:t>
            </a:r>
            <a:endParaRPr b="0" i="0" sz="17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700"/>
              <a:buFont typeface="Arial"/>
              <a:buNone/>
            </a:pPr>
            <a:r>
              <a:rPr b="0" i="0" lang="en-US" sz="1700" u="none" cap="none" strike="noStrike">
                <a:solidFill>
                  <a:schemeClr val="accent3"/>
                </a:solidFill>
                <a:latin typeface="Calibri"/>
                <a:ea typeface="Calibri"/>
                <a:cs typeface="Calibri"/>
                <a:sym typeface="Calibri"/>
              </a:rPr>
              <a:t>- Keeping the relative distance, ensuring that the function is contractive.</a:t>
            </a:r>
            <a:endParaRPr b="0" i="0" sz="1700" u="none" cap="none" strike="noStrike">
              <a:solidFill>
                <a:schemeClr val="accent3"/>
              </a:solidFill>
              <a:latin typeface="Calibri"/>
              <a:ea typeface="Calibri"/>
              <a:cs typeface="Calibri"/>
              <a:sym typeface="Calibri"/>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7" name="Shape 267"/>
        <p:cNvGrpSpPr/>
        <p:nvPr/>
      </p:nvGrpSpPr>
      <p:grpSpPr>
        <a:xfrm>
          <a:off x="0" y="0"/>
          <a:ext cx="0" cy="0"/>
          <a:chOff x="0" y="0"/>
          <a:chExt cx="0" cy="0"/>
        </a:xfrm>
      </p:grpSpPr>
      <p:sp>
        <p:nvSpPr>
          <p:cNvPr id="268" name="Google Shape;268;g2da8673ca15_3_66"/>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Methodology of SNGP </a:t>
            </a:r>
            <a:endParaRPr>
              <a:latin typeface="Calibri"/>
              <a:ea typeface="Calibri"/>
              <a:cs typeface="Calibri"/>
              <a:sym typeface="Calibri"/>
            </a:endParaRPr>
          </a:p>
        </p:txBody>
      </p:sp>
      <p:sp>
        <p:nvSpPr>
          <p:cNvPr id="269" name="Google Shape;269;g2da8673ca15_3_66"/>
          <p:cNvSpPr txBox="1"/>
          <p:nvPr/>
        </p:nvSpPr>
        <p:spPr>
          <a:xfrm>
            <a:off x="321275" y="3530625"/>
            <a:ext cx="5152500" cy="2407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1" lang="en-US" sz="2400" u="none" cap="none" strike="noStrike">
                <a:solidFill>
                  <a:schemeClr val="accent5"/>
                </a:solidFill>
                <a:latin typeface="Calibri"/>
                <a:ea typeface="Calibri"/>
                <a:cs typeface="Calibri"/>
                <a:sym typeface="Calibri"/>
              </a:rPr>
              <a:t>Distance-preserving Hidden Mapping</a:t>
            </a:r>
            <a:r>
              <a:rPr b="0" i="0" lang="en-US" sz="2400" u="none" cap="none" strike="noStrike">
                <a:solidFill>
                  <a:schemeClr val="accent5"/>
                </a:solidFill>
                <a:latin typeface="Calibri"/>
                <a:ea typeface="Calibri"/>
                <a:cs typeface="Calibri"/>
                <a:sym typeface="Calibri"/>
              </a:rPr>
              <a:t>:</a:t>
            </a:r>
            <a:endParaRPr b="0" i="0" sz="24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349250" lvl="0" marL="457200" marR="0" rtl="0" algn="l">
              <a:lnSpc>
                <a:spcPct val="100000"/>
              </a:lnSpc>
              <a:spcBef>
                <a:spcPts val="0"/>
              </a:spcBef>
              <a:spcAft>
                <a:spcPts val="0"/>
              </a:spcAft>
              <a:buClr>
                <a:schemeClr val="accent3"/>
              </a:buClr>
              <a:buSzPts val="1900"/>
              <a:buFont typeface="Calibri"/>
              <a:buChar char="-"/>
            </a:pPr>
            <a:r>
              <a:rPr b="0" i="0" lang="en-US" sz="1900" u="none" cap="none" strike="noStrike">
                <a:solidFill>
                  <a:schemeClr val="accent3"/>
                </a:solidFill>
                <a:latin typeface="Calibri"/>
                <a:ea typeface="Calibri"/>
                <a:cs typeface="Calibri"/>
                <a:sym typeface="Calibri"/>
              </a:rPr>
              <a:t>Applies </a:t>
            </a:r>
            <a:r>
              <a:rPr b="0" i="0" lang="en-US" sz="1900" u="none" cap="none" strike="noStrike">
                <a:solidFill>
                  <a:srgbClr val="6AA84F"/>
                </a:solidFill>
                <a:latin typeface="Calibri"/>
                <a:ea typeface="Calibri"/>
                <a:cs typeface="Calibri"/>
                <a:sym typeface="Calibri"/>
              </a:rPr>
              <a:t>spectral normalization</a:t>
            </a:r>
            <a:r>
              <a:rPr b="0" i="0" lang="en-US" sz="1900" u="none" cap="none" strike="noStrike">
                <a:solidFill>
                  <a:schemeClr val="accent3"/>
                </a:solidFill>
                <a:latin typeface="Calibri"/>
                <a:ea typeface="Calibri"/>
                <a:cs typeface="Calibri"/>
                <a:sym typeface="Calibri"/>
              </a:rPr>
              <a:t> to </a:t>
            </a:r>
            <a:r>
              <a:rPr b="0" i="0" lang="en-US" sz="1900" u="none" cap="none" strike="noStrike">
                <a:solidFill>
                  <a:srgbClr val="6AA84F"/>
                </a:solidFill>
                <a:latin typeface="Calibri"/>
                <a:ea typeface="Calibri"/>
                <a:cs typeface="Calibri"/>
                <a:sym typeface="Calibri"/>
              </a:rPr>
              <a:t>control the Lipschitz constant</a:t>
            </a:r>
            <a:r>
              <a:rPr b="0" i="0" lang="en-US" sz="1900" u="none" cap="none" strike="noStrike">
                <a:solidFill>
                  <a:schemeClr val="accent3"/>
                </a:solidFill>
                <a:latin typeface="Calibri"/>
                <a:ea typeface="Calibri"/>
                <a:cs typeface="Calibri"/>
                <a:sym typeface="Calibri"/>
              </a:rPr>
              <a:t> of the layers, </a:t>
            </a:r>
            <a:r>
              <a:rPr b="0" i="0" lang="en-US" sz="1900" u="none" cap="none" strike="noStrike">
                <a:solidFill>
                  <a:schemeClr val="lt2"/>
                </a:solidFill>
                <a:latin typeface="Calibri"/>
                <a:ea typeface="Calibri"/>
                <a:cs typeface="Calibri"/>
                <a:sym typeface="Calibri"/>
              </a:rPr>
              <a:t>ensuring</a:t>
            </a:r>
            <a:r>
              <a:rPr b="0" i="0" lang="en-US" sz="1900" u="none" cap="none" strike="noStrike">
                <a:solidFill>
                  <a:schemeClr val="accent4"/>
                </a:solidFill>
                <a:latin typeface="Calibri"/>
                <a:ea typeface="Calibri"/>
                <a:cs typeface="Calibri"/>
                <a:sym typeface="Calibri"/>
              </a:rPr>
              <a:t> meaningful distances are preserved</a:t>
            </a:r>
            <a:r>
              <a:rPr b="0" i="0" lang="en-US" sz="1900" u="none" cap="none" strike="noStrike">
                <a:solidFill>
                  <a:schemeClr val="accent3"/>
                </a:solidFill>
                <a:latin typeface="Calibri"/>
                <a:ea typeface="Calibri"/>
                <a:cs typeface="Calibri"/>
                <a:sym typeface="Calibri"/>
              </a:rPr>
              <a:t> through deeper layers of the network.</a:t>
            </a:r>
            <a:endParaRPr b="0" i="0" sz="1900" u="none" cap="none" strike="noStrike">
              <a:solidFill>
                <a:schemeClr val="accent3"/>
              </a:solidFill>
              <a:latin typeface="Calibri"/>
              <a:ea typeface="Calibri"/>
              <a:cs typeface="Calibri"/>
              <a:sym typeface="Calibri"/>
            </a:endParaRPr>
          </a:p>
        </p:txBody>
      </p:sp>
      <p:pic>
        <p:nvPicPr>
          <p:cNvPr id="270" name="Google Shape;270;g2da8673ca15_3_66"/>
          <p:cNvPicPr preferRelativeResize="0"/>
          <p:nvPr/>
        </p:nvPicPr>
        <p:blipFill rotWithShape="1">
          <a:blip r:embed="rId3">
            <a:alphaModFix/>
          </a:blip>
          <a:srcRect b="0" l="0" r="0" t="0"/>
          <a:stretch/>
        </p:blipFill>
        <p:spPr>
          <a:xfrm>
            <a:off x="1312675" y="1817892"/>
            <a:ext cx="8237480" cy="969658"/>
          </a:xfrm>
          <a:prstGeom prst="rect">
            <a:avLst/>
          </a:prstGeom>
          <a:noFill/>
          <a:ln>
            <a:noFill/>
          </a:ln>
        </p:spPr>
      </p:pic>
      <p:sp>
        <p:nvSpPr>
          <p:cNvPr id="271" name="Google Shape;271;g2da8673ca15_3_66"/>
          <p:cNvSpPr txBox="1"/>
          <p:nvPr/>
        </p:nvSpPr>
        <p:spPr>
          <a:xfrm>
            <a:off x="5686600" y="3530625"/>
            <a:ext cx="6089700" cy="28863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3"/>
                </a:solidFill>
                <a:latin typeface="Calibri"/>
                <a:ea typeface="Calibri"/>
                <a:cs typeface="Calibri"/>
                <a:sym typeface="Calibri"/>
              </a:rPr>
              <a:t>    </a:t>
            </a:r>
            <a:r>
              <a:rPr b="0" i="0" lang="en-US" sz="2400" u="none" cap="none" strike="noStrike">
                <a:solidFill>
                  <a:schemeClr val="accent5"/>
                </a:solidFill>
                <a:latin typeface="Calibri"/>
                <a:ea typeface="Calibri"/>
                <a:cs typeface="Calibri"/>
                <a:sym typeface="Calibri"/>
              </a:rPr>
              <a:t> </a:t>
            </a:r>
            <a:r>
              <a:rPr b="0" i="1" lang="en-US" sz="2400" u="none" cap="none" strike="noStrike">
                <a:solidFill>
                  <a:schemeClr val="accent5"/>
                </a:solidFill>
                <a:latin typeface="Calibri"/>
                <a:ea typeface="Calibri"/>
                <a:cs typeface="Calibri"/>
                <a:sym typeface="Calibri"/>
              </a:rPr>
              <a:t>Distance-aware Output Layer:</a:t>
            </a:r>
            <a:endParaRPr b="0" i="1" sz="24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349250" lvl="0" marL="457200" marR="0" rtl="0" algn="l">
              <a:lnSpc>
                <a:spcPct val="100000"/>
              </a:lnSpc>
              <a:spcBef>
                <a:spcPts val="0"/>
              </a:spcBef>
              <a:spcAft>
                <a:spcPts val="0"/>
              </a:spcAft>
              <a:buClr>
                <a:schemeClr val="accent3"/>
              </a:buClr>
              <a:buSzPts val="1900"/>
              <a:buFont typeface="Calibri"/>
              <a:buChar char="-"/>
            </a:pPr>
            <a:r>
              <a:rPr b="0" i="0" lang="en-US" sz="1900" u="none" cap="none" strike="noStrike">
                <a:solidFill>
                  <a:schemeClr val="accent3"/>
                </a:solidFill>
                <a:latin typeface="Calibri"/>
                <a:ea typeface="Calibri"/>
                <a:cs typeface="Calibri"/>
                <a:sym typeface="Calibri"/>
              </a:rPr>
              <a:t>Replaces traditional dense output layers with a </a:t>
            </a:r>
            <a:r>
              <a:rPr b="0" i="0" lang="en-US" sz="1900" u="none" cap="none" strike="noStrike">
                <a:solidFill>
                  <a:srgbClr val="6AA84F"/>
                </a:solidFill>
                <a:highlight>
                  <a:schemeClr val="lt1"/>
                </a:highlight>
                <a:latin typeface="Calibri"/>
                <a:ea typeface="Calibri"/>
                <a:cs typeface="Calibri"/>
                <a:sym typeface="Calibri"/>
              </a:rPr>
              <a:t>GP using an RBF kernel</a:t>
            </a:r>
            <a:r>
              <a:rPr b="0" i="0" lang="en-US" sz="1900" u="none" cap="none" strike="noStrike">
                <a:solidFill>
                  <a:schemeClr val="accent3"/>
                </a:solidFill>
                <a:latin typeface="Calibri"/>
                <a:ea typeface="Calibri"/>
                <a:cs typeface="Calibri"/>
                <a:sym typeface="Calibri"/>
              </a:rPr>
              <a:t>,  enhancing the model's </a:t>
            </a:r>
            <a:r>
              <a:rPr b="0" i="0" lang="en-US" sz="1900" u="none" cap="none" strike="noStrike">
                <a:solidFill>
                  <a:schemeClr val="accent4"/>
                </a:solidFill>
                <a:latin typeface="Calibri"/>
                <a:ea typeface="Calibri"/>
                <a:cs typeface="Calibri"/>
                <a:sym typeface="Calibri"/>
              </a:rPr>
              <a:t>ability to judge distances</a:t>
            </a:r>
            <a:r>
              <a:rPr b="0" i="0" lang="en-US" sz="1900" u="none" cap="none" strike="noStrike">
                <a:solidFill>
                  <a:schemeClr val="accent3"/>
                </a:solidFill>
                <a:latin typeface="Calibri"/>
                <a:ea typeface="Calibri"/>
                <a:cs typeface="Calibri"/>
                <a:sym typeface="Calibri"/>
              </a:rPr>
              <a:t> in feature space.</a:t>
            </a:r>
            <a:endParaRPr b="0" i="0" sz="19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900"/>
              <a:buFont typeface="Arial"/>
              <a:buNone/>
            </a:pPr>
            <a:r>
              <a:t/>
            </a:r>
            <a:endParaRPr b="0" i="0" sz="1900" u="none" cap="none" strike="noStrike">
              <a:solidFill>
                <a:schemeClr val="accent3"/>
              </a:solidFill>
              <a:latin typeface="Calibri"/>
              <a:ea typeface="Calibri"/>
              <a:cs typeface="Calibri"/>
              <a:sym typeface="Calibri"/>
            </a:endParaRPr>
          </a:p>
          <a:p>
            <a:pPr indent="-349250" lvl="0" marL="457200" marR="0" rtl="0" algn="l">
              <a:lnSpc>
                <a:spcPct val="100000"/>
              </a:lnSpc>
              <a:spcBef>
                <a:spcPts val="0"/>
              </a:spcBef>
              <a:spcAft>
                <a:spcPts val="0"/>
              </a:spcAft>
              <a:buClr>
                <a:schemeClr val="accent3"/>
              </a:buClr>
              <a:buSzPts val="1900"/>
              <a:buFont typeface="Calibri"/>
              <a:buChar char="-"/>
            </a:pPr>
            <a:r>
              <a:rPr b="0" i="0" lang="en-US" sz="1900" u="none" cap="none" strike="noStrike">
                <a:solidFill>
                  <a:schemeClr val="accent3"/>
                </a:solidFill>
                <a:latin typeface="Calibri"/>
                <a:ea typeface="Calibri"/>
                <a:cs typeface="Calibri"/>
                <a:sym typeface="Calibri"/>
              </a:rPr>
              <a:t>Employs </a:t>
            </a:r>
            <a:r>
              <a:rPr b="0" i="0" lang="en-US" sz="1900" u="none" cap="none" strike="noStrike">
                <a:solidFill>
                  <a:srgbClr val="6AA84F"/>
                </a:solidFill>
                <a:latin typeface="Calibri"/>
                <a:ea typeface="Calibri"/>
                <a:cs typeface="Calibri"/>
                <a:sym typeface="Calibri"/>
              </a:rPr>
              <a:t>Laplace approximation</a:t>
            </a:r>
            <a:r>
              <a:rPr b="0" i="0" lang="en-US" sz="1900" u="none" cap="none" strike="noStrike">
                <a:solidFill>
                  <a:schemeClr val="accent3"/>
                </a:solidFill>
                <a:latin typeface="Calibri"/>
                <a:ea typeface="Calibri"/>
                <a:cs typeface="Calibri"/>
                <a:sym typeface="Calibri"/>
              </a:rPr>
              <a:t> for </a:t>
            </a:r>
            <a:r>
              <a:rPr b="0" i="0" lang="en-US" sz="1900" u="none" cap="none" strike="noStrike">
                <a:solidFill>
                  <a:schemeClr val="accent4"/>
                </a:solidFill>
                <a:latin typeface="Calibri"/>
                <a:ea typeface="Calibri"/>
                <a:cs typeface="Calibri"/>
                <a:sym typeface="Calibri"/>
              </a:rPr>
              <a:t>scalability</a:t>
            </a:r>
            <a:r>
              <a:rPr b="0" i="0" lang="en-US" sz="1900" u="none" cap="none" strike="noStrike">
                <a:solidFill>
                  <a:schemeClr val="accent3"/>
                </a:solidFill>
                <a:latin typeface="Calibri"/>
                <a:ea typeface="Calibri"/>
                <a:cs typeface="Calibri"/>
                <a:sym typeface="Calibri"/>
              </a:rPr>
              <a:t> in training and prediction.</a:t>
            </a:r>
            <a:endParaRPr b="0" i="0" sz="19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p:txBody>
      </p:sp>
      <p:sp>
        <p:nvSpPr>
          <p:cNvPr id="272" name="Google Shape;272;g2da8673ca15_3_66"/>
          <p:cNvSpPr/>
          <p:nvPr/>
        </p:nvSpPr>
        <p:spPr>
          <a:xfrm>
            <a:off x="1614875" y="2642525"/>
            <a:ext cx="3785700" cy="6711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73" name="Google Shape;273;g2da8673ca15_3_66"/>
          <p:cNvSpPr/>
          <p:nvPr/>
        </p:nvSpPr>
        <p:spPr>
          <a:xfrm>
            <a:off x="5567000" y="2694330"/>
            <a:ext cx="3785700" cy="671100"/>
          </a:xfrm>
          <a:prstGeom prst="curvedUpArrow">
            <a:avLst>
              <a:gd fmla="val 25000" name="adj1"/>
              <a:gd fmla="val 50000" name="adj2"/>
              <a:gd fmla="val 2500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verage"/>
              <a:ea typeface="Average"/>
              <a:cs typeface="Average"/>
              <a:sym typeface="Average"/>
            </a:endParaRPr>
          </a:p>
        </p:txBody>
      </p:sp>
      <p:sp>
        <p:nvSpPr>
          <p:cNvPr id="274" name="Google Shape;274;g2da8673ca15_3_66"/>
          <p:cNvSpPr/>
          <p:nvPr/>
        </p:nvSpPr>
        <p:spPr>
          <a:xfrm>
            <a:off x="5163550" y="1252425"/>
            <a:ext cx="1864800" cy="4662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verage"/>
                <a:ea typeface="Average"/>
                <a:cs typeface="Average"/>
                <a:sym typeface="Average"/>
              </a:rPr>
              <a:t>Distance Preserving</a:t>
            </a:r>
            <a:endParaRPr b="0" i="0" sz="1400" u="none" cap="none" strike="noStrike">
              <a:solidFill>
                <a:srgbClr val="000000"/>
              </a:solidFill>
              <a:latin typeface="Average"/>
              <a:ea typeface="Average"/>
              <a:cs typeface="Average"/>
              <a:sym typeface="Average"/>
            </a:endParaRPr>
          </a:p>
        </p:txBody>
      </p:sp>
      <p:sp>
        <p:nvSpPr>
          <p:cNvPr id="275" name="Google Shape;275;g2da8673ca15_3_66"/>
          <p:cNvSpPr/>
          <p:nvPr/>
        </p:nvSpPr>
        <p:spPr>
          <a:xfrm>
            <a:off x="8937800" y="1231725"/>
            <a:ext cx="1408800" cy="507600"/>
          </a:xfrm>
          <a:prstGeom prst="wedgeRoundRectCallout">
            <a:avLst>
              <a:gd fmla="val -20833" name="adj1"/>
              <a:gd fmla="val 62500" name="adj2"/>
              <a:gd fmla="val 0" name="adj3"/>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verage"/>
                <a:ea typeface="Average"/>
                <a:cs typeface="Average"/>
                <a:sym typeface="Average"/>
              </a:rPr>
              <a:t>Distance Aware</a:t>
            </a:r>
            <a:endParaRPr b="0" i="0" sz="1400" u="none" cap="none" strike="noStrike">
              <a:solidFill>
                <a:srgbClr val="000000"/>
              </a:solidFill>
              <a:latin typeface="Average"/>
              <a:ea typeface="Average"/>
              <a:cs typeface="Average"/>
              <a:sym typeface="Average"/>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9" name="Shape 279"/>
        <p:cNvGrpSpPr/>
        <p:nvPr/>
      </p:nvGrpSpPr>
      <p:grpSpPr>
        <a:xfrm>
          <a:off x="0" y="0"/>
          <a:ext cx="0" cy="0"/>
          <a:chOff x="0" y="0"/>
          <a:chExt cx="0" cy="0"/>
        </a:xfrm>
      </p:grpSpPr>
      <p:sp>
        <p:nvSpPr>
          <p:cNvPr id="280" name="Google Shape;280;g2db18d60713_5_0"/>
          <p:cNvSpPr txBox="1"/>
          <p:nvPr>
            <p:ph type="title"/>
          </p:nvPr>
        </p:nvSpPr>
        <p:spPr>
          <a:xfrm>
            <a:off x="415600" y="593367"/>
            <a:ext cx="11360700" cy="763500"/>
          </a:xfrm>
          <a:prstGeom prst="rect">
            <a:avLst/>
          </a:prstGeom>
          <a:noFill/>
          <a:ln cap="flat" cmpd="sng" w="9525">
            <a:solidFill>
              <a:schemeClr val="lt1"/>
            </a:solidFill>
            <a:prstDash val="solid"/>
            <a:round/>
            <a:headEnd len="sm" w="sm" type="none"/>
            <a:tailEnd len="sm" w="sm" type="none"/>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Hyperparameters </a:t>
            </a:r>
            <a:endParaRPr>
              <a:latin typeface="Calibri"/>
              <a:ea typeface="Calibri"/>
              <a:cs typeface="Calibri"/>
              <a:sym typeface="Calibri"/>
            </a:endParaRPr>
          </a:p>
          <a:p>
            <a:pPr indent="0" lvl="0" marL="0" rtl="0" algn="l">
              <a:lnSpc>
                <a:spcPct val="100000"/>
              </a:lnSpc>
              <a:spcBef>
                <a:spcPts val="0"/>
              </a:spcBef>
              <a:spcAft>
                <a:spcPts val="0"/>
              </a:spcAft>
              <a:buSzPct val="111111"/>
              <a:buNone/>
            </a:pPr>
            <a:r>
              <a:t/>
            </a:r>
            <a:endParaRPr>
              <a:latin typeface="Calibri"/>
              <a:ea typeface="Calibri"/>
              <a:cs typeface="Calibri"/>
              <a:sym typeface="Calibri"/>
            </a:endParaRPr>
          </a:p>
          <a:p>
            <a:pPr indent="0" lvl="0" marL="0" rtl="0" algn="l">
              <a:lnSpc>
                <a:spcPct val="100000"/>
              </a:lnSpc>
              <a:spcBef>
                <a:spcPts val="0"/>
              </a:spcBef>
              <a:spcAft>
                <a:spcPts val="0"/>
              </a:spcAft>
              <a:buSzPct val="166708"/>
              <a:buNone/>
            </a:pPr>
            <a:r>
              <a:t/>
            </a:r>
            <a:endParaRPr sz="2666">
              <a:latin typeface="Calibri"/>
              <a:ea typeface="Calibri"/>
              <a:cs typeface="Calibri"/>
              <a:sym typeface="Calibri"/>
            </a:endParaRPr>
          </a:p>
          <a:p>
            <a:pPr indent="0" lvl="0" marL="0" rtl="0" algn="l">
              <a:lnSpc>
                <a:spcPct val="100000"/>
              </a:lnSpc>
              <a:spcBef>
                <a:spcPts val="0"/>
              </a:spcBef>
              <a:spcAft>
                <a:spcPts val="0"/>
              </a:spcAft>
              <a:buSzPct val="166708"/>
              <a:buNone/>
            </a:pPr>
            <a:r>
              <a:t/>
            </a:r>
            <a:endParaRPr sz="2666">
              <a:latin typeface="Calibri"/>
              <a:ea typeface="Calibri"/>
              <a:cs typeface="Calibri"/>
              <a:sym typeface="Calibri"/>
            </a:endParaRPr>
          </a:p>
          <a:p>
            <a:pPr indent="0" lvl="0" marL="457200" rtl="0" algn="l">
              <a:lnSpc>
                <a:spcPct val="100000"/>
              </a:lnSpc>
              <a:spcBef>
                <a:spcPts val="0"/>
              </a:spcBef>
              <a:spcAft>
                <a:spcPts val="0"/>
              </a:spcAft>
              <a:buSzPct val="166708"/>
              <a:buNone/>
            </a:pPr>
            <a:r>
              <a:t/>
            </a:r>
            <a:endParaRPr sz="2666">
              <a:latin typeface="Calibri"/>
              <a:ea typeface="Calibri"/>
              <a:cs typeface="Calibri"/>
              <a:sym typeface="Calibri"/>
            </a:endParaRPr>
          </a:p>
          <a:p>
            <a:pPr indent="0" lvl="0" marL="0" rtl="0" algn="l">
              <a:lnSpc>
                <a:spcPct val="100000"/>
              </a:lnSpc>
              <a:spcBef>
                <a:spcPts val="0"/>
              </a:spcBef>
              <a:spcAft>
                <a:spcPts val="0"/>
              </a:spcAft>
              <a:buSzPct val="167714"/>
              <a:buNone/>
            </a:pPr>
            <a:r>
              <a:t/>
            </a:r>
            <a:endParaRPr sz="2650">
              <a:latin typeface="Calibri"/>
              <a:ea typeface="Calibri"/>
              <a:cs typeface="Calibri"/>
              <a:sym typeface="Calibri"/>
            </a:endParaRPr>
          </a:p>
        </p:txBody>
      </p:sp>
      <p:sp>
        <p:nvSpPr>
          <p:cNvPr id="281" name="Google Shape;281;g2db18d60713_5_0"/>
          <p:cNvSpPr txBox="1"/>
          <p:nvPr/>
        </p:nvSpPr>
        <p:spPr>
          <a:xfrm>
            <a:off x="347250" y="3112300"/>
            <a:ext cx="11291700" cy="15690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5"/>
                </a:solidFill>
                <a:latin typeface="Calibri"/>
                <a:ea typeface="Calibri"/>
                <a:cs typeface="Calibri"/>
                <a:sym typeface="Calibri"/>
              </a:rPr>
              <a:t>SN contains two hyperparameters-</a:t>
            </a:r>
            <a:endParaRPr b="0" i="0" sz="2400" u="none" cap="none" strike="noStrike">
              <a:solidFill>
                <a:schemeClr val="accent5"/>
              </a:solidFill>
              <a:latin typeface="Calibri"/>
              <a:ea typeface="Calibri"/>
              <a:cs typeface="Calibri"/>
              <a:sym typeface="Calibri"/>
            </a:endParaRPr>
          </a:p>
          <a:p>
            <a:pPr indent="-355600" lvl="0" marL="457200" marR="0" rtl="0" algn="l">
              <a:lnSpc>
                <a:spcPct val="100000"/>
              </a:lnSpc>
              <a:spcBef>
                <a:spcPts val="0"/>
              </a:spcBef>
              <a:spcAft>
                <a:spcPts val="0"/>
              </a:spcAft>
              <a:buClr>
                <a:schemeClr val="accent3"/>
              </a:buClr>
              <a:buSzPts val="2000"/>
              <a:buFont typeface="Calibri"/>
              <a:buChar char="●"/>
            </a:pPr>
            <a:r>
              <a:rPr b="0" i="0" lang="en-US" sz="2000" u="none" cap="none" strike="noStrike">
                <a:solidFill>
                  <a:schemeClr val="accent3"/>
                </a:solidFill>
                <a:latin typeface="Calibri"/>
                <a:ea typeface="Calibri"/>
                <a:cs typeface="Calibri"/>
                <a:sym typeface="Calibri"/>
              </a:rPr>
              <a:t>Number of </a:t>
            </a:r>
            <a:r>
              <a:rPr b="0" i="0" lang="en-US" sz="2000" u="none" cap="none" strike="noStrike">
                <a:solidFill>
                  <a:srgbClr val="6AA84F"/>
                </a:solidFill>
                <a:latin typeface="Calibri"/>
                <a:ea typeface="Calibri"/>
                <a:cs typeface="Calibri"/>
                <a:sym typeface="Calibri"/>
              </a:rPr>
              <a:t>power iterations</a:t>
            </a:r>
            <a:r>
              <a:rPr b="0" i="0" lang="en-US" sz="2000" u="none" cap="none" strike="noStrike">
                <a:solidFill>
                  <a:schemeClr val="accent3"/>
                </a:solidFill>
                <a:latin typeface="Calibri"/>
                <a:ea typeface="Calibri"/>
                <a:cs typeface="Calibri"/>
                <a:sym typeface="Calibri"/>
              </a:rPr>
              <a:t>(can be fixed to one.)</a:t>
            </a:r>
            <a:endParaRPr b="0" i="0" sz="2000" u="none" cap="none" strike="noStrike">
              <a:solidFill>
                <a:schemeClr val="accent3"/>
              </a:solidFill>
              <a:latin typeface="Calibri"/>
              <a:ea typeface="Calibri"/>
              <a:cs typeface="Calibri"/>
              <a:sym typeface="Calibri"/>
            </a:endParaRPr>
          </a:p>
          <a:p>
            <a:pPr indent="-355600" lvl="0" marL="457200" marR="0" rtl="0" algn="l">
              <a:lnSpc>
                <a:spcPct val="100000"/>
              </a:lnSpc>
              <a:spcBef>
                <a:spcPts val="0"/>
              </a:spcBef>
              <a:spcAft>
                <a:spcPts val="0"/>
              </a:spcAft>
              <a:buClr>
                <a:schemeClr val="accent3"/>
              </a:buClr>
              <a:buSzPts val="2000"/>
              <a:buFont typeface="Calibri"/>
              <a:buChar char="●"/>
            </a:pPr>
            <a:r>
              <a:rPr b="0" i="0" lang="en-US" sz="2000" u="none" cap="none" strike="noStrike">
                <a:solidFill>
                  <a:srgbClr val="6AA84F"/>
                </a:solidFill>
                <a:latin typeface="Calibri"/>
                <a:ea typeface="Calibri"/>
                <a:cs typeface="Calibri"/>
                <a:sym typeface="Calibri"/>
              </a:rPr>
              <a:t>Upper bound</a:t>
            </a:r>
            <a:r>
              <a:rPr b="0" i="0" lang="en-US" sz="2000" u="none" cap="none" strike="noStrike">
                <a:solidFill>
                  <a:schemeClr val="accent3"/>
                </a:solidFill>
                <a:latin typeface="Calibri"/>
                <a:ea typeface="Calibri"/>
                <a:cs typeface="Calibri"/>
                <a:sym typeface="Calibri"/>
              </a:rPr>
              <a:t> for the </a:t>
            </a:r>
            <a:r>
              <a:rPr b="0" i="0" lang="en-US" sz="2000" u="none" cap="none" strike="noStrike">
                <a:solidFill>
                  <a:srgbClr val="6AA84F"/>
                </a:solidFill>
                <a:latin typeface="Calibri"/>
                <a:ea typeface="Calibri"/>
                <a:cs typeface="Calibri"/>
                <a:sym typeface="Calibri"/>
              </a:rPr>
              <a:t>spectral norm</a:t>
            </a:r>
            <a:r>
              <a:rPr b="0" i="0" lang="en-US" sz="2000" u="none" cap="none" strike="noStrike">
                <a:solidFill>
                  <a:schemeClr val="accent3"/>
                </a:solidFill>
                <a:latin typeface="Calibri"/>
                <a:ea typeface="Calibri"/>
                <a:cs typeface="Calibri"/>
                <a:sym typeface="Calibri"/>
              </a:rPr>
              <a:t>.(</a:t>
            </a:r>
            <a:r>
              <a:rPr b="0" i="0" lang="en-US" sz="2000" u="none" cap="none" strike="noStrike">
                <a:solidFill>
                  <a:srgbClr val="64FFDA"/>
                </a:solidFill>
                <a:latin typeface="Calibri"/>
                <a:ea typeface="Calibri"/>
                <a:cs typeface="Calibri"/>
                <a:sym typeface="Calibri"/>
              </a:rPr>
              <a:t>Controls</a:t>
            </a:r>
            <a:r>
              <a:rPr b="0" i="0" lang="en-US" sz="2000" u="none" cap="none" strike="noStrike">
                <a:solidFill>
                  <a:schemeClr val="accent3"/>
                </a:solidFill>
                <a:latin typeface="Calibri"/>
                <a:ea typeface="Calibri"/>
                <a:cs typeface="Calibri"/>
                <a:sym typeface="Calibri"/>
              </a:rPr>
              <a:t> </a:t>
            </a:r>
            <a:r>
              <a:rPr b="0" i="0" lang="en-US" sz="2000" u="none" cap="none" strike="noStrike">
                <a:solidFill>
                  <a:srgbClr val="64FFDA"/>
                </a:solidFill>
                <a:latin typeface="Calibri"/>
                <a:ea typeface="Calibri"/>
                <a:cs typeface="Calibri"/>
                <a:sym typeface="Calibri"/>
              </a:rPr>
              <a:t>the tradeoff</a:t>
            </a:r>
            <a:r>
              <a:rPr b="0" i="0" lang="en-US" sz="2000" u="none" cap="none" strike="noStrike">
                <a:solidFill>
                  <a:schemeClr val="accent3"/>
                </a:solidFill>
                <a:latin typeface="Calibri"/>
                <a:ea typeface="Calibri"/>
                <a:cs typeface="Calibri"/>
                <a:sym typeface="Calibri"/>
              </a:rPr>
              <a:t> between </a:t>
            </a:r>
            <a:r>
              <a:rPr b="0" i="0" lang="en-US" sz="2000" u="none" cap="none" strike="noStrike">
                <a:solidFill>
                  <a:schemeClr val="accent4"/>
                </a:solidFill>
                <a:latin typeface="Calibri"/>
                <a:ea typeface="Calibri"/>
                <a:cs typeface="Calibri"/>
                <a:sym typeface="Calibri"/>
              </a:rPr>
              <a:t>expressiveness</a:t>
            </a:r>
            <a:r>
              <a:rPr b="0" i="0" lang="en-US" sz="2000" u="none" cap="none" strike="noStrike">
                <a:solidFill>
                  <a:schemeClr val="accent3"/>
                </a:solidFill>
                <a:latin typeface="Calibri"/>
                <a:ea typeface="Calibri"/>
                <a:cs typeface="Calibri"/>
                <a:sym typeface="Calibri"/>
              </a:rPr>
              <a:t> and </a:t>
            </a:r>
            <a:r>
              <a:rPr b="0" i="0" lang="en-US" sz="2000" u="none" cap="none" strike="noStrike">
                <a:solidFill>
                  <a:schemeClr val="accent4"/>
                </a:solidFill>
                <a:latin typeface="Calibri"/>
                <a:ea typeface="Calibri"/>
                <a:cs typeface="Calibri"/>
                <a:sym typeface="Calibri"/>
              </a:rPr>
              <a:t>distance awareness</a:t>
            </a:r>
            <a:r>
              <a:rPr b="0" i="0" lang="en-US" sz="2000" u="none" cap="none" strike="noStrike">
                <a:solidFill>
                  <a:schemeClr val="accent3"/>
                </a:solidFill>
                <a:latin typeface="Calibri"/>
                <a:ea typeface="Calibri"/>
                <a:cs typeface="Calibri"/>
                <a:sym typeface="Calibri"/>
              </a:rPr>
              <a:t>)</a:t>
            </a:r>
            <a:endParaRPr b="0" i="0" sz="20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p:txBody>
      </p:sp>
      <p:sp>
        <p:nvSpPr>
          <p:cNvPr id="282" name="Google Shape;282;g2db18d60713_5_0"/>
          <p:cNvSpPr txBox="1"/>
          <p:nvPr/>
        </p:nvSpPr>
        <p:spPr>
          <a:xfrm>
            <a:off x="495150" y="4835625"/>
            <a:ext cx="11201700" cy="1813500"/>
          </a:xfrm>
          <a:prstGeom prst="rect">
            <a:avLst/>
          </a:prstGeom>
          <a:noFill/>
          <a:ln cap="flat" cmpd="sng" w="9525">
            <a:solidFill>
              <a:schemeClr val="lt1"/>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5"/>
                </a:solidFill>
                <a:latin typeface="Calibri"/>
                <a:ea typeface="Calibri"/>
                <a:cs typeface="Calibri"/>
                <a:sym typeface="Calibri"/>
              </a:rPr>
              <a:t>GP layer consists of three hyperparameters</a:t>
            </a:r>
            <a:endParaRPr b="0" i="0" sz="2400" u="none" cap="none" strike="noStrike">
              <a:solidFill>
                <a:schemeClr val="accent5"/>
              </a:solidFill>
              <a:latin typeface="Calibri"/>
              <a:ea typeface="Calibri"/>
              <a:cs typeface="Calibri"/>
              <a:sym typeface="Calibri"/>
            </a:endParaRPr>
          </a:p>
          <a:p>
            <a:pPr indent="-355600" lvl="0" marL="457200" marR="0" rtl="0" algn="l">
              <a:lnSpc>
                <a:spcPct val="100000"/>
              </a:lnSpc>
              <a:spcBef>
                <a:spcPts val="0"/>
              </a:spcBef>
              <a:spcAft>
                <a:spcPts val="0"/>
              </a:spcAft>
              <a:buClr>
                <a:schemeClr val="accent3"/>
              </a:buClr>
              <a:buSzPts val="2000"/>
              <a:buFont typeface="Calibri"/>
              <a:buChar char="●"/>
            </a:pPr>
            <a:r>
              <a:rPr b="0" i="0" lang="en-US" sz="2000" u="none" cap="none" strike="noStrike">
                <a:solidFill>
                  <a:srgbClr val="6AA84F"/>
                </a:solidFill>
                <a:latin typeface="Calibri"/>
                <a:ea typeface="Calibri"/>
                <a:cs typeface="Calibri"/>
                <a:sym typeface="Calibri"/>
              </a:rPr>
              <a:t>Hidden dimension</a:t>
            </a:r>
            <a:r>
              <a:rPr b="0" i="0" lang="en-US" sz="2000" u="none" cap="none" strike="noStrike">
                <a:solidFill>
                  <a:schemeClr val="accent3"/>
                </a:solidFill>
                <a:latin typeface="Calibri"/>
                <a:ea typeface="Calibri"/>
                <a:cs typeface="Calibri"/>
                <a:sym typeface="Calibri"/>
              </a:rPr>
              <a:t> (Dl, i.e </a:t>
            </a:r>
            <a:r>
              <a:rPr b="0" i="0" lang="en-US" sz="2000" u="none" cap="none" strike="noStrike">
                <a:solidFill>
                  <a:srgbClr val="64FFDA"/>
                </a:solidFill>
                <a:latin typeface="Calibri"/>
                <a:ea typeface="Calibri"/>
                <a:cs typeface="Calibri"/>
                <a:sym typeface="Calibri"/>
              </a:rPr>
              <a:t>no. of hidden features</a:t>
            </a:r>
            <a:r>
              <a:rPr b="0" i="0" lang="en-US" sz="2000" u="none" cap="none" strike="noStrike">
                <a:solidFill>
                  <a:schemeClr val="accent3"/>
                </a:solidFill>
                <a:latin typeface="Calibri"/>
                <a:ea typeface="Calibri"/>
                <a:cs typeface="Calibri"/>
                <a:sym typeface="Calibri"/>
              </a:rPr>
              <a:t> )</a:t>
            </a:r>
            <a:endParaRPr b="0" i="0" sz="2000" u="none" cap="none" strike="noStrike">
              <a:solidFill>
                <a:schemeClr val="accent3"/>
              </a:solidFill>
              <a:latin typeface="Calibri"/>
              <a:ea typeface="Calibri"/>
              <a:cs typeface="Calibri"/>
              <a:sym typeface="Calibri"/>
            </a:endParaRPr>
          </a:p>
          <a:p>
            <a:pPr indent="-355600" lvl="0" marL="457200" marR="0" rtl="0" algn="l">
              <a:lnSpc>
                <a:spcPct val="100000"/>
              </a:lnSpc>
              <a:spcBef>
                <a:spcPts val="0"/>
              </a:spcBef>
              <a:spcAft>
                <a:spcPts val="0"/>
              </a:spcAft>
              <a:buClr>
                <a:schemeClr val="accent3"/>
              </a:buClr>
              <a:buSzPts val="2000"/>
              <a:buFont typeface="Calibri"/>
              <a:buChar char="●"/>
            </a:pPr>
            <a:r>
              <a:rPr b="0" i="0" lang="en-US" sz="2000" u="none" cap="none" strike="noStrike">
                <a:solidFill>
                  <a:schemeClr val="accent3"/>
                </a:solidFill>
                <a:latin typeface="Calibri"/>
                <a:ea typeface="Calibri"/>
                <a:cs typeface="Calibri"/>
                <a:sym typeface="Calibri"/>
              </a:rPr>
              <a:t>The </a:t>
            </a:r>
            <a:r>
              <a:rPr b="0" i="0" lang="en-US" sz="2000" u="none" cap="none" strike="noStrike">
                <a:solidFill>
                  <a:srgbClr val="6AA84F"/>
                </a:solidFill>
                <a:latin typeface="Calibri"/>
                <a:ea typeface="Calibri"/>
                <a:cs typeface="Calibri"/>
                <a:sym typeface="Calibri"/>
              </a:rPr>
              <a:t>length scale parameter</a:t>
            </a:r>
            <a:r>
              <a:rPr b="0" i="0" lang="en-US" sz="2000" u="none" cap="none" strike="noStrike">
                <a:solidFill>
                  <a:schemeClr val="accent3"/>
                </a:solidFill>
                <a:latin typeface="Calibri"/>
                <a:ea typeface="Calibri"/>
                <a:cs typeface="Calibri"/>
                <a:sym typeface="Calibri"/>
              </a:rPr>
              <a:t> of the RBF kernel.</a:t>
            </a:r>
            <a:endParaRPr b="0" i="0" sz="2000" u="none" cap="none" strike="noStrike">
              <a:solidFill>
                <a:schemeClr val="accent3"/>
              </a:solidFill>
              <a:latin typeface="Calibri"/>
              <a:ea typeface="Calibri"/>
              <a:cs typeface="Calibri"/>
              <a:sym typeface="Calibri"/>
            </a:endParaRPr>
          </a:p>
          <a:p>
            <a:pPr indent="-355600" lvl="0" marL="457200" marR="0" rtl="0" algn="l">
              <a:lnSpc>
                <a:spcPct val="100000"/>
              </a:lnSpc>
              <a:spcBef>
                <a:spcPts val="0"/>
              </a:spcBef>
              <a:spcAft>
                <a:spcPts val="0"/>
              </a:spcAft>
              <a:buClr>
                <a:schemeClr val="accent3"/>
              </a:buClr>
              <a:buSzPts val="2000"/>
              <a:buFont typeface="Calibri"/>
              <a:buChar char="●"/>
            </a:pPr>
            <a:r>
              <a:rPr b="0" i="0" lang="en-US" sz="2000" u="none" cap="none" strike="noStrike">
                <a:solidFill>
                  <a:srgbClr val="6AA84F"/>
                </a:solidFill>
                <a:latin typeface="Calibri"/>
                <a:ea typeface="Calibri"/>
                <a:cs typeface="Calibri"/>
                <a:sym typeface="Calibri"/>
              </a:rPr>
              <a:t>Strength of the regularization</a:t>
            </a:r>
            <a:r>
              <a:rPr b="0" i="0" lang="en-US" sz="2000" u="none" cap="none" strike="noStrike">
                <a:solidFill>
                  <a:schemeClr val="accent3"/>
                </a:solidFill>
                <a:latin typeface="Calibri"/>
                <a:ea typeface="Calibri"/>
                <a:cs typeface="Calibri"/>
                <a:sym typeface="Calibri"/>
              </a:rPr>
              <a:t> on the </a:t>
            </a:r>
            <a:r>
              <a:rPr b="0" i="0" lang="en-US" sz="2000" u="none" cap="none" strike="noStrike">
                <a:solidFill>
                  <a:srgbClr val="64FFDA"/>
                </a:solidFill>
                <a:latin typeface="Calibri"/>
                <a:ea typeface="Calibri"/>
                <a:cs typeface="Calibri"/>
                <a:sym typeface="Calibri"/>
              </a:rPr>
              <a:t>output weights</a:t>
            </a:r>
            <a:endParaRPr b="0" i="0" sz="2000" u="none" cap="none" strike="noStrike">
              <a:solidFill>
                <a:srgbClr val="64FFDA"/>
              </a:solidFill>
              <a:latin typeface="Calibri"/>
              <a:ea typeface="Calibri"/>
              <a:cs typeface="Calibri"/>
              <a:sym typeface="Calibri"/>
            </a:endParaRPr>
          </a:p>
        </p:txBody>
      </p:sp>
      <p:pic>
        <p:nvPicPr>
          <p:cNvPr id="283" name="Google Shape;283;g2db18d60713_5_0"/>
          <p:cNvPicPr preferRelativeResize="0"/>
          <p:nvPr/>
        </p:nvPicPr>
        <p:blipFill rotWithShape="1">
          <a:blip r:embed="rId3">
            <a:alphaModFix/>
          </a:blip>
          <a:srcRect b="0" l="0" r="0" t="0"/>
          <a:stretch/>
        </p:blipFill>
        <p:spPr>
          <a:xfrm>
            <a:off x="1754225" y="1643592"/>
            <a:ext cx="8237480" cy="96965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g2db18d60713_5_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Hyperparameters(continued.)</a:t>
            </a:r>
            <a:endParaRPr>
              <a:latin typeface="Calibri"/>
              <a:ea typeface="Calibri"/>
              <a:cs typeface="Calibri"/>
              <a:sym typeface="Calibri"/>
            </a:endParaRPr>
          </a:p>
        </p:txBody>
      </p:sp>
      <p:sp>
        <p:nvSpPr>
          <p:cNvPr id="289" name="Google Shape;289;g2db18d60713_5_7"/>
          <p:cNvSpPr txBox="1"/>
          <p:nvPr/>
        </p:nvSpPr>
        <p:spPr>
          <a:xfrm>
            <a:off x="501575" y="1826225"/>
            <a:ext cx="11330400" cy="45399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5"/>
                </a:solidFill>
                <a:latin typeface="Calibri"/>
                <a:ea typeface="Calibri"/>
                <a:cs typeface="Calibri"/>
                <a:sym typeface="Calibri"/>
              </a:rPr>
              <a:t>Two hyperparameters for the covariance module</a:t>
            </a:r>
            <a:endParaRPr b="0" i="0" sz="24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5"/>
              </a:solidFill>
              <a:latin typeface="Calibri"/>
              <a:ea typeface="Calibri"/>
              <a:cs typeface="Calibri"/>
              <a:sym typeface="Calibri"/>
            </a:endParaRPr>
          </a:p>
          <a:p>
            <a:pPr indent="-381000" lvl="0" marL="457200" marR="0" rtl="0" algn="l">
              <a:lnSpc>
                <a:spcPct val="100000"/>
              </a:lnSpc>
              <a:spcBef>
                <a:spcPts val="0"/>
              </a:spcBef>
              <a:spcAft>
                <a:spcPts val="0"/>
              </a:spcAft>
              <a:buClr>
                <a:srgbClr val="6AA84F"/>
              </a:buClr>
              <a:buSzPts val="2400"/>
              <a:buFont typeface="Calibri"/>
              <a:buChar char="●"/>
            </a:pPr>
            <a:r>
              <a:rPr b="0" i="0" lang="en-US" sz="2400" u="none" cap="none" strike="noStrike">
                <a:solidFill>
                  <a:srgbClr val="6AA84F"/>
                </a:solidFill>
                <a:latin typeface="Calibri"/>
                <a:ea typeface="Calibri"/>
                <a:cs typeface="Calibri"/>
                <a:sym typeface="Calibri"/>
              </a:rPr>
              <a:t>Ridge factor s. </a:t>
            </a:r>
            <a:r>
              <a:rPr b="0" i="0" lang="en-US" sz="2400" u="none" cap="none" strike="noStrike">
                <a:solidFill>
                  <a:schemeClr val="accent3"/>
                </a:solidFill>
                <a:latin typeface="Calibri"/>
                <a:ea typeface="Calibri"/>
                <a:cs typeface="Calibri"/>
                <a:sym typeface="Calibri"/>
              </a:rPr>
              <a:t>(serves to </a:t>
            </a:r>
            <a:r>
              <a:rPr b="0" i="0" lang="en-US" sz="2400" u="none" cap="none" strike="noStrike">
                <a:solidFill>
                  <a:schemeClr val="accent4"/>
                </a:solidFill>
                <a:latin typeface="Calibri"/>
                <a:ea typeface="Calibri"/>
                <a:cs typeface="Calibri"/>
                <a:sym typeface="Calibri"/>
              </a:rPr>
              <a:t>control the stability</a:t>
            </a:r>
            <a:r>
              <a:rPr b="0" i="0" lang="en-US" sz="2400" u="none" cap="none" strike="noStrike">
                <a:solidFill>
                  <a:schemeClr val="accent3"/>
                </a:solidFill>
                <a:latin typeface="Calibri"/>
                <a:ea typeface="Calibri"/>
                <a:cs typeface="Calibri"/>
                <a:sym typeface="Calibri"/>
              </a:rPr>
              <a:t> of the </a:t>
            </a:r>
            <a:r>
              <a:rPr b="0" i="0" lang="en-US" sz="2400" u="none" cap="none" strike="noStrike">
                <a:solidFill>
                  <a:schemeClr val="accent4"/>
                </a:solidFill>
                <a:latin typeface="Calibri"/>
                <a:ea typeface="Calibri"/>
                <a:cs typeface="Calibri"/>
                <a:sym typeface="Calibri"/>
              </a:rPr>
              <a:t>inverse of the precision matrix</a:t>
            </a:r>
            <a:r>
              <a:rPr b="0" i="0" lang="en-US" sz="2400" u="none" cap="none" strike="noStrike">
                <a:solidFill>
                  <a:schemeClr val="accent3"/>
                </a:solidFill>
                <a:latin typeface="Calibri"/>
                <a:ea typeface="Calibri"/>
                <a:cs typeface="Calibri"/>
                <a:sym typeface="Calibri"/>
              </a:rPr>
              <a:t>)</a:t>
            </a:r>
            <a:endParaRPr b="0" i="0" sz="2400" u="none" cap="none" strike="noStrike">
              <a:solidFill>
                <a:schemeClr val="accent3"/>
              </a:solidFill>
              <a:latin typeface="Calibri"/>
              <a:ea typeface="Calibri"/>
              <a:cs typeface="Calibri"/>
              <a:sym typeface="Calibri"/>
            </a:endParaRPr>
          </a:p>
          <a:p>
            <a:pPr indent="-381000" lvl="0" marL="457200" marR="0" rtl="0" algn="l">
              <a:lnSpc>
                <a:spcPct val="100000"/>
              </a:lnSpc>
              <a:spcBef>
                <a:spcPts val="0"/>
              </a:spcBef>
              <a:spcAft>
                <a:spcPts val="0"/>
              </a:spcAft>
              <a:buClr>
                <a:srgbClr val="6AA84F"/>
              </a:buClr>
              <a:buSzPts val="2400"/>
              <a:buFont typeface="Calibri"/>
              <a:buChar char="●"/>
            </a:pPr>
            <a:r>
              <a:rPr b="0" i="0" lang="en-US" sz="2400" u="none" cap="none" strike="noStrike">
                <a:solidFill>
                  <a:srgbClr val="6AA84F"/>
                </a:solidFill>
                <a:latin typeface="Calibri"/>
                <a:ea typeface="Calibri"/>
                <a:cs typeface="Calibri"/>
                <a:sym typeface="Calibri"/>
              </a:rPr>
              <a:t>Discount factor m. </a:t>
            </a:r>
            <a:r>
              <a:rPr b="0" i="0" lang="en-US" sz="2400" u="none" cap="none" strike="noStrike">
                <a:solidFill>
                  <a:schemeClr val="accent3"/>
                </a:solidFill>
                <a:latin typeface="Calibri"/>
                <a:ea typeface="Calibri"/>
                <a:cs typeface="Calibri"/>
                <a:sym typeface="Calibri"/>
              </a:rPr>
              <a:t>(controls </a:t>
            </a:r>
            <a:r>
              <a:rPr b="0" i="0" lang="en-US" sz="2400" u="none" cap="none" strike="noStrike">
                <a:solidFill>
                  <a:schemeClr val="accent4"/>
                </a:solidFill>
                <a:latin typeface="Calibri"/>
                <a:ea typeface="Calibri"/>
                <a:cs typeface="Calibri"/>
                <a:sym typeface="Calibri"/>
              </a:rPr>
              <a:t>how fast moving average</a:t>
            </a:r>
            <a:r>
              <a:rPr b="0" i="0" lang="en-US" sz="2400" u="none" cap="none" strike="noStrike">
                <a:solidFill>
                  <a:schemeClr val="accent3"/>
                </a:solidFill>
                <a:latin typeface="Calibri"/>
                <a:ea typeface="Calibri"/>
                <a:cs typeface="Calibri"/>
                <a:sym typeface="Calibri"/>
              </a:rPr>
              <a:t> update </a:t>
            </a:r>
            <a:r>
              <a:rPr b="0" i="0" lang="en-US" sz="2400" u="none" cap="none" strike="noStrike">
                <a:solidFill>
                  <a:schemeClr val="accent4"/>
                </a:solidFill>
                <a:latin typeface="Calibri"/>
                <a:ea typeface="Calibri"/>
                <a:cs typeface="Calibri"/>
                <a:sym typeface="Calibri"/>
              </a:rPr>
              <a:t>converges to population value</a:t>
            </a:r>
            <a:r>
              <a:rPr b="0" i="0" lang="en-US" sz="2400" u="none" cap="none" strike="noStrike">
                <a:solidFill>
                  <a:schemeClr val="accent3"/>
                </a:solidFill>
                <a:latin typeface="Calibri"/>
                <a:ea typeface="Calibri"/>
                <a:cs typeface="Calibri"/>
                <a:sym typeface="Calibri"/>
              </a:rPr>
              <a:t>)</a:t>
            </a:r>
            <a:endParaRPr b="0" i="0" sz="24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t/>
            </a:r>
            <a:endParaRPr b="0" i="0" sz="24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accent3"/>
                </a:solidFill>
                <a:latin typeface="Calibri"/>
                <a:ea typeface="Calibri"/>
                <a:cs typeface="Calibri"/>
                <a:sym typeface="Calibri"/>
              </a:rPr>
              <a:t>Generally these values are set to </a:t>
            </a:r>
            <a:r>
              <a:rPr b="0" i="0" lang="en-US" sz="2400" u="none" cap="none" strike="noStrike">
                <a:solidFill>
                  <a:schemeClr val="accent4"/>
                </a:solidFill>
                <a:latin typeface="Calibri"/>
                <a:ea typeface="Calibri"/>
                <a:cs typeface="Calibri"/>
                <a:sym typeface="Calibri"/>
              </a:rPr>
              <a:t>s=0.001</a:t>
            </a:r>
            <a:r>
              <a:rPr b="0" i="0" lang="en-US" sz="2400" u="none" cap="none" strike="noStrike">
                <a:solidFill>
                  <a:schemeClr val="accent3"/>
                </a:solidFill>
                <a:latin typeface="Calibri"/>
                <a:ea typeface="Calibri"/>
                <a:cs typeface="Calibri"/>
                <a:sym typeface="Calibri"/>
              </a:rPr>
              <a:t> and </a:t>
            </a:r>
            <a:r>
              <a:rPr b="0" i="0" lang="en-US" sz="2400" u="none" cap="none" strike="noStrike">
                <a:solidFill>
                  <a:schemeClr val="accent4"/>
                </a:solidFill>
                <a:latin typeface="Calibri"/>
                <a:ea typeface="Calibri"/>
                <a:cs typeface="Calibri"/>
                <a:sym typeface="Calibri"/>
              </a:rPr>
              <a:t>m = 0.999</a:t>
            </a:r>
            <a:endParaRPr b="0" i="0" sz="2400" u="none" cap="none" strike="noStrike">
              <a:solidFill>
                <a:schemeClr val="accent4"/>
              </a:solidFill>
              <a:latin typeface="Calibri"/>
              <a:ea typeface="Calibri"/>
              <a:cs typeface="Calibri"/>
              <a:sym typeface="Calibri"/>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sp>
        <p:nvSpPr>
          <p:cNvPr id="294" name="Google Shape;294;g2da8673ca15_3_5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2.4 Comparative Results and Benefits of SNGP</a:t>
            </a:r>
            <a:endParaRPr>
              <a:latin typeface="Calibri"/>
              <a:ea typeface="Calibri"/>
              <a:cs typeface="Calibri"/>
              <a:sym typeface="Calibri"/>
            </a:endParaRPr>
          </a:p>
        </p:txBody>
      </p:sp>
      <p:pic>
        <p:nvPicPr>
          <p:cNvPr id="295" name="Google Shape;295;g2da8673ca15_3_51"/>
          <p:cNvPicPr preferRelativeResize="0"/>
          <p:nvPr/>
        </p:nvPicPr>
        <p:blipFill rotWithShape="1">
          <a:blip r:embed="rId3">
            <a:alphaModFix/>
          </a:blip>
          <a:srcRect b="0" l="0" r="0" t="0"/>
          <a:stretch/>
        </p:blipFill>
        <p:spPr>
          <a:xfrm>
            <a:off x="512325" y="2223100"/>
            <a:ext cx="6249374" cy="2789325"/>
          </a:xfrm>
          <a:prstGeom prst="rect">
            <a:avLst/>
          </a:prstGeom>
          <a:noFill/>
          <a:ln>
            <a:noFill/>
          </a:ln>
        </p:spPr>
      </p:pic>
      <p:sp>
        <p:nvSpPr>
          <p:cNvPr id="296" name="Google Shape;296;g2da8673ca15_3_51"/>
          <p:cNvSpPr txBox="1"/>
          <p:nvPr/>
        </p:nvSpPr>
        <p:spPr>
          <a:xfrm>
            <a:off x="6847525" y="1258350"/>
            <a:ext cx="5285100" cy="4928400"/>
          </a:xfrm>
          <a:prstGeom prst="rect">
            <a:avLst/>
          </a:prstGeom>
          <a:noFill/>
          <a:ln>
            <a:noFill/>
          </a:ln>
        </p:spPr>
        <p:txBody>
          <a:bodyPr anchorCtr="0" anchor="t" bIns="91425" lIns="91425" spcFirstLastPara="1" rIns="91425" wrap="square" tIns="91425">
            <a:noAutofit/>
          </a:bodyPr>
          <a:lstStyle/>
          <a:p>
            <a:pPr indent="0" lvl="0" marL="457200" marR="0" rtl="0" algn="l">
              <a:lnSpc>
                <a:spcPct val="100000"/>
              </a:lnSpc>
              <a:spcBef>
                <a:spcPts val="0"/>
              </a:spcBef>
              <a:spcAft>
                <a:spcPts val="0"/>
              </a:spcAft>
              <a:buClr>
                <a:srgbClr val="000000"/>
              </a:buClr>
              <a:buSzPts val="2000"/>
              <a:buFont typeface="Arial"/>
              <a:buNone/>
            </a:pPr>
            <a:r>
              <a:rPr b="0" i="0" lang="en-US" sz="2000" u="none" cap="none" strike="noStrike">
                <a:solidFill>
                  <a:schemeClr val="accent5"/>
                </a:solidFill>
                <a:latin typeface="Calibri"/>
                <a:ea typeface="Calibri"/>
                <a:cs typeface="Calibri"/>
                <a:sym typeface="Calibri"/>
              </a:rPr>
              <a:t>Benefits</a:t>
            </a:r>
            <a:endParaRPr b="0" i="0" sz="2000" u="none" cap="none" strike="noStrike">
              <a:solidFill>
                <a:schemeClr val="accent3"/>
              </a:solidFill>
              <a:latin typeface="Calibri"/>
              <a:ea typeface="Calibri"/>
              <a:cs typeface="Calibri"/>
              <a:sym typeface="Calibri"/>
            </a:endParaRPr>
          </a:p>
          <a:p>
            <a:pPr indent="-342900" lvl="0" marL="457200" marR="0" rtl="0" algn="l">
              <a:lnSpc>
                <a:spcPct val="100000"/>
              </a:lnSpc>
              <a:spcBef>
                <a:spcPts val="0"/>
              </a:spcBef>
              <a:spcAft>
                <a:spcPts val="0"/>
              </a:spcAft>
              <a:buClr>
                <a:schemeClr val="accent3"/>
              </a:buClr>
              <a:buSzPts val="1800"/>
              <a:buFont typeface="Calibri"/>
              <a:buChar char="-"/>
            </a:pPr>
            <a:r>
              <a:rPr b="0" i="0" lang="en-US" sz="1800" u="none" cap="none" strike="noStrike">
                <a:solidFill>
                  <a:schemeClr val="accent3"/>
                </a:solidFill>
                <a:latin typeface="Calibri"/>
                <a:ea typeface="Calibri"/>
                <a:cs typeface="Calibri"/>
                <a:sym typeface="Calibri"/>
              </a:rPr>
              <a:t>It has </a:t>
            </a:r>
            <a:r>
              <a:rPr b="0" i="0" lang="en-US" sz="1800" u="none" cap="none" strike="noStrike">
                <a:solidFill>
                  <a:schemeClr val="accent4"/>
                </a:solidFill>
                <a:latin typeface="Calibri"/>
                <a:ea typeface="Calibri"/>
                <a:cs typeface="Calibri"/>
                <a:sym typeface="Calibri"/>
              </a:rPr>
              <a:t>strong out-of-domain detection performance</a:t>
            </a:r>
            <a:r>
              <a:rPr b="0" i="0" lang="en-US" sz="1800" u="none" cap="none" strike="noStrike">
                <a:solidFill>
                  <a:schemeClr val="accent3"/>
                </a:solidFill>
                <a:latin typeface="Calibri"/>
                <a:ea typeface="Calibri"/>
                <a:cs typeface="Calibri"/>
                <a:sym typeface="Calibri"/>
              </a:rPr>
              <a:t> due to the distance-awareness property.</a:t>
            </a:r>
            <a:endParaRPr b="0" i="0" sz="18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Calibri"/>
              <a:ea typeface="Calibri"/>
              <a:cs typeface="Calibri"/>
              <a:sym typeface="Calibri"/>
            </a:endParaRPr>
          </a:p>
          <a:p>
            <a:pPr indent="-342900" lvl="0" marL="457200" marR="0" rtl="0" algn="l">
              <a:lnSpc>
                <a:spcPct val="100000"/>
              </a:lnSpc>
              <a:spcBef>
                <a:spcPts val="0"/>
              </a:spcBef>
              <a:spcAft>
                <a:spcPts val="0"/>
              </a:spcAft>
              <a:buClr>
                <a:schemeClr val="accent3"/>
              </a:buClr>
              <a:buSzPts val="1800"/>
              <a:buFont typeface="Calibri"/>
              <a:buChar char="-"/>
            </a:pPr>
            <a:r>
              <a:rPr b="0" i="0" lang="en-US" sz="1800" u="none" cap="none" strike="noStrike">
                <a:solidFill>
                  <a:schemeClr val="accent3"/>
                </a:solidFill>
                <a:latin typeface="Calibri"/>
                <a:ea typeface="Calibri"/>
                <a:cs typeface="Calibri"/>
                <a:sym typeface="Calibri"/>
              </a:rPr>
              <a:t>It works for a wide range of state-of-the-art </a:t>
            </a:r>
            <a:r>
              <a:rPr b="0" i="0" lang="en-US" sz="1800" u="none" cap="none" strike="noStrike">
                <a:solidFill>
                  <a:schemeClr val="accent4"/>
                </a:solidFill>
                <a:latin typeface="Calibri"/>
                <a:ea typeface="Calibri"/>
                <a:cs typeface="Calibri"/>
                <a:sym typeface="Calibri"/>
              </a:rPr>
              <a:t>residual-based</a:t>
            </a:r>
            <a:r>
              <a:rPr b="0" i="0" lang="en-US" sz="1800" u="none" cap="none" strike="noStrike">
                <a:solidFill>
                  <a:schemeClr val="accent3"/>
                </a:solidFill>
                <a:latin typeface="Calibri"/>
                <a:ea typeface="Calibri"/>
                <a:cs typeface="Calibri"/>
                <a:sym typeface="Calibri"/>
              </a:rPr>
              <a:t> architectures.</a:t>
            </a:r>
            <a:endParaRPr b="0" i="0" sz="1800" u="none" cap="none" strike="noStrike">
              <a:solidFill>
                <a:schemeClr val="accent3"/>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1800"/>
              <a:buFont typeface="Arial"/>
              <a:buNone/>
            </a:pPr>
            <a:r>
              <a:t/>
            </a:r>
            <a:endParaRPr b="0" i="0" sz="1800" u="none" cap="none" strike="noStrike">
              <a:solidFill>
                <a:schemeClr val="accent3"/>
              </a:solidFill>
              <a:latin typeface="Calibri"/>
              <a:ea typeface="Calibri"/>
              <a:cs typeface="Calibri"/>
              <a:sym typeface="Calibri"/>
            </a:endParaRPr>
          </a:p>
          <a:p>
            <a:pPr indent="-342900" lvl="0" marL="457200" marR="0" rtl="0" algn="l">
              <a:lnSpc>
                <a:spcPct val="100000"/>
              </a:lnSpc>
              <a:spcBef>
                <a:spcPts val="0"/>
              </a:spcBef>
              <a:spcAft>
                <a:spcPts val="0"/>
              </a:spcAft>
              <a:buClr>
                <a:schemeClr val="accent3"/>
              </a:buClr>
              <a:buSzPts val="1800"/>
              <a:buFont typeface="Calibri"/>
              <a:buChar char="-"/>
            </a:pPr>
            <a:r>
              <a:rPr b="0" i="0" lang="en-US" sz="1800" u="none" cap="none" strike="noStrike">
                <a:solidFill>
                  <a:schemeClr val="accent3"/>
                </a:solidFill>
                <a:latin typeface="Calibri"/>
                <a:ea typeface="Calibri"/>
                <a:cs typeface="Calibri"/>
                <a:sym typeface="Calibri"/>
              </a:rPr>
              <a:t>SNGP has a </a:t>
            </a:r>
            <a:r>
              <a:rPr b="0" i="0" lang="en-US" sz="1800" u="none" cap="none" strike="noStrike">
                <a:solidFill>
                  <a:schemeClr val="accent4"/>
                </a:solidFill>
                <a:latin typeface="Calibri"/>
                <a:ea typeface="Calibri"/>
                <a:cs typeface="Calibri"/>
                <a:sym typeface="Calibri"/>
              </a:rPr>
              <a:t>similar level of latency</a:t>
            </a:r>
            <a:r>
              <a:rPr b="0" i="0" lang="en-US" sz="1800" u="none" cap="none" strike="noStrike">
                <a:solidFill>
                  <a:schemeClr val="accent3"/>
                </a:solidFill>
                <a:latin typeface="Calibri"/>
                <a:ea typeface="Calibri"/>
                <a:cs typeface="Calibri"/>
                <a:sym typeface="Calibri"/>
              </a:rPr>
              <a:t> as a single deterministic network, and can </a:t>
            </a:r>
            <a:r>
              <a:rPr b="0" i="0" lang="en-US" sz="1800" u="none" cap="none" strike="noStrike">
                <a:solidFill>
                  <a:schemeClr val="accent4"/>
                </a:solidFill>
                <a:latin typeface="Calibri"/>
                <a:ea typeface="Calibri"/>
                <a:cs typeface="Calibri"/>
                <a:sym typeface="Calibri"/>
              </a:rPr>
              <a:t>be scaled easily</a:t>
            </a:r>
            <a:r>
              <a:rPr b="0" i="0" lang="en-US" sz="1800" u="none" cap="none" strike="noStrike">
                <a:solidFill>
                  <a:schemeClr val="accent3"/>
                </a:solidFill>
                <a:latin typeface="Calibri"/>
                <a:ea typeface="Calibri"/>
                <a:cs typeface="Calibri"/>
                <a:sym typeface="Calibri"/>
              </a:rPr>
              <a:t> to large datasets.</a:t>
            </a:r>
            <a:endParaRPr b="0" i="0" sz="18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accent3"/>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rPr b="0" i="0" lang="en-US" sz="2000" u="none" cap="none" strike="noStrike">
                <a:solidFill>
                  <a:schemeClr val="accent3"/>
                </a:solidFill>
                <a:latin typeface="Calibri"/>
                <a:ea typeface="Calibri"/>
                <a:cs typeface="Calibri"/>
                <a:sym typeface="Calibri"/>
              </a:rPr>
              <a:t>       </a:t>
            </a:r>
            <a:r>
              <a:rPr b="0" i="0" lang="en-US" sz="2000" u="none" cap="none" strike="noStrike">
                <a:solidFill>
                  <a:schemeClr val="accent5"/>
                </a:solidFill>
                <a:latin typeface="Calibri"/>
                <a:ea typeface="Calibri"/>
                <a:cs typeface="Calibri"/>
                <a:sym typeface="Calibri"/>
              </a:rPr>
              <a:t>Downsides</a:t>
            </a:r>
            <a:endParaRPr b="0" i="0" sz="2000" u="none" cap="none" strike="noStrike">
              <a:solidFill>
                <a:schemeClr val="accent5"/>
              </a:solidFill>
              <a:latin typeface="Calibri"/>
              <a:ea typeface="Calibri"/>
              <a:cs typeface="Calibri"/>
              <a:sym typeface="Calibri"/>
            </a:endParaRPr>
          </a:p>
          <a:p>
            <a:pPr indent="-342900" lvl="0" marL="457200" marR="0" rtl="0" algn="l">
              <a:lnSpc>
                <a:spcPct val="100000"/>
              </a:lnSpc>
              <a:spcBef>
                <a:spcPts val="0"/>
              </a:spcBef>
              <a:spcAft>
                <a:spcPts val="0"/>
              </a:spcAft>
              <a:buClr>
                <a:schemeClr val="accent3"/>
              </a:buClr>
              <a:buSzPts val="1800"/>
              <a:buFont typeface="Calibri"/>
              <a:buChar char="-"/>
            </a:pPr>
            <a:r>
              <a:rPr b="0" i="0" lang="en-US" sz="1800" u="none" cap="none" strike="noStrike">
                <a:solidFill>
                  <a:schemeClr val="accent3"/>
                </a:solidFill>
                <a:latin typeface="Calibri"/>
                <a:ea typeface="Calibri"/>
                <a:cs typeface="Calibri"/>
                <a:sym typeface="Calibri"/>
              </a:rPr>
              <a:t>The predictive uncertainty of SNGP is computed using the Laplace approximation, </a:t>
            </a:r>
            <a:r>
              <a:rPr b="0" i="0" lang="en-US" sz="1800" u="none" cap="none" strike="noStrike">
                <a:solidFill>
                  <a:schemeClr val="accent4"/>
                </a:solidFill>
                <a:latin typeface="Calibri"/>
                <a:ea typeface="Calibri"/>
                <a:cs typeface="Calibri"/>
                <a:sym typeface="Calibri"/>
              </a:rPr>
              <a:t>computational complexity of SNGP is slightly increased</a:t>
            </a:r>
            <a:r>
              <a:rPr b="0" i="0" lang="en-US" sz="1800" u="none" cap="none" strike="noStrike">
                <a:solidFill>
                  <a:schemeClr val="accent3"/>
                </a:solidFill>
                <a:latin typeface="Calibri"/>
                <a:ea typeface="Calibri"/>
                <a:cs typeface="Calibri"/>
                <a:sym typeface="Calibri"/>
              </a:rPr>
              <a:t> compared to the normal dense output layer</a:t>
            </a:r>
            <a:endParaRPr b="0" i="0" sz="1800" u="none" cap="none" strike="noStrike">
              <a:solidFill>
                <a:schemeClr val="accent3"/>
              </a:solidFill>
              <a:latin typeface="Calibri"/>
              <a:ea typeface="Calibri"/>
              <a:cs typeface="Calibri"/>
              <a:sym typeface="Calibri"/>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0" name="Shape 300"/>
        <p:cNvGrpSpPr/>
        <p:nvPr/>
      </p:nvGrpSpPr>
      <p:grpSpPr>
        <a:xfrm>
          <a:off x="0" y="0"/>
          <a:ext cx="0" cy="0"/>
          <a:chOff x="0" y="0"/>
          <a:chExt cx="0" cy="0"/>
        </a:xfrm>
      </p:grpSpPr>
      <p:sp>
        <p:nvSpPr>
          <p:cNvPr id="301" name="Google Shape;301;g2dae588f123_1_0"/>
          <p:cNvSpPr txBox="1"/>
          <p:nvPr>
            <p:ph type="title"/>
          </p:nvPr>
        </p:nvSpPr>
        <p:spPr>
          <a:xfrm>
            <a:off x="182150" y="56950"/>
            <a:ext cx="10469700" cy="1148100"/>
          </a:xfrm>
          <a:prstGeom prst="rect">
            <a:avLst/>
          </a:prstGeom>
          <a:noFill/>
          <a:ln>
            <a:noFill/>
          </a:ln>
        </p:spPr>
        <p:txBody>
          <a:bodyPr anchorCtr="0" anchor="ctr" bIns="121900" lIns="121900" spcFirstLastPara="1" rIns="121900" wrap="square" tIns="121900">
            <a:normAutofit/>
          </a:bodyPr>
          <a:lstStyle/>
          <a:p>
            <a:pPr indent="0" lvl="0" marL="0" rtl="0" algn="l">
              <a:lnSpc>
                <a:spcPct val="100000"/>
              </a:lnSpc>
              <a:spcBef>
                <a:spcPts val="0"/>
              </a:spcBef>
              <a:spcAft>
                <a:spcPts val="0"/>
              </a:spcAft>
              <a:buSzPts val="4800"/>
              <a:buNone/>
            </a:pPr>
            <a:r>
              <a:rPr lang="en-US">
                <a:latin typeface="Calibri"/>
                <a:ea typeface="Calibri"/>
                <a:cs typeface="Calibri"/>
                <a:sym typeface="Calibri"/>
              </a:rPr>
              <a:t>3.Similarities</a:t>
            </a:r>
            <a:endParaRPr>
              <a:latin typeface="Calibri"/>
              <a:ea typeface="Calibri"/>
              <a:cs typeface="Calibri"/>
              <a:sym typeface="Calibri"/>
            </a:endParaRPr>
          </a:p>
        </p:txBody>
      </p:sp>
      <p:graphicFrame>
        <p:nvGraphicFramePr>
          <p:cNvPr id="302" name="Google Shape;302;g2dae588f123_1_0"/>
          <p:cNvGraphicFramePr/>
          <p:nvPr/>
        </p:nvGraphicFramePr>
        <p:xfrm>
          <a:off x="756313" y="1159525"/>
          <a:ext cx="3000000" cy="3000000"/>
        </p:xfrm>
        <a:graphic>
          <a:graphicData uri="http://schemas.openxmlformats.org/drawingml/2006/table">
            <a:tbl>
              <a:tblPr>
                <a:solidFill>
                  <a:srgbClr val="FFFFFF"/>
                </a:solidFill>
                <a:tableStyleId>{2D44A254-7303-4941-8787-7FC7A818E2B3}</a:tableStyleId>
              </a:tblPr>
              <a:tblGrid>
                <a:gridCol w="1315400"/>
                <a:gridCol w="2348575"/>
                <a:gridCol w="2348575"/>
                <a:gridCol w="2348575"/>
                <a:gridCol w="2318250"/>
              </a:tblGrid>
              <a:tr h="57562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Feature</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b">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Bayesian Neural Networks</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b">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Posterior Network</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b">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Repulsive Deep Ensembles</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b">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SNGP </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b">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49897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Model Type</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Single/Ensemble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Single/Ensemble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Ensemble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Single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78602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Main Approach</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Mode traversal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NUTS sampling</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Parameterize the distribution</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Kernelized repulsive terms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Function/weight space interactions</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-Distance-preserving Hidden Mapping</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Distance-aware Output Layer</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78602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Key Techniques</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Exploring connected modes in posterior landscapes</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Normalizing flow</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Radial flow and IAF flow</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Introducing repulsive terms in ensembles to maintain diversity</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Combining spectral normalization and Gaussian processes</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86587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Strengths</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Efficient exploration of multimodal landscapes</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Effective OOD detection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Robust uncertainty estimation</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chemeClr val="dk1"/>
                          </a:highlight>
                          <a:latin typeface="Calibri"/>
                          <a:ea typeface="Calibri"/>
                          <a:cs typeface="Calibri"/>
                          <a:sym typeface="Calibri"/>
                        </a:rPr>
                        <a:t>- Enhanced OOD detection</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Improved functional diversity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Competitive uncertainty estimation and OOD detection</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Single-pass inference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1101275">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Challenges</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Requires multiple chains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Computationally intensive</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Hard to scale to large datasets </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Complexity in gradient flow implementation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Requires tuning for best performance</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Possible complexity in kernel choice</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Additional repulsive terms tuning</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Assumption of distance-preserving mappings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Computational overhead of GP</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r h="876850">
                <a:tc>
                  <a:txBody>
                    <a:bodyPr/>
                    <a:lstStyle/>
                    <a:p>
                      <a:pPr indent="0" lvl="0" marL="0" marR="0" rtl="0" algn="l">
                        <a:lnSpc>
                          <a:spcPct val="100000"/>
                        </a:lnSpc>
                        <a:spcBef>
                          <a:spcPts val="0"/>
                        </a:spcBef>
                        <a:spcAft>
                          <a:spcPts val="0"/>
                        </a:spcAft>
                        <a:buClr>
                          <a:srgbClr val="000000"/>
                        </a:buClr>
                        <a:buSzPts val="1450"/>
                        <a:buFont typeface="Arial"/>
                        <a:buNone/>
                      </a:pPr>
                      <a:r>
                        <a:rPr b="1" lang="en-US" sz="1450" u="none" cap="none" strike="noStrike">
                          <a:solidFill>
                            <a:srgbClr val="0D0D0D"/>
                          </a:solidFill>
                          <a:highlight>
                            <a:srgbClr val="FFFFFF"/>
                          </a:highlight>
                          <a:latin typeface="Calibri"/>
                          <a:ea typeface="Calibri"/>
                          <a:cs typeface="Calibri"/>
                          <a:sym typeface="Calibri"/>
                        </a:rPr>
                        <a:t>Use Cases	</a:t>
                      </a:r>
                      <a:endParaRPr b="1" sz="14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Highly multimodal posterior distributions</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Scarce data</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Robust uncertainty estimates</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and diversity in predictions</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-OOD detection</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Deep learning tasks requiring diverse ensembles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OOD detection</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Real-time applications needing efficient uncertainty estimation </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OOD Detection</a:t>
                      </a:r>
                      <a:endParaRPr sz="1250" u="none" cap="none" strike="noStrike">
                        <a:solidFill>
                          <a:srgbClr val="0D0D0D"/>
                        </a:solidFill>
                        <a:highlight>
                          <a:srgbClr val="FFFFFF"/>
                        </a:highlight>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250"/>
                        <a:buFont typeface="Arial"/>
                        <a:buNone/>
                      </a:pPr>
                      <a:r>
                        <a:rPr lang="en-US" sz="1250" u="none" cap="none" strike="noStrike">
                          <a:solidFill>
                            <a:srgbClr val="0D0D0D"/>
                          </a:solidFill>
                          <a:highlight>
                            <a:srgbClr val="FFFFFF"/>
                          </a:highlight>
                          <a:latin typeface="Calibri"/>
                          <a:ea typeface="Calibri"/>
                          <a:cs typeface="Calibri"/>
                          <a:sym typeface="Calibri"/>
                        </a:rPr>
                        <a:t>- Image and language tasks</a:t>
                      </a:r>
                      <a:endParaRPr sz="1250" u="none" cap="none" strike="noStrike">
                        <a:solidFill>
                          <a:srgbClr val="0D0D0D"/>
                        </a:solidFill>
                        <a:highlight>
                          <a:srgbClr val="FFFFFF"/>
                        </a:highlight>
                        <a:latin typeface="Calibri"/>
                        <a:ea typeface="Calibri"/>
                        <a:cs typeface="Calibri"/>
                        <a:sym typeface="Calibri"/>
                      </a:endParaRPr>
                    </a:p>
                  </a:txBody>
                  <a:tcPr marT="91425" marB="91425" marR="91425" marL="91425" anchor="ctr">
                    <a:lnL cap="flat" cmpd="sng" w="9525">
                      <a:solidFill>
                        <a:srgbClr val="0D0D0D"/>
                      </a:solidFill>
                      <a:prstDash val="solid"/>
                      <a:round/>
                      <a:headEnd len="sm" w="sm" type="none"/>
                      <a:tailEnd len="sm" w="sm" type="none"/>
                    </a:lnL>
                    <a:lnR cap="flat" cmpd="sng" w="9525">
                      <a:solidFill>
                        <a:srgbClr val="0D0D0D"/>
                      </a:solidFill>
                      <a:prstDash val="solid"/>
                      <a:round/>
                      <a:headEnd len="sm" w="sm" type="none"/>
                      <a:tailEnd len="sm" w="sm" type="none"/>
                    </a:lnR>
                    <a:lnT cap="flat" cmpd="sng" w="9525">
                      <a:solidFill>
                        <a:srgbClr val="0D0D0D"/>
                      </a:solidFill>
                      <a:prstDash val="solid"/>
                      <a:round/>
                      <a:headEnd len="sm" w="sm" type="none"/>
                      <a:tailEnd len="sm" w="sm" type="none"/>
                    </a:lnT>
                    <a:lnB cap="flat" cmpd="sng" w="9525">
                      <a:solidFill>
                        <a:srgbClr val="0D0D0D"/>
                      </a:solidFill>
                      <a:prstDash val="solid"/>
                      <a:round/>
                      <a:headEnd len="sm" w="sm" type="none"/>
                      <a:tailEnd len="sm" w="sm" type="none"/>
                    </a:lnB>
                  </a:tcPr>
                </a:tc>
              </a:tr>
            </a:tbl>
          </a:graphicData>
        </a:graphic>
      </p:graphicFrame>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6" name="Shape 306"/>
        <p:cNvGrpSpPr/>
        <p:nvPr/>
      </p:nvGrpSpPr>
      <p:grpSpPr>
        <a:xfrm>
          <a:off x="0" y="0"/>
          <a:ext cx="0" cy="0"/>
          <a:chOff x="0" y="0"/>
          <a:chExt cx="0" cy="0"/>
        </a:xfrm>
      </p:grpSpPr>
      <p:sp>
        <p:nvSpPr>
          <p:cNvPr id="307" name="Google Shape;307;g270db738eac_1_5"/>
          <p:cNvSpPr txBox="1"/>
          <p:nvPr>
            <p:ph type="title"/>
          </p:nvPr>
        </p:nvSpPr>
        <p:spPr>
          <a:xfrm>
            <a:off x="895000" y="2855000"/>
            <a:ext cx="10469700" cy="1148100"/>
          </a:xfrm>
          <a:prstGeom prst="rect">
            <a:avLst/>
          </a:prstGeom>
          <a:noFill/>
          <a:ln>
            <a:noFill/>
          </a:ln>
        </p:spPr>
        <p:txBody>
          <a:bodyPr anchorCtr="0" anchor="ctr" bIns="121900" lIns="121900" spcFirstLastPara="1" rIns="121900" wrap="square" tIns="121900">
            <a:normAutofit/>
          </a:bodyPr>
          <a:lstStyle/>
          <a:p>
            <a:pPr indent="0" lvl="0" marL="0" rtl="0" algn="ctr">
              <a:lnSpc>
                <a:spcPct val="100000"/>
              </a:lnSpc>
              <a:spcBef>
                <a:spcPts val="0"/>
              </a:spcBef>
              <a:spcAft>
                <a:spcPts val="0"/>
              </a:spcAft>
              <a:buSzPts val="4800"/>
              <a:buNone/>
            </a:pPr>
            <a:r>
              <a:rPr lang="en-US">
                <a:latin typeface="Calibri"/>
                <a:ea typeface="Calibri"/>
                <a:cs typeface="Calibri"/>
                <a:sym typeface="Calibri"/>
              </a:rPr>
              <a:t>4.Dataset Interpretation</a:t>
            </a:r>
            <a:endParaRPr>
              <a:latin typeface="Calibri"/>
              <a:ea typeface="Calibri"/>
              <a:cs typeface="Calibri"/>
              <a:sym typeface="Calibri"/>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1" name="Shape 311"/>
        <p:cNvGrpSpPr/>
        <p:nvPr/>
      </p:nvGrpSpPr>
      <p:grpSpPr>
        <a:xfrm>
          <a:off x="0" y="0"/>
          <a:ext cx="0" cy="0"/>
          <a:chOff x="0" y="0"/>
          <a:chExt cx="0" cy="0"/>
        </a:xfrm>
      </p:grpSpPr>
      <p:sp>
        <p:nvSpPr>
          <p:cNvPr id="312" name="Google Shape;312;g2dae588f123_1_5"/>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CIFAR10</a:t>
            </a:r>
            <a:endParaRPr>
              <a:latin typeface="Calibri"/>
              <a:ea typeface="Calibri"/>
              <a:cs typeface="Calibri"/>
              <a:sym typeface="Calibri"/>
            </a:endParaRPr>
          </a:p>
        </p:txBody>
      </p:sp>
      <p:sp>
        <p:nvSpPr>
          <p:cNvPr id="313" name="Google Shape;313;g2dae588f123_1_5"/>
          <p:cNvSpPr txBox="1"/>
          <p:nvPr/>
        </p:nvSpPr>
        <p:spPr>
          <a:xfrm>
            <a:off x="140925" y="1446775"/>
            <a:ext cx="6516600" cy="5448900"/>
          </a:xfrm>
          <a:prstGeom prst="rect">
            <a:avLst/>
          </a:prstGeom>
          <a:noFill/>
          <a:ln>
            <a:noFill/>
          </a:ln>
        </p:spPr>
        <p:txBody>
          <a:bodyPr anchorCtr="0" anchor="t" bIns="91425" lIns="91425" spcFirstLastPara="1" rIns="91425" wrap="square" tIns="91425">
            <a:spAutoFit/>
          </a:bodyPr>
          <a:lstStyle/>
          <a:p>
            <a:pPr indent="-355600" lvl="0" marL="457200" marR="0" rtl="0" algn="just">
              <a:lnSpc>
                <a:spcPct val="115000"/>
              </a:lnSpc>
              <a:spcBef>
                <a:spcPts val="120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Developed by Alex Krizhevsky and Geoffrey Hinton</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USE: Evaluating computer vision algorithms.</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Manageable Dataset size, with real-world images.</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CIFAR-10 consists of 60,000 32x32 color images divided into 10 classes, each containing 6,000 images. The classes are airplanes, automobiles, birds, cats, deer, dogs, frogs, horses, ships, and trucks.</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It includes a training set of 50,000 images and a testing set of 10,000 images.</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Each image is labeled, and the classes are mutually exclusive. </a:t>
            </a:r>
            <a:endParaRPr b="0" i="0" sz="2000" u="none" cap="none" strike="noStrike">
              <a:solidFill>
                <a:schemeClr val="dk1"/>
              </a:solidFill>
              <a:latin typeface="Calibri"/>
              <a:ea typeface="Calibri"/>
              <a:cs typeface="Calibri"/>
              <a:sym typeface="Calibri"/>
            </a:endParaRPr>
          </a:p>
          <a:p>
            <a:pPr indent="-355600" lvl="0" marL="457200" marR="0" rtl="0" algn="just">
              <a:lnSpc>
                <a:spcPct val="115000"/>
              </a:lnSpc>
              <a:spcBef>
                <a:spcPts val="0"/>
              </a:spcBef>
              <a:spcAft>
                <a:spcPts val="0"/>
              </a:spcAft>
              <a:buClr>
                <a:schemeClr val="dk1"/>
              </a:buClr>
              <a:buSzPts val="2000"/>
              <a:buFont typeface="Calibri"/>
              <a:buChar char="-"/>
            </a:pPr>
            <a:r>
              <a:rPr b="0" i="0" lang="en-US" sz="2000" u="none" cap="none" strike="noStrike">
                <a:solidFill>
                  <a:schemeClr val="dk1"/>
                </a:solidFill>
                <a:latin typeface="Calibri"/>
                <a:ea typeface="Calibri"/>
                <a:cs typeface="Calibri"/>
                <a:sym typeface="Calibri"/>
              </a:rPr>
              <a:t>The small image size and low resolution make it harder to distinguish between fine details, and the variability in viewpoints, backgrounds, and object positions adds to the classification difficulty.</a:t>
            </a:r>
            <a:endParaRPr b="0" i="0" sz="2000" u="none" cap="none" strike="noStrike">
              <a:solidFill>
                <a:schemeClr val="dk1"/>
              </a:solidFill>
              <a:latin typeface="Calibri"/>
              <a:ea typeface="Calibri"/>
              <a:cs typeface="Calibri"/>
              <a:sym typeface="Calibri"/>
            </a:endParaRPr>
          </a:p>
        </p:txBody>
      </p:sp>
      <p:pic>
        <p:nvPicPr>
          <p:cNvPr id="314" name="Google Shape;314;g2dae588f123_1_5"/>
          <p:cNvPicPr preferRelativeResize="0"/>
          <p:nvPr/>
        </p:nvPicPr>
        <p:blipFill rotWithShape="1">
          <a:blip r:embed="rId3">
            <a:alphaModFix/>
          </a:blip>
          <a:srcRect b="0" l="0" r="0" t="0"/>
          <a:stretch/>
        </p:blipFill>
        <p:spPr>
          <a:xfrm>
            <a:off x="6797875" y="2048342"/>
            <a:ext cx="5229674" cy="3976356"/>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g2dae588f123_1_21"/>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Diabetic Retinopathy</a:t>
            </a:r>
            <a:endParaRPr>
              <a:latin typeface="Calibri"/>
              <a:ea typeface="Calibri"/>
              <a:cs typeface="Calibri"/>
              <a:sym typeface="Calibri"/>
            </a:endParaRPr>
          </a:p>
        </p:txBody>
      </p:sp>
      <p:pic>
        <p:nvPicPr>
          <p:cNvPr id="320" name="Google Shape;320;g2dae588f123_1_21"/>
          <p:cNvPicPr preferRelativeResize="0"/>
          <p:nvPr/>
        </p:nvPicPr>
        <p:blipFill rotWithShape="1">
          <a:blip r:embed="rId3">
            <a:alphaModFix/>
          </a:blip>
          <a:srcRect b="0" l="0" r="0" t="0"/>
          <a:stretch/>
        </p:blipFill>
        <p:spPr>
          <a:xfrm>
            <a:off x="115175" y="1678250"/>
            <a:ext cx="6457376" cy="4340625"/>
          </a:xfrm>
          <a:prstGeom prst="rect">
            <a:avLst/>
          </a:prstGeom>
          <a:noFill/>
          <a:ln>
            <a:noFill/>
          </a:ln>
        </p:spPr>
      </p:pic>
      <p:sp>
        <p:nvSpPr>
          <p:cNvPr id="321" name="Google Shape;321;g2dae588f123_1_21"/>
          <p:cNvSpPr txBox="1"/>
          <p:nvPr/>
        </p:nvSpPr>
        <p:spPr>
          <a:xfrm>
            <a:off x="6795850" y="341875"/>
            <a:ext cx="5500200" cy="7380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Calibri"/>
                <a:ea typeface="Calibri"/>
                <a:cs typeface="Calibri"/>
                <a:sym typeface="Calibri"/>
              </a:rPr>
              <a:t>Motivation</a:t>
            </a:r>
            <a:endParaRPr b="0" i="0" sz="16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 Purpose: </a:t>
            </a:r>
            <a:r>
              <a:rPr b="0" i="0" lang="en-US" sz="1600" u="none" cap="none" strike="noStrike">
                <a:solidFill>
                  <a:schemeClr val="dk1"/>
                </a:solidFill>
                <a:latin typeface="Calibri"/>
                <a:ea typeface="Calibri"/>
                <a:cs typeface="Calibri"/>
                <a:sym typeface="Calibri"/>
              </a:rPr>
              <a:t>To improve early detection and diagnosis of diabetic retinopathy (DR) through automated analysis of retinal images.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 Significance: </a:t>
            </a:r>
            <a:r>
              <a:rPr b="0" i="0" lang="en-US" sz="1600" u="none" cap="none" strike="noStrike">
                <a:solidFill>
                  <a:schemeClr val="dk1"/>
                </a:solidFill>
                <a:latin typeface="Calibri"/>
                <a:ea typeface="Calibri"/>
                <a:cs typeface="Calibri"/>
                <a:sym typeface="Calibri"/>
              </a:rPr>
              <a:t>Early diagnosis can prevent vision loss in diabetic patients.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Calibri"/>
                <a:ea typeface="Calibri"/>
                <a:cs typeface="Calibri"/>
                <a:sym typeface="Calibri"/>
              </a:rPr>
              <a:t>Overview</a:t>
            </a:r>
            <a:endParaRPr b="0" i="0" sz="16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Content: </a:t>
            </a:r>
            <a:r>
              <a:rPr b="0" i="0" lang="en-US" sz="1600" u="none" cap="none" strike="noStrike">
                <a:solidFill>
                  <a:schemeClr val="dk1"/>
                </a:solidFill>
                <a:latin typeface="Calibri"/>
                <a:ea typeface="Calibri"/>
                <a:cs typeface="Calibri"/>
                <a:sym typeface="Calibri"/>
              </a:rPr>
              <a:t>RGB retinal images.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Source: </a:t>
            </a:r>
            <a:r>
              <a:rPr b="0" i="0" lang="en-US" sz="1600" u="none" cap="none" strike="noStrike">
                <a:solidFill>
                  <a:schemeClr val="dk1"/>
                </a:solidFill>
                <a:latin typeface="Calibri"/>
                <a:ea typeface="Calibri"/>
                <a:cs typeface="Calibri"/>
                <a:sym typeface="Calibri"/>
              </a:rPr>
              <a:t>Kaggle Diabetic Retinopathy Detection Challenge.</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Sample Size:</a:t>
            </a:r>
            <a:endParaRPr b="0" i="0" sz="1600" u="none" cap="none" strike="noStrike">
              <a:solidFill>
                <a:schemeClr val="accent4"/>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    - Total: </a:t>
            </a:r>
            <a:r>
              <a:rPr b="0" i="0" lang="en-US" sz="1600" u="none" cap="none" strike="noStrike">
                <a:solidFill>
                  <a:schemeClr val="dk1"/>
                </a:solidFill>
                <a:latin typeface="Calibri"/>
                <a:ea typeface="Calibri"/>
                <a:cs typeface="Calibri"/>
                <a:sym typeface="Calibri"/>
              </a:rPr>
              <a:t>88,702 images.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    - Training: </a:t>
            </a:r>
            <a:r>
              <a:rPr b="0" i="0" lang="en-US" sz="1600" u="none" cap="none" strike="noStrike">
                <a:solidFill>
                  <a:schemeClr val="dk1"/>
                </a:solidFill>
                <a:latin typeface="Calibri"/>
                <a:ea typeface="Calibri"/>
                <a:cs typeface="Calibri"/>
                <a:sym typeface="Calibri"/>
              </a:rPr>
              <a:t>35,126 images.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   </a:t>
            </a:r>
            <a:r>
              <a:rPr b="0" i="0" lang="en-US" sz="1600" u="none" cap="none" strike="noStrike">
                <a:solidFill>
                  <a:schemeClr val="accent4"/>
                </a:solidFill>
                <a:latin typeface="Calibri"/>
                <a:ea typeface="Calibri"/>
                <a:cs typeface="Calibri"/>
                <a:sym typeface="Calibri"/>
              </a:rPr>
              <a:t> - Test: </a:t>
            </a:r>
            <a:r>
              <a:rPr b="0" i="0" lang="en-US" sz="1600" u="none" cap="none" strike="noStrike">
                <a:solidFill>
                  <a:schemeClr val="dk1"/>
                </a:solidFill>
                <a:latin typeface="Calibri"/>
                <a:ea typeface="Calibri"/>
                <a:cs typeface="Calibri"/>
                <a:sym typeface="Calibri"/>
              </a:rPr>
              <a:t>53,576 images.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Resolution: </a:t>
            </a:r>
            <a:r>
              <a:rPr b="0" i="0" lang="en-US" sz="1600" u="none" cap="none" strike="noStrike">
                <a:solidFill>
                  <a:schemeClr val="dk1"/>
                </a:solidFill>
                <a:latin typeface="Calibri"/>
                <a:ea typeface="Calibri"/>
                <a:cs typeface="Calibri"/>
                <a:sym typeface="Calibri"/>
              </a:rPr>
              <a:t>Standardized to 512×512 pixels.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Classification: </a:t>
            </a:r>
            <a:r>
              <a:rPr b="0" i="0" lang="en-US" sz="1600" u="none" cap="none" strike="noStrike">
                <a:solidFill>
                  <a:schemeClr val="dk1"/>
                </a:solidFill>
                <a:latin typeface="Calibri"/>
                <a:ea typeface="Calibri"/>
                <a:cs typeface="Calibri"/>
                <a:sym typeface="Calibri"/>
              </a:rPr>
              <a:t>5 classes (severity of DR).</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0: No DR, 1: Mild DR (not sight threatening)</a:t>
            </a:r>
            <a:endParaRPr b="0" i="0" sz="1600" u="none" cap="none" strike="noStrike">
              <a:solidFill>
                <a:schemeClr val="dk1"/>
              </a:solidFill>
              <a:latin typeface="Calibri"/>
              <a:ea typeface="Calibri"/>
              <a:cs typeface="Calibri"/>
              <a:sym typeface="Calibri"/>
            </a:endParaRPr>
          </a:p>
          <a:p>
            <a:pPr indent="-330200" lvl="0" marL="457200" marR="0" rtl="0" algn="l">
              <a:lnSpc>
                <a:spcPct val="100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2: Moderate DR, 3: Severe DR, 4: Proliferative DR</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5"/>
                </a:solidFill>
                <a:latin typeface="Calibri"/>
                <a:ea typeface="Calibri"/>
                <a:cs typeface="Calibri"/>
                <a:sym typeface="Calibri"/>
              </a:rPr>
              <a:t>Challenges</a:t>
            </a:r>
            <a:endParaRPr b="0" i="0" sz="1600" u="none" cap="none" strike="noStrike">
              <a:solidFill>
                <a:schemeClr val="accent5"/>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Class Imbalance: </a:t>
            </a:r>
            <a:endParaRPr b="0" i="0" sz="1600" u="none" cap="none" strike="noStrike">
              <a:solidFill>
                <a:schemeClr val="dk1"/>
              </a:solidFill>
              <a:latin typeface="Calibri"/>
              <a:ea typeface="Calibri"/>
              <a:cs typeface="Calibri"/>
              <a:sym typeface="Calibri"/>
            </a:endParaRPr>
          </a:p>
          <a:p>
            <a:pPr indent="45720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-~19% for sight-threatening DR (Class 2,3,4)</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dk1"/>
                </a:solidFill>
                <a:latin typeface="Calibri"/>
                <a:ea typeface="Calibri"/>
                <a:cs typeface="Calibri"/>
                <a:sym typeface="Calibri"/>
              </a:rPr>
              <a:t>	-~81% for not sight-threatening DR (Class  0, 1)</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Data Quality:</a:t>
            </a:r>
            <a:r>
              <a:rPr b="0" i="0" lang="en-US" sz="1600" u="none" cap="none" strike="noStrike">
                <a:solidFill>
                  <a:schemeClr val="dk1"/>
                </a:solidFill>
                <a:latin typeface="Calibri"/>
                <a:ea typeface="Calibri"/>
                <a:cs typeface="Calibri"/>
                <a:sym typeface="Calibri"/>
              </a:rPr>
              <a:t> Presence of camera artifacts.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600"/>
              <a:buFont typeface="Arial"/>
              <a:buNone/>
            </a:pPr>
            <a:r>
              <a:rPr b="0" i="0" lang="en-US" sz="1600" u="none" cap="none" strike="noStrike">
                <a:solidFill>
                  <a:schemeClr val="accent4"/>
                </a:solidFill>
                <a:latin typeface="Calibri"/>
                <a:ea typeface="Calibri"/>
                <a:cs typeface="Calibri"/>
                <a:sym typeface="Calibri"/>
              </a:rPr>
              <a:t>Robustness: </a:t>
            </a:r>
            <a:r>
              <a:rPr b="0" i="0" lang="en-US" sz="1600" u="none" cap="none" strike="noStrike">
                <a:solidFill>
                  <a:schemeClr val="dk1"/>
                </a:solidFill>
                <a:latin typeface="Calibri"/>
                <a:ea typeface="Calibri"/>
                <a:cs typeface="Calibri"/>
                <a:sym typeface="Calibri"/>
              </a:rPr>
              <a:t>Testing with APTOS 2019 dataset to handle     distribution shifts.</a:t>
            </a:r>
            <a:endParaRPr b="0" i="0" sz="16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000"/>
              <a:buFont typeface="Arial"/>
              <a:buNone/>
            </a:pPr>
            <a:r>
              <a:t/>
            </a:r>
            <a:endParaRPr b="0" i="0" sz="2000" u="none" cap="none" strike="noStrike">
              <a:solidFill>
                <a:schemeClr val="dk1"/>
              </a:solidFill>
              <a:latin typeface="Calibri"/>
              <a:ea typeface="Calibri"/>
              <a:cs typeface="Calibri"/>
              <a:sym typeface="Calibri"/>
            </a:endParaRPr>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g2dae588f123_1_1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DomainNet</a:t>
            </a:r>
            <a:endParaRPr>
              <a:latin typeface="Calibri"/>
              <a:ea typeface="Calibri"/>
              <a:cs typeface="Calibri"/>
              <a:sym typeface="Calibri"/>
            </a:endParaRPr>
          </a:p>
        </p:txBody>
      </p:sp>
      <p:pic>
        <p:nvPicPr>
          <p:cNvPr id="327" name="Google Shape;327;g2dae588f123_1_17"/>
          <p:cNvPicPr preferRelativeResize="0"/>
          <p:nvPr/>
        </p:nvPicPr>
        <p:blipFill rotWithShape="1">
          <a:blip r:embed="rId3">
            <a:alphaModFix/>
          </a:blip>
          <a:srcRect b="0" l="0" r="0" t="0"/>
          <a:stretch/>
        </p:blipFill>
        <p:spPr>
          <a:xfrm>
            <a:off x="536800" y="1356877"/>
            <a:ext cx="10971451" cy="3986325"/>
          </a:xfrm>
          <a:prstGeom prst="rect">
            <a:avLst/>
          </a:prstGeom>
          <a:noFill/>
          <a:ln>
            <a:noFill/>
          </a:ln>
        </p:spPr>
      </p:pic>
      <p:sp>
        <p:nvSpPr>
          <p:cNvPr id="328" name="Google Shape;328;g2dae588f123_1_17"/>
          <p:cNvSpPr txBox="1"/>
          <p:nvPr/>
        </p:nvSpPr>
        <p:spPr>
          <a:xfrm>
            <a:off x="679650" y="5480250"/>
            <a:ext cx="11209500" cy="9234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2400"/>
              <a:buFont typeface="Arial"/>
              <a:buNone/>
            </a:pPr>
            <a:r>
              <a:rPr b="0" i="0" lang="en-US" sz="2400" u="none" cap="none" strike="noStrike">
                <a:solidFill>
                  <a:schemeClr val="dk1"/>
                </a:solidFill>
                <a:latin typeface="Calibri"/>
                <a:ea typeface="Calibri"/>
                <a:cs typeface="Calibri"/>
                <a:sym typeface="Calibri"/>
              </a:rPr>
              <a:t>The DomainNet dataset consists of images from six distinct domains, including photos (real), painting, clipart, quickdraw, infograph and sketch.</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2" name="Shape 332"/>
        <p:cNvGrpSpPr/>
        <p:nvPr/>
      </p:nvGrpSpPr>
      <p:grpSpPr>
        <a:xfrm>
          <a:off x="0" y="0"/>
          <a:ext cx="0" cy="0"/>
          <a:chOff x="0" y="0"/>
          <a:chExt cx="0" cy="0"/>
        </a:xfrm>
      </p:grpSpPr>
      <p:sp>
        <p:nvSpPr>
          <p:cNvPr id="333" name="Google Shape;333;g2db18d60713_2_0"/>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DomainNet - Motivation and Description</a:t>
            </a:r>
            <a:endParaRPr>
              <a:latin typeface="Calibri"/>
              <a:ea typeface="Calibri"/>
              <a:cs typeface="Calibri"/>
              <a:sym typeface="Calibri"/>
            </a:endParaRPr>
          </a:p>
        </p:txBody>
      </p:sp>
      <p:sp>
        <p:nvSpPr>
          <p:cNvPr id="334" name="Google Shape;334;g2db18d60713_2_0"/>
          <p:cNvSpPr txBox="1"/>
          <p:nvPr/>
        </p:nvSpPr>
        <p:spPr>
          <a:xfrm>
            <a:off x="264475" y="1497700"/>
            <a:ext cx="11793900" cy="4905000"/>
          </a:xfrm>
          <a:prstGeom prst="rect">
            <a:avLst/>
          </a:prstGeom>
          <a:noFill/>
          <a:ln>
            <a:noFill/>
          </a:ln>
        </p:spPr>
        <p:txBody>
          <a:bodyPr anchorCtr="0" anchor="t" bIns="91425" lIns="91425" spcFirstLastPara="1" rIns="91425" wrap="square" tIns="91425">
            <a:noAutofit/>
          </a:bodyPr>
          <a:lstStyle/>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Conventional </a:t>
            </a:r>
            <a:r>
              <a:rPr b="0" i="0" lang="en-US" sz="2400" u="none" cap="none" strike="noStrike">
                <a:solidFill>
                  <a:srgbClr val="00FF00"/>
                </a:solidFill>
                <a:latin typeface="Calibri"/>
                <a:ea typeface="Calibri"/>
                <a:cs typeface="Calibri"/>
                <a:sym typeface="Calibri"/>
              </a:rPr>
              <a:t>unsupervised domain adaptation (UDA)</a:t>
            </a:r>
            <a:r>
              <a:rPr b="0" i="0" lang="en-US" sz="2400" u="none" cap="none" strike="noStrike">
                <a:solidFill>
                  <a:schemeClr val="dk1"/>
                </a:solidFill>
                <a:latin typeface="Calibri"/>
                <a:ea typeface="Calibri"/>
                <a:cs typeface="Calibri"/>
                <a:sym typeface="Calibri"/>
              </a:rPr>
              <a:t> assumes that training data are sampled from a single domain. However in a more practical scenario training data is collected from multiple sources, requiring </a:t>
            </a:r>
            <a:r>
              <a:rPr b="0" i="0" lang="en-US" sz="2400" u="none" cap="none" strike="noStrike">
                <a:solidFill>
                  <a:srgbClr val="00FF00"/>
                </a:solidFill>
                <a:latin typeface="Calibri"/>
                <a:ea typeface="Calibri"/>
                <a:cs typeface="Calibri"/>
                <a:sym typeface="Calibri"/>
              </a:rPr>
              <a:t>multi-source domain adaptation</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Per domain, there are 48K - 172K images (</a:t>
            </a:r>
            <a:r>
              <a:rPr b="0" i="0" lang="en-US" sz="2400" u="none" cap="none" strike="noStrike">
                <a:solidFill>
                  <a:srgbClr val="00FF00"/>
                </a:solidFill>
                <a:latin typeface="Calibri"/>
                <a:ea typeface="Calibri"/>
                <a:cs typeface="Calibri"/>
                <a:sym typeface="Calibri"/>
              </a:rPr>
              <a:t>600K in total</a:t>
            </a:r>
            <a:r>
              <a:rPr b="0" i="0" lang="en-US" sz="2400" u="none" cap="none" strike="noStrike">
                <a:solidFill>
                  <a:schemeClr val="dk1"/>
                </a:solidFill>
                <a:latin typeface="Calibri"/>
                <a:ea typeface="Calibri"/>
                <a:cs typeface="Calibri"/>
                <a:sym typeface="Calibri"/>
              </a:rPr>
              <a:t>) categorized into </a:t>
            </a:r>
            <a:r>
              <a:rPr b="0" i="0" lang="en-US" sz="2400" u="none" cap="none" strike="noStrike">
                <a:solidFill>
                  <a:srgbClr val="00FF00"/>
                </a:solidFill>
                <a:latin typeface="Calibri"/>
                <a:ea typeface="Calibri"/>
                <a:cs typeface="Calibri"/>
                <a:sym typeface="Calibri"/>
              </a:rPr>
              <a:t>345 classes</a:t>
            </a:r>
            <a:r>
              <a:rPr b="0" i="0" lang="en-US" sz="2400" u="none" cap="none" strike="noStrike">
                <a:solidFill>
                  <a:schemeClr val="dk1"/>
                </a:solidFill>
                <a:latin typeface="Calibri"/>
                <a:ea typeface="Calibri"/>
                <a:cs typeface="Calibri"/>
                <a:sym typeface="Calibri"/>
              </a:rPr>
              <a:t>.</a:t>
            </a:r>
            <a:endParaRPr b="0" i="0" sz="2400" u="none" cap="none" strike="noStrike">
              <a:solidFill>
                <a:schemeClr val="dk1"/>
              </a:solidFill>
              <a:latin typeface="Calibri"/>
              <a:ea typeface="Calibri"/>
              <a:cs typeface="Calibri"/>
              <a:sym typeface="Calibri"/>
            </a:endParaRPr>
          </a:p>
          <a:p>
            <a:pPr indent="-381000" lvl="0" marL="457200" marR="0" rtl="0" algn="l">
              <a:lnSpc>
                <a:spcPct val="100000"/>
              </a:lnSpc>
              <a:spcBef>
                <a:spcPts val="0"/>
              </a:spcBef>
              <a:spcAft>
                <a:spcPts val="0"/>
              </a:spcAft>
              <a:buClr>
                <a:schemeClr val="dk1"/>
              </a:buClr>
              <a:buSzPts val="2400"/>
              <a:buFont typeface="Calibri"/>
              <a:buChar char="-"/>
            </a:pPr>
            <a:r>
              <a:rPr b="0" i="0" lang="en-US" sz="2400" u="none" cap="none" strike="noStrike">
                <a:solidFill>
                  <a:schemeClr val="dk1"/>
                </a:solidFill>
                <a:latin typeface="Calibri"/>
                <a:ea typeface="Calibri"/>
                <a:cs typeface="Calibri"/>
                <a:sym typeface="Calibri"/>
              </a:rPr>
              <a:t>Each domain is split into approximately</a:t>
            </a:r>
            <a:r>
              <a:rPr b="0" i="0" lang="en-US" sz="2400" u="none" cap="none" strike="noStrike">
                <a:solidFill>
                  <a:srgbClr val="00FF00"/>
                </a:solidFill>
                <a:latin typeface="Calibri"/>
                <a:ea typeface="Calibri"/>
                <a:cs typeface="Calibri"/>
                <a:sym typeface="Calibri"/>
              </a:rPr>
              <a:t> 70% for training and 30% for testing</a:t>
            </a:r>
            <a:r>
              <a:rPr b="0" i="0" lang="en-US" sz="2400" u="none" cap="none" strike="noStrike">
                <a:solidFill>
                  <a:schemeClr val="dk1"/>
                </a:solidFill>
                <a:latin typeface="Calibri"/>
                <a:ea typeface="Calibri"/>
                <a:cs typeface="Calibri"/>
                <a:sym typeface="Calibri"/>
              </a:rPr>
              <a:t>. The labels are available for the test set.</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8" name="Shape 338"/>
        <p:cNvGrpSpPr/>
        <p:nvPr/>
      </p:nvGrpSpPr>
      <p:grpSpPr>
        <a:xfrm>
          <a:off x="0" y="0"/>
          <a:ext cx="0" cy="0"/>
          <a:chOff x="0" y="0"/>
          <a:chExt cx="0" cy="0"/>
        </a:xfrm>
      </p:grpSpPr>
      <p:sp>
        <p:nvSpPr>
          <p:cNvPr id="339" name="Google Shape;339;g2db18d60713_2_7"/>
          <p:cNvSpPr txBox="1"/>
          <p:nvPr>
            <p:ph type="title"/>
          </p:nvPr>
        </p:nvSpPr>
        <p:spPr>
          <a:xfrm>
            <a:off x="415600" y="5933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DomainNet</a:t>
            </a:r>
            <a:endParaRPr>
              <a:latin typeface="Calibri"/>
              <a:ea typeface="Calibri"/>
              <a:cs typeface="Calibri"/>
              <a:sym typeface="Calibri"/>
            </a:endParaRPr>
          </a:p>
        </p:txBody>
      </p:sp>
      <p:graphicFrame>
        <p:nvGraphicFramePr>
          <p:cNvPr id="340" name="Google Shape;340;g2db18d60713_2_7"/>
          <p:cNvGraphicFramePr/>
          <p:nvPr/>
        </p:nvGraphicFramePr>
        <p:xfrm>
          <a:off x="9706325" y="1356875"/>
          <a:ext cx="3000000" cy="3000000"/>
        </p:xfrm>
        <a:graphic>
          <a:graphicData uri="http://schemas.openxmlformats.org/drawingml/2006/table">
            <a:tbl>
              <a:tblPr>
                <a:noFill/>
                <a:tableStyleId>{1D498BDD-A381-45A0-B073-4B34A80BB521}</a:tableStyleId>
              </a:tblPr>
              <a:tblGrid>
                <a:gridCol w="1110275"/>
                <a:gridCol w="1110275"/>
              </a:tblGrid>
              <a:tr h="672325">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Domain</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Images</a:t>
                      </a:r>
                      <a:endParaRPr sz="1400" u="none" cap="none" strike="noStrike">
                        <a:solidFill>
                          <a:schemeClr val="dk1"/>
                        </a:solidFill>
                        <a:latin typeface="Calibri"/>
                        <a:ea typeface="Calibri"/>
                        <a:cs typeface="Calibri"/>
                        <a:sym typeface="Calibri"/>
                      </a:endParaRPr>
                    </a:p>
                  </a:txBody>
                  <a:tcPr marT="91425" marB="91425" marR="91425" marL="91425"/>
                </a:tc>
              </a:tr>
              <a:tr h="9228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Photos (real)</a:t>
                      </a:r>
                      <a:endParaRPr sz="14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rgbClr val="000000"/>
                        </a:buClr>
                        <a:buSzPts val="1400"/>
                        <a:buFont typeface="Arial"/>
                        <a:buNone/>
                      </a:pPr>
                      <a:r>
                        <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172,947</a:t>
                      </a:r>
                      <a:endParaRPr sz="1400" u="none" cap="none" strike="noStrike">
                        <a:solidFill>
                          <a:schemeClr val="dk1"/>
                        </a:solidFill>
                        <a:latin typeface="Calibri"/>
                        <a:ea typeface="Calibri"/>
                        <a:cs typeface="Calibri"/>
                        <a:sym typeface="Calibri"/>
                      </a:endParaRPr>
                    </a:p>
                  </a:txBody>
                  <a:tcPr marT="91425" marB="91425" marR="91425" marL="91425"/>
                </a:tc>
              </a:tr>
              <a:tr h="6465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Painting</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72,266</a:t>
                      </a:r>
                      <a:endParaRPr sz="1400" u="none" cap="none" strike="noStrike">
                        <a:solidFill>
                          <a:schemeClr val="dk1"/>
                        </a:solidFill>
                        <a:latin typeface="Calibri"/>
                        <a:ea typeface="Calibri"/>
                        <a:cs typeface="Calibri"/>
                        <a:sym typeface="Calibri"/>
                      </a:endParaRPr>
                    </a:p>
                  </a:txBody>
                  <a:tcPr marT="91425" marB="91425" marR="91425" marL="91425"/>
                </a:tc>
              </a:tr>
              <a:tr h="6465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Clipart</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48,129</a:t>
                      </a:r>
                      <a:endParaRPr sz="1400" u="none" cap="none" strike="noStrike">
                        <a:solidFill>
                          <a:schemeClr val="dk1"/>
                        </a:solidFill>
                        <a:latin typeface="Calibri"/>
                        <a:ea typeface="Calibri"/>
                        <a:cs typeface="Calibri"/>
                        <a:sym typeface="Calibri"/>
                      </a:endParaRPr>
                    </a:p>
                  </a:txBody>
                  <a:tcPr marT="91425" marB="91425" marR="91425" marL="91425"/>
                </a:tc>
              </a:tr>
              <a:tr h="6465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Quickdraw</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172,500</a:t>
                      </a:r>
                      <a:endParaRPr sz="1400" u="none" cap="none" strike="noStrike">
                        <a:solidFill>
                          <a:schemeClr val="dk1"/>
                        </a:solidFill>
                        <a:latin typeface="Calibri"/>
                        <a:ea typeface="Calibri"/>
                        <a:cs typeface="Calibri"/>
                        <a:sym typeface="Calibri"/>
                      </a:endParaRPr>
                    </a:p>
                  </a:txBody>
                  <a:tcPr marT="91425" marB="91425" marR="91425" marL="91425"/>
                </a:tc>
              </a:tr>
              <a:tr h="64655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Infograph</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51,605</a:t>
                      </a:r>
                      <a:endParaRPr sz="1400" u="none" cap="none" strike="noStrike">
                        <a:solidFill>
                          <a:schemeClr val="dk1"/>
                        </a:solidFill>
                        <a:latin typeface="Calibri"/>
                        <a:ea typeface="Calibri"/>
                        <a:cs typeface="Calibri"/>
                        <a:sym typeface="Calibri"/>
                      </a:endParaRPr>
                    </a:p>
                  </a:txBody>
                  <a:tcPr marT="91425" marB="91425" marR="91425" marL="91425"/>
                </a:tc>
              </a:tr>
              <a:tr h="599800">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Sketch</a:t>
                      </a:r>
                      <a:endParaRPr sz="1400" u="none" cap="none" strike="noStrike">
                        <a:solidFill>
                          <a:schemeClr val="dk1"/>
                        </a:solidFill>
                        <a:latin typeface="Calibri"/>
                        <a:ea typeface="Calibri"/>
                        <a:cs typeface="Calibri"/>
                        <a:sym typeface="Calibri"/>
                      </a:endParaRPr>
                    </a:p>
                  </a:txBody>
                  <a:tcPr marT="91425" marB="91425" marR="91425" marL="91425"/>
                </a:tc>
                <a:tc>
                  <a:txBody>
                    <a:bodyPr/>
                    <a:lstStyle/>
                    <a:p>
                      <a:pPr indent="0" lvl="0" marL="0" marR="0" rtl="0" algn="l">
                        <a:lnSpc>
                          <a:spcPct val="100000"/>
                        </a:lnSpc>
                        <a:spcBef>
                          <a:spcPts val="0"/>
                        </a:spcBef>
                        <a:spcAft>
                          <a:spcPts val="0"/>
                        </a:spcAft>
                        <a:buClr>
                          <a:srgbClr val="000000"/>
                        </a:buClr>
                        <a:buSzPts val="1400"/>
                        <a:buFont typeface="Arial"/>
                        <a:buNone/>
                      </a:pPr>
                      <a:r>
                        <a:rPr lang="en-US" sz="1400" u="none" cap="none" strike="noStrike">
                          <a:solidFill>
                            <a:schemeClr val="dk1"/>
                          </a:solidFill>
                          <a:latin typeface="Calibri"/>
                          <a:ea typeface="Calibri"/>
                          <a:cs typeface="Calibri"/>
                          <a:sym typeface="Calibri"/>
                        </a:rPr>
                        <a:t>69,128</a:t>
                      </a:r>
                      <a:endParaRPr sz="1400" u="none" cap="none" strike="noStrike">
                        <a:solidFill>
                          <a:schemeClr val="dk1"/>
                        </a:solidFill>
                        <a:latin typeface="Calibri"/>
                        <a:ea typeface="Calibri"/>
                        <a:cs typeface="Calibri"/>
                        <a:sym typeface="Calibri"/>
                      </a:endParaRPr>
                    </a:p>
                  </a:txBody>
                  <a:tcPr marT="91425" marB="91425" marR="91425" marL="91425">
                    <a:lnB cap="flat" cmpd="sng" w="9525">
                      <a:solidFill>
                        <a:schemeClr val="lt2"/>
                      </a:solidFill>
                      <a:prstDash val="solid"/>
                      <a:round/>
                      <a:headEnd len="sm" w="sm" type="none"/>
                      <a:tailEnd len="sm" w="sm" type="none"/>
                    </a:lnB>
                  </a:tcPr>
                </a:tc>
              </a:tr>
            </a:tbl>
          </a:graphicData>
        </a:graphic>
      </p:graphicFrame>
      <p:sp>
        <p:nvSpPr>
          <p:cNvPr id="341" name="Google Shape;341;g2db18d60713_2_7"/>
          <p:cNvSpPr txBox="1"/>
          <p:nvPr/>
        </p:nvSpPr>
        <p:spPr>
          <a:xfrm>
            <a:off x="325975" y="1436175"/>
            <a:ext cx="9272100" cy="23373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Each domain has a different number of samples and each image has a different dimension/resolution.</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Each class has a different number of samples. The dataset has an average of around 150 images per category for clipart and infograph domain, around 220 per category for painting and sketch domain, and around 510 for real domain.</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accent3"/>
              </a:solidFill>
              <a:latin typeface="Average"/>
              <a:ea typeface="Average"/>
              <a:cs typeface="Average"/>
              <a:sym typeface="Average"/>
            </a:endParaRPr>
          </a:p>
        </p:txBody>
      </p:sp>
      <p:sp>
        <p:nvSpPr>
          <p:cNvPr id="342" name="Google Shape;342;g2db18d60713_2_7"/>
          <p:cNvSpPr txBox="1"/>
          <p:nvPr/>
        </p:nvSpPr>
        <p:spPr>
          <a:xfrm>
            <a:off x="415600" y="3691588"/>
            <a:ext cx="8564700" cy="5535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2800"/>
              <a:buFont typeface="Arial"/>
              <a:buNone/>
            </a:pPr>
            <a:r>
              <a:rPr b="0" i="0" lang="en-US" sz="2800" u="none" cap="none" strike="noStrike">
                <a:solidFill>
                  <a:schemeClr val="dk1"/>
                </a:solidFill>
                <a:latin typeface="Calibri"/>
                <a:ea typeface="Calibri"/>
                <a:cs typeface="Calibri"/>
                <a:sym typeface="Calibri"/>
              </a:rPr>
              <a:t>Challenges</a:t>
            </a:r>
            <a:endParaRPr b="0" i="0" sz="1200" u="none" cap="none" strike="noStrike">
              <a:solidFill>
                <a:schemeClr val="accent3"/>
              </a:solidFill>
              <a:latin typeface="Calibri"/>
              <a:ea typeface="Calibri"/>
              <a:cs typeface="Calibri"/>
              <a:sym typeface="Calibri"/>
            </a:endParaRPr>
          </a:p>
        </p:txBody>
      </p:sp>
      <p:sp>
        <p:nvSpPr>
          <p:cNvPr id="343" name="Google Shape;343;g2db18d60713_2_7"/>
          <p:cNvSpPr txBox="1"/>
          <p:nvPr/>
        </p:nvSpPr>
        <p:spPr>
          <a:xfrm>
            <a:off x="325975" y="4245100"/>
            <a:ext cx="9272100" cy="2224800"/>
          </a:xfrm>
          <a:prstGeom prst="rect">
            <a:avLst/>
          </a:prstGeom>
          <a:noFill/>
          <a:ln>
            <a:noFill/>
          </a:ln>
        </p:spPr>
        <p:txBody>
          <a:bodyPr anchorCtr="0" anchor="t" bIns="91425" lIns="91425" spcFirstLastPara="1" rIns="91425" wrap="square" tIns="91425">
            <a:noAutofit/>
          </a:bodyPr>
          <a:lstStyle/>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Images have to be resized to a consistent dimension for model training.</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Depending on the nature of the task, we could train on domain a,b and test using domain c.</a:t>
            </a:r>
            <a:endParaRPr b="0" i="0" sz="2200" u="none" cap="none" strike="noStrike">
              <a:solidFill>
                <a:schemeClr val="dk1"/>
              </a:solidFill>
              <a:latin typeface="Calibri"/>
              <a:ea typeface="Calibri"/>
              <a:cs typeface="Calibri"/>
              <a:sym typeface="Calibri"/>
            </a:endParaRPr>
          </a:p>
          <a:p>
            <a:pPr indent="-368300" lvl="0" marL="457200" marR="0" rtl="0" algn="l">
              <a:lnSpc>
                <a:spcPct val="100000"/>
              </a:lnSpc>
              <a:spcBef>
                <a:spcPts val="0"/>
              </a:spcBef>
              <a:spcAft>
                <a:spcPts val="0"/>
              </a:spcAft>
              <a:buClr>
                <a:schemeClr val="dk1"/>
              </a:buClr>
              <a:buSzPts val="2200"/>
              <a:buFont typeface="Calibri"/>
              <a:buChar char="-"/>
            </a:pPr>
            <a:r>
              <a:rPr b="0" i="0" lang="en-US" sz="2200" u="none" cap="none" strike="noStrike">
                <a:solidFill>
                  <a:schemeClr val="dk1"/>
                </a:solidFill>
                <a:latin typeface="Calibri"/>
                <a:ea typeface="Calibri"/>
                <a:cs typeface="Calibri"/>
                <a:sym typeface="Calibri"/>
              </a:rPr>
              <a:t>We could evaluate model on a small number of classes and then gradually increase.</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dk1"/>
              </a:solidFill>
              <a:latin typeface="Calibri"/>
              <a:ea typeface="Calibri"/>
              <a:cs typeface="Calibri"/>
              <a:sym typeface="Calibri"/>
            </a:endParaRPr>
          </a:p>
          <a:p>
            <a:pPr indent="0" lvl="0" marL="457200" marR="0" rtl="0" algn="l">
              <a:lnSpc>
                <a:spcPct val="100000"/>
              </a:lnSpc>
              <a:spcBef>
                <a:spcPts val="0"/>
              </a:spcBef>
              <a:spcAft>
                <a:spcPts val="0"/>
              </a:spcAft>
              <a:buClr>
                <a:srgbClr val="000000"/>
              </a:buClr>
              <a:buSzPts val="2200"/>
              <a:buFont typeface="Arial"/>
              <a:buNone/>
            </a:pPr>
            <a:r>
              <a:t/>
            </a:r>
            <a:endParaRPr b="0" i="0" sz="2200" u="none" cap="none" strike="noStrike">
              <a:solidFill>
                <a:schemeClr val="accent3"/>
              </a:solidFill>
              <a:latin typeface="Average"/>
              <a:ea typeface="Average"/>
              <a:cs typeface="Average"/>
              <a:sym typeface="Averag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7" name="Shape 347"/>
        <p:cNvGrpSpPr/>
        <p:nvPr/>
      </p:nvGrpSpPr>
      <p:grpSpPr>
        <a:xfrm>
          <a:off x="0" y="0"/>
          <a:ext cx="0" cy="0"/>
          <a:chOff x="0" y="0"/>
          <a:chExt cx="0" cy="0"/>
        </a:xfrm>
      </p:grpSpPr>
      <p:sp>
        <p:nvSpPr>
          <p:cNvPr id="348" name="Google Shape;348;g2dae588f123_1_13"/>
          <p:cNvSpPr txBox="1"/>
          <p:nvPr>
            <p:ph type="title"/>
          </p:nvPr>
        </p:nvSpPr>
        <p:spPr>
          <a:xfrm>
            <a:off x="415650" y="25246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HAM10000</a:t>
            </a:r>
            <a:endParaRPr>
              <a:latin typeface="Calibri"/>
              <a:ea typeface="Calibri"/>
              <a:cs typeface="Calibri"/>
              <a:sym typeface="Calibri"/>
            </a:endParaRPr>
          </a:p>
        </p:txBody>
      </p:sp>
      <p:pic>
        <p:nvPicPr>
          <p:cNvPr id="349" name="Google Shape;349;g2dae588f123_1_13"/>
          <p:cNvPicPr preferRelativeResize="0"/>
          <p:nvPr/>
        </p:nvPicPr>
        <p:blipFill rotWithShape="1">
          <a:blip r:embed="rId3">
            <a:alphaModFix/>
          </a:blip>
          <a:srcRect b="0" l="0" r="0" t="0"/>
          <a:stretch/>
        </p:blipFill>
        <p:spPr>
          <a:xfrm>
            <a:off x="264400" y="1891625"/>
            <a:ext cx="6149499" cy="3074749"/>
          </a:xfrm>
          <a:prstGeom prst="rect">
            <a:avLst/>
          </a:prstGeom>
          <a:noFill/>
          <a:ln>
            <a:noFill/>
          </a:ln>
        </p:spPr>
      </p:pic>
      <p:sp>
        <p:nvSpPr>
          <p:cNvPr id="350" name="Google Shape;350;g2dae588f123_1_13"/>
          <p:cNvSpPr txBox="1"/>
          <p:nvPr/>
        </p:nvSpPr>
        <p:spPr>
          <a:xfrm>
            <a:off x="8041100" y="1677725"/>
            <a:ext cx="3990300" cy="4203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1700"/>
              <a:buFont typeface="Arial"/>
              <a:buNone/>
            </a:pPr>
            <a:r>
              <a:t/>
            </a:r>
            <a:endParaRPr b="0" i="0" sz="1700" u="none" cap="none" strike="noStrike">
              <a:solidFill>
                <a:schemeClr val="dk1"/>
              </a:solidFill>
              <a:latin typeface="Calibri"/>
              <a:ea typeface="Calibri"/>
              <a:cs typeface="Calibri"/>
              <a:sym typeface="Calibri"/>
            </a:endParaRPr>
          </a:p>
        </p:txBody>
      </p:sp>
      <p:sp>
        <p:nvSpPr>
          <p:cNvPr id="351" name="Google Shape;351;g2dae588f123_1_13"/>
          <p:cNvSpPr txBox="1"/>
          <p:nvPr/>
        </p:nvSpPr>
        <p:spPr>
          <a:xfrm>
            <a:off x="6542900" y="1176400"/>
            <a:ext cx="5488500" cy="5529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Calibri"/>
              <a:buChar char="-"/>
            </a:pPr>
            <a:r>
              <a:rPr b="1" i="0" lang="en-US" sz="1600" u="none" cap="none" strike="noStrike">
                <a:solidFill>
                  <a:schemeClr val="dk1"/>
                </a:solidFill>
                <a:latin typeface="Calibri"/>
                <a:ea typeface="Calibri"/>
                <a:cs typeface="Calibri"/>
                <a:sym typeface="Calibri"/>
              </a:rPr>
              <a:t>Dataset Overview:</a:t>
            </a:r>
            <a:endParaRPr b="1"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 HAM10000 dataset, known as "Human Against Machine with 10000 training images," is a comprehensive collection of dermatoscopic images used for training neural networks to diagnose pigmented skin lesions.</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It includes 10,015 dermatoscopic images sourced from various populations and stored using different modalities, which increases its diversity and utility for machine learning research.</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chemeClr val="dk1"/>
              </a:buClr>
              <a:buSzPts val="1600"/>
              <a:buFont typeface="Calibri"/>
              <a:buChar char="-"/>
            </a:pPr>
            <a:r>
              <a:rPr b="1" i="0" lang="en-US" sz="1600" u="none" cap="none" strike="noStrike">
                <a:solidFill>
                  <a:schemeClr val="dk1"/>
                </a:solidFill>
                <a:latin typeface="Calibri"/>
                <a:ea typeface="Calibri"/>
                <a:cs typeface="Calibri"/>
                <a:sym typeface="Calibri"/>
              </a:rPr>
              <a:t>Significance:</a:t>
            </a:r>
            <a:endParaRPr b="1"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This dataset addresses the critical need for large, diverse datasets in the automated diagnosis of skin lesions, offering a robust training set that includes all major diagnostic categories of pigmented skin lesions.</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Over 50% of the lesions in the dataset have been verified by pathology, enhancing the reliability of the training data.</a:t>
            </a:r>
            <a:endParaRPr b="0" i="0" sz="2400" u="none" cap="none" strike="noStrike">
              <a:solidFill>
                <a:schemeClr val="accent3"/>
              </a:solidFill>
              <a:latin typeface="Average"/>
              <a:ea typeface="Average"/>
              <a:cs typeface="Average"/>
              <a:sym typeface="Average"/>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5" name="Shape 355"/>
        <p:cNvGrpSpPr/>
        <p:nvPr/>
      </p:nvGrpSpPr>
      <p:grpSpPr>
        <a:xfrm>
          <a:off x="0" y="0"/>
          <a:ext cx="0" cy="0"/>
          <a:chOff x="0" y="0"/>
          <a:chExt cx="0" cy="0"/>
        </a:xfrm>
      </p:grpSpPr>
      <p:sp>
        <p:nvSpPr>
          <p:cNvPr id="356" name="Google Shape;356;g270db738eac_27_8"/>
          <p:cNvSpPr txBox="1"/>
          <p:nvPr>
            <p:ph type="title"/>
          </p:nvPr>
        </p:nvSpPr>
        <p:spPr>
          <a:xfrm>
            <a:off x="415650" y="312617"/>
            <a:ext cx="11360700" cy="763500"/>
          </a:xfrm>
          <a:prstGeom prst="rect">
            <a:avLst/>
          </a:prstGeom>
          <a:noFill/>
          <a:ln>
            <a:noFill/>
          </a:ln>
        </p:spPr>
        <p:txBody>
          <a:bodyPr anchorCtr="0" anchor="t" bIns="121900" lIns="121900" spcFirstLastPara="1" rIns="121900" wrap="square" tIns="121900">
            <a:normAutofit fontScale="90000"/>
          </a:bodyPr>
          <a:lstStyle/>
          <a:p>
            <a:pPr indent="0" lvl="0" marL="0" rtl="0" algn="l">
              <a:lnSpc>
                <a:spcPct val="100000"/>
              </a:lnSpc>
              <a:spcBef>
                <a:spcPts val="0"/>
              </a:spcBef>
              <a:spcAft>
                <a:spcPts val="0"/>
              </a:spcAft>
              <a:buSzPct val="111111"/>
              <a:buNone/>
            </a:pPr>
            <a:r>
              <a:rPr lang="en-US">
                <a:latin typeface="Calibri"/>
                <a:ea typeface="Calibri"/>
                <a:cs typeface="Calibri"/>
                <a:sym typeface="Calibri"/>
              </a:rPr>
              <a:t>HAM10000</a:t>
            </a:r>
            <a:endParaRPr/>
          </a:p>
        </p:txBody>
      </p:sp>
      <p:sp>
        <p:nvSpPr>
          <p:cNvPr id="357" name="Google Shape;357;g270db738eac_27_8"/>
          <p:cNvSpPr txBox="1"/>
          <p:nvPr/>
        </p:nvSpPr>
        <p:spPr>
          <a:xfrm>
            <a:off x="7364800" y="954325"/>
            <a:ext cx="4411500" cy="5529000"/>
          </a:xfrm>
          <a:prstGeom prst="rect">
            <a:avLst/>
          </a:prstGeom>
          <a:noFill/>
          <a:ln>
            <a:noFill/>
          </a:ln>
        </p:spPr>
        <p:txBody>
          <a:bodyPr anchorCtr="0" anchor="t" bIns="91425" lIns="91425" spcFirstLastPara="1" rIns="91425" wrap="square" tIns="91425">
            <a:spAutoFit/>
          </a:bodyPr>
          <a:lstStyle/>
          <a:p>
            <a:pPr indent="-330200" lvl="0" marL="4572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Usage:</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HAM10000 is publicly available through the ISIC archive and has been a part of the ISIC 2018 classification challenge.</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It serves as a benchmark dataset, allowing for meaningful comparisons between machine learning models and human experts in the field of dermatology.</a:t>
            </a:r>
            <a:endParaRPr b="0" i="0" sz="1600" u="none" cap="none" strike="noStrike">
              <a:solidFill>
                <a:schemeClr val="dk1"/>
              </a:solidFill>
              <a:latin typeface="Calibri"/>
              <a:ea typeface="Calibri"/>
              <a:cs typeface="Calibri"/>
              <a:sym typeface="Calibri"/>
            </a:endParaRPr>
          </a:p>
          <a:p>
            <a:pPr indent="-330200" lvl="0" marL="4572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Unique Aspects:</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The dataset incorporates images collected over 20 years from two distinct sites: the Medical University of Vienna and a skin cancer practice in Queensland, Australia.</a:t>
            </a:r>
            <a:endParaRPr b="0" i="0" sz="1600" u="none" cap="none" strike="noStrike">
              <a:solidFill>
                <a:schemeClr val="dk1"/>
              </a:solidFill>
              <a:latin typeface="Calibri"/>
              <a:ea typeface="Calibri"/>
              <a:cs typeface="Calibri"/>
              <a:sym typeface="Calibri"/>
            </a:endParaRPr>
          </a:p>
          <a:p>
            <a:pPr indent="-330200" lvl="1" marL="914400" marR="0" rtl="0" algn="l">
              <a:lnSpc>
                <a:spcPct val="115000"/>
              </a:lnSpc>
              <a:spcBef>
                <a:spcPts val="0"/>
              </a:spcBef>
              <a:spcAft>
                <a:spcPts val="0"/>
              </a:spcAft>
              <a:buClr>
                <a:schemeClr val="dk1"/>
              </a:buClr>
              <a:buSzPts val="1600"/>
              <a:buFont typeface="Calibri"/>
              <a:buChar char="-"/>
            </a:pPr>
            <a:r>
              <a:rPr b="0" i="0" lang="en-US" sz="1600" u="none" cap="none" strike="noStrike">
                <a:solidFill>
                  <a:schemeClr val="dk1"/>
                </a:solidFill>
                <a:latin typeface="Calibri"/>
                <a:ea typeface="Calibri"/>
                <a:cs typeface="Calibri"/>
                <a:sym typeface="Calibri"/>
              </a:rPr>
              <a:t>It includes a variety of image types and conditions, reflecting real-world variability and challenges in diagnosing skin lesions.</a:t>
            </a:r>
            <a:endParaRPr b="0" i="0" sz="2400" u="none" cap="none" strike="noStrike">
              <a:solidFill>
                <a:schemeClr val="accent3"/>
              </a:solidFill>
              <a:latin typeface="Average"/>
              <a:ea typeface="Average"/>
              <a:cs typeface="Average"/>
              <a:sym typeface="Average"/>
            </a:endParaRPr>
          </a:p>
        </p:txBody>
      </p:sp>
      <p:pic>
        <p:nvPicPr>
          <p:cNvPr id="358" name="Google Shape;358;g270db738eac_27_8"/>
          <p:cNvPicPr preferRelativeResize="0"/>
          <p:nvPr/>
        </p:nvPicPr>
        <p:blipFill rotWithShape="1">
          <a:blip r:embed="rId3">
            <a:alphaModFix/>
          </a:blip>
          <a:srcRect b="0" l="0" r="0" t="0"/>
          <a:stretch/>
        </p:blipFill>
        <p:spPr>
          <a:xfrm>
            <a:off x="304800" y="1830092"/>
            <a:ext cx="7060001" cy="3402833"/>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sp>
        <p:nvSpPr>
          <p:cNvPr id="363" name="Google Shape;363;g2d25660a1ed_0_77"/>
          <p:cNvSpPr txBox="1"/>
          <p:nvPr>
            <p:ph idx="4294967295" type="ctrTitle"/>
          </p:nvPr>
        </p:nvSpPr>
        <p:spPr>
          <a:xfrm>
            <a:off x="4691238" y="802100"/>
            <a:ext cx="2809500" cy="1624200"/>
          </a:xfrm>
          <a:prstGeom prst="rect">
            <a:avLst/>
          </a:prstGeom>
          <a:noFill/>
          <a:ln>
            <a:noFill/>
          </a:ln>
        </p:spPr>
        <p:txBody>
          <a:bodyPr anchorCtr="0" anchor="b" bIns="45700" lIns="91425" spcFirstLastPara="1" rIns="91425" wrap="square" tIns="45700">
            <a:noAutofit/>
          </a:bodyPr>
          <a:lstStyle/>
          <a:p>
            <a:pPr indent="0" lvl="0" marL="0" marR="0" rtl="0" algn="l">
              <a:lnSpc>
                <a:spcPct val="100000"/>
              </a:lnSpc>
              <a:spcBef>
                <a:spcPts val="0"/>
              </a:spcBef>
              <a:spcAft>
                <a:spcPts val="0"/>
              </a:spcAft>
              <a:buClr>
                <a:srgbClr val="0D0D0D"/>
              </a:buClr>
              <a:buSzPts val="4400"/>
              <a:buFont typeface="Arial"/>
              <a:buNone/>
            </a:pPr>
            <a:r>
              <a:rPr b="0" i="0" lang="en-US" sz="4800" u="none" cap="none" strike="noStrike">
                <a:solidFill>
                  <a:schemeClr val="dk1"/>
                </a:solidFill>
                <a:latin typeface="Calibri"/>
                <a:ea typeface="Calibri"/>
                <a:cs typeface="Calibri"/>
                <a:sym typeface="Calibri"/>
              </a:rPr>
              <a:t>Questions</a:t>
            </a:r>
            <a:endParaRPr b="0" i="0" sz="4800" u="none" cap="none" strike="noStrike">
              <a:solidFill>
                <a:schemeClr val="dk1"/>
              </a:solidFill>
              <a:latin typeface="Calibri"/>
              <a:ea typeface="Calibri"/>
              <a:cs typeface="Calibri"/>
              <a:sym typeface="Calibri"/>
            </a:endParaRPr>
          </a:p>
          <a:p>
            <a:pPr indent="0" lvl="0" marL="0" marR="0" rtl="0" algn="l">
              <a:lnSpc>
                <a:spcPct val="100000"/>
              </a:lnSpc>
              <a:spcBef>
                <a:spcPts val="0"/>
              </a:spcBef>
              <a:spcAft>
                <a:spcPts val="0"/>
              </a:spcAft>
              <a:buClr>
                <a:schemeClr val="dk1"/>
              </a:buClr>
              <a:buSzPts val="4400"/>
              <a:buFont typeface="Calibri"/>
              <a:buNone/>
            </a:pPr>
            <a:r>
              <a:t/>
            </a:r>
            <a:endParaRPr b="1" i="0" sz="4800" u="none" cap="none" strike="noStrike">
              <a:solidFill>
                <a:srgbClr val="6AA84F"/>
              </a:solidFill>
              <a:highlight>
                <a:schemeClr val="lt1"/>
              </a:highlight>
              <a:latin typeface="Arial"/>
              <a:ea typeface="Arial"/>
              <a:cs typeface="Arial"/>
              <a:sym typeface="Arial"/>
            </a:endParaRPr>
          </a:p>
        </p:txBody>
      </p:sp>
      <p:pic>
        <p:nvPicPr>
          <p:cNvPr id="364" name="Google Shape;364;g2d25660a1ed_0_77"/>
          <p:cNvPicPr preferRelativeResize="0"/>
          <p:nvPr/>
        </p:nvPicPr>
        <p:blipFill rotWithShape="1">
          <a:blip r:embed="rId3">
            <a:alphaModFix/>
          </a:blip>
          <a:srcRect b="0" l="0" r="0" t="0"/>
          <a:stretch/>
        </p:blipFill>
        <p:spPr>
          <a:xfrm>
            <a:off x="4071100" y="2051450"/>
            <a:ext cx="4049775" cy="4049775"/>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late">
  <a:themeElements>
    <a:clrScheme name="Slate">
      <a:dk1>
        <a:srgbClr val="FFFFFF"/>
      </a:dk1>
      <a:lt1>
        <a:srgbClr val="37474F"/>
      </a:lt1>
      <a:dk2>
        <a:srgbClr val="9E9E9E"/>
      </a:dk2>
      <a:lt2>
        <a:srgbClr val="E0E0E0"/>
      </a:lt2>
      <a:accent1>
        <a:srgbClr val="616161"/>
      </a:accent1>
      <a:accent2>
        <a:srgbClr val="78909C"/>
      </a:accent2>
      <a:accent3>
        <a:srgbClr val="CACACA"/>
      </a:accent3>
      <a:accent4>
        <a:srgbClr val="64FFDA"/>
      </a:accent4>
      <a:accent5>
        <a:srgbClr val="FFD966"/>
      </a:accent5>
      <a:accent6>
        <a:srgbClr val="F5F5F5"/>
      </a:accent6>
      <a:hlink>
        <a:srgbClr val="FFD966"/>
      </a:hlink>
      <a:folHlink>
        <a:srgbClr val="FFD966"/>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2024-05-01T09:15:05Z</dcterms:created>
  <dc:creator>Muhammad Farhan Tanvir</dc:creator>
</cp:coreProperties>
</file>