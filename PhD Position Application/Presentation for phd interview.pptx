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517" autoAdjust="0"/>
  </p:normalViewPr>
  <p:slideViewPr>
    <p:cSldViewPr>
      <p:cViewPr varScale="1">
        <p:scale>
          <a:sx n="241" d="100"/>
          <a:sy n="241" d="100"/>
        </p:scale>
        <p:origin x="2918" y="14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FDA850-2279-48E5-9458-8B42C90886DA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7F303AC-F1B1-4593-AFE3-B15661B3A8F5}">
      <dgm:prSet/>
      <dgm:spPr/>
      <dgm:t>
        <a:bodyPr/>
        <a:lstStyle/>
        <a:p>
          <a:r>
            <a:rPr lang="en-US" dirty="0"/>
            <a:t>TU Dortmund ls9 Group: UQ in Deep Learning </a:t>
          </a:r>
        </a:p>
      </dgm:t>
    </dgm:pt>
    <dgm:pt modelId="{77753020-650A-4254-8FDC-8BCD928D4D18}" type="parTrans" cxnId="{8E6848B5-2BD0-4F0F-8719-B4779FEE4C58}">
      <dgm:prSet/>
      <dgm:spPr/>
      <dgm:t>
        <a:bodyPr/>
        <a:lstStyle/>
        <a:p>
          <a:endParaRPr lang="en-US"/>
        </a:p>
      </dgm:t>
    </dgm:pt>
    <dgm:pt modelId="{5D82F626-107E-4334-887E-48B5A01FC631}" type="sibTrans" cxnId="{8E6848B5-2BD0-4F0F-8719-B4779FEE4C58}">
      <dgm:prSet/>
      <dgm:spPr/>
      <dgm:t>
        <a:bodyPr/>
        <a:lstStyle/>
        <a:p>
          <a:endParaRPr lang="en-US"/>
        </a:p>
      </dgm:t>
    </dgm:pt>
    <dgm:pt modelId="{5E0BCDB0-E211-473C-9910-56B4992E4AA4}">
      <dgm:prSet/>
      <dgm:spPr/>
      <dgm:t>
        <a:bodyPr/>
        <a:lstStyle/>
        <a:p>
          <a:r>
            <a:rPr lang="en-US" dirty="0"/>
            <a:t>Reproducible Python/PyTorch workflow</a:t>
          </a:r>
        </a:p>
      </dgm:t>
    </dgm:pt>
    <dgm:pt modelId="{147202C3-C59B-4C11-8DC5-D2F3CDFB3416}" type="parTrans" cxnId="{619DB8E7-00E7-454C-89AD-6C276DB2D06D}">
      <dgm:prSet/>
      <dgm:spPr/>
      <dgm:t>
        <a:bodyPr/>
        <a:lstStyle/>
        <a:p>
          <a:endParaRPr lang="en-US"/>
        </a:p>
      </dgm:t>
    </dgm:pt>
    <dgm:pt modelId="{1A427DAA-D2E0-427D-A3DC-F57D70A05DDD}" type="sibTrans" cxnId="{619DB8E7-00E7-454C-89AD-6C276DB2D06D}">
      <dgm:prSet/>
      <dgm:spPr/>
      <dgm:t>
        <a:bodyPr/>
        <a:lstStyle/>
        <a:p>
          <a:endParaRPr lang="en-US"/>
        </a:p>
      </dgm:t>
    </dgm:pt>
    <dgm:pt modelId="{989C4907-DCC3-43B0-9405-D02661CEAAC0}">
      <dgm:prSet/>
      <dgm:spPr/>
      <dgm:t>
        <a:bodyPr/>
        <a:lstStyle/>
        <a:p>
          <a:r>
            <a:rPr lang="en-US" dirty="0"/>
            <a:t>TU Dortmund Project: Seminar </a:t>
          </a:r>
        </a:p>
      </dgm:t>
    </dgm:pt>
    <dgm:pt modelId="{462F2FCD-6574-4B59-9F1E-D12D88DA49A6}" type="parTrans" cxnId="{98B04764-A2A6-4555-ACF9-E1D929DA40B6}">
      <dgm:prSet/>
      <dgm:spPr/>
      <dgm:t>
        <a:bodyPr/>
        <a:lstStyle/>
        <a:p>
          <a:endParaRPr lang="en-US"/>
        </a:p>
      </dgm:t>
    </dgm:pt>
    <dgm:pt modelId="{783CC7E7-4439-4C5C-922B-F3B52C4D16E4}" type="sibTrans" cxnId="{98B04764-A2A6-4555-ACF9-E1D929DA40B6}">
      <dgm:prSet/>
      <dgm:spPr/>
      <dgm:t>
        <a:bodyPr/>
        <a:lstStyle/>
        <a:p>
          <a:endParaRPr lang="en-US"/>
        </a:p>
      </dgm:t>
    </dgm:pt>
    <dgm:pt modelId="{7A9C156D-FE2F-4710-88AA-710A6C489427}">
      <dgm:prSet/>
      <dgm:spPr/>
      <dgm:t>
        <a:bodyPr/>
        <a:lstStyle/>
        <a:p>
          <a:r>
            <a:rPr lang="en-US" dirty="0"/>
            <a:t>GAN Implementation, </a:t>
          </a:r>
        </a:p>
      </dgm:t>
    </dgm:pt>
    <dgm:pt modelId="{419BEC81-DFEF-4E8C-9D68-2DCBB80DF615}" type="parTrans" cxnId="{ACD2F639-D01B-47B0-981F-6B9AC0651EBA}">
      <dgm:prSet/>
      <dgm:spPr/>
      <dgm:t>
        <a:bodyPr/>
        <a:lstStyle/>
        <a:p>
          <a:endParaRPr lang="en-US"/>
        </a:p>
      </dgm:t>
    </dgm:pt>
    <dgm:pt modelId="{7B572A19-D02A-4039-8075-366A2071B5BE}" type="sibTrans" cxnId="{ACD2F639-D01B-47B0-981F-6B9AC0651EBA}">
      <dgm:prSet/>
      <dgm:spPr/>
      <dgm:t>
        <a:bodyPr/>
        <a:lstStyle/>
        <a:p>
          <a:endParaRPr lang="en-US"/>
        </a:p>
      </dgm:t>
    </dgm:pt>
    <dgm:pt modelId="{42A205A9-D745-41ED-AE54-FCC25593118C}">
      <dgm:prSet/>
      <dgm:spPr/>
      <dgm:t>
        <a:bodyPr/>
        <a:lstStyle/>
        <a:p>
          <a:r>
            <a:rPr lang="en-US" dirty="0"/>
            <a:t>convergence instability, </a:t>
          </a:r>
        </a:p>
      </dgm:t>
    </dgm:pt>
    <dgm:pt modelId="{6E495035-18D5-4319-B552-2AEC675CE507}" type="parTrans" cxnId="{5E7C7D8A-10CC-4B11-A747-6899AEA24D07}">
      <dgm:prSet/>
      <dgm:spPr/>
      <dgm:t>
        <a:bodyPr/>
        <a:lstStyle/>
        <a:p>
          <a:endParaRPr lang="en-US"/>
        </a:p>
      </dgm:t>
    </dgm:pt>
    <dgm:pt modelId="{3FC8E535-5514-4F2C-9E72-55D4E81F2385}" type="sibTrans" cxnId="{5E7C7D8A-10CC-4B11-A747-6899AEA24D07}">
      <dgm:prSet/>
      <dgm:spPr/>
      <dgm:t>
        <a:bodyPr/>
        <a:lstStyle/>
        <a:p>
          <a:endParaRPr lang="en-US"/>
        </a:p>
      </dgm:t>
    </dgm:pt>
    <dgm:pt modelId="{D395C78B-2217-4C51-A696-A46EC6F83968}">
      <dgm:prSet/>
      <dgm:spPr/>
      <dgm:t>
        <a:bodyPr/>
        <a:lstStyle/>
        <a:p>
          <a:r>
            <a:rPr lang="en-US" dirty="0"/>
            <a:t>hyperparameter sensitivity</a:t>
          </a:r>
        </a:p>
      </dgm:t>
    </dgm:pt>
    <dgm:pt modelId="{03DEEDD5-32C0-40C7-8957-8770E10A4C9E}" type="parTrans" cxnId="{50B19A31-1FBE-44EA-B0AF-2D7403CDF5DE}">
      <dgm:prSet/>
      <dgm:spPr/>
      <dgm:t>
        <a:bodyPr/>
        <a:lstStyle/>
        <a:p>
          <a:endParaRPr lang="en-US"/>
        </a:p>
      </dgm:t>
    </dgm:pt>
    <dgm:pt modelId="{4828CD38-85C3-4CAE-B485-4C52FAAE42AE}" type="sibTrans" cxnId="{50B19A31-1FBE-44EA-B0AF-2D7403CDF5DE}">
      <dgm:prSet/>
      <dgm:spPr/>
      <dgm:t>
        <a:bodyPr/>
        <a:lstStyle/>
        <a:p>
          <a:endParaRPr lang="en-US"/>
        </a:p>
      </dgm:t>
    </dgm:pt>
    <dgm:pt modelId="{B3E1EA1B-0A4C-44B8-BB78-5F58D0E92CF2}">
      <dgm:prSet/>
      <dgm:spPr/>
      <dgm:t>
        <a:bodyPr/>
        <a:lstStyle/>
        <a:p>
          <a:r>
            <a:rPr lang="en-US" dirty="0"/>
            <a:t>Experimental Pipeline</a:t>
          </a:r>
        </a:p>
      </dgm:t>
    </dgm:pt>
    <dgm:pt modelId="{148A77FB-46C8-44B9-AF65-3A7A10BDB064}" type="sibTrans" cxnId="{B60CF965-A5BF-4C3B-A62C-33F7A4C59768}">
      <dgm:prSet/>
      <dgm:spPr/>
      <dgm:t>
        <a:bodyPr/>
        <a:lstStyle/>
        <a:p>
          <a:endParaRPr lang="en-US"/>
        </a:p>
      </dgm:t>
    </dgm:pt>
    <dgm:pt modelId="{06FFAB91-572A-46BD-B46A-E20525FF0AA9}" type="parTrans" cxnId="{B60CF965-A5BF-4C3B-A62C-33F7A4C59768}">
      <dgm:prSet/>
      <dgm:spPr/>
      <dgm:t>
        <a:bodyPr/>
        <a:lstStyle/>
        <a:p>
          <a:endParaRPr lang="en-US"/>
        </a:p>
      </dgm:t>
    </dgm:pt>
    <dgm:pt modelId="{27DBD574-7965-4C06-96DC-2A3C424546A6}" type="pres">
      <dgm:prSet presAssocID="{88FDA850-2279-48E5-9458-8B42C90886DA}" presName="Name0" presStyleCnt="0">
        <dgm:presLayoutVars>
          <dgm:dir/>
          <dgm:animLvl val="lvl"/>
          <dgm:resizeHandles val="exact"/>
        </dgm:presLayoutVars>
      </dgm:prSet>
      <dgm:spPr/>
    </dgm:pt>
    <dgm:pt modelId="{59B01F80-67AB-44A0-8386-F5D7EC26D14D}" type="pres">
      <dgm:prSet presAssocID="{B3E1EA1B-0A4C-44B8-BB78-5F58D0E92CF2}" presName="linNode" presStyleCnt="0"/>
      <dgm:spPr/>
    </dgm:pt>
    <dgm:pt modelId="{51B756A8-EA68-4C0A-9035-178790D1FCE9}" type="pres">
      <dgm:prSet presAssocID="{B3E1EA1B-0A4C-44B8-BB78-5F58D0E92CF2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CC9ADADC-5198-493C-970D-2C8247F6CD31}" type="pres">
      <dgm:prSet presAssocID="{B3E1EA1B-0A4C-44B8-BB78-5F58D0E92CF2}" presName="descendantText" presStyleLbl="alignAccFollowNode1" presStyleIdx="0" presStyleCnt="2">
        <dgm:presLayoutVars>
          <dgm:bulletEnabled val="1"/>
        </dgm:presLayoutVars>
      </dgm:prSet>
      <dgm:spPr/>
    </dgm:pt>
    <dgm:pt modelId="{F3078632-9B15-40E2-AB90-7F05DBA42D78}" type="pres">
      <dgm:prSet presAssocID="{148A77FB-46C8-44B9-AF65-3A7A10BDB064}" presName="sp" presStyleCnt="0"/>
      <dgm:spPr/>
    </dgm:pt>
    <dgm:pt modelId="{1DC51B21-15DC-4B53-AB71-F4111D4EFB22}" type="pres">
      <dgm:prSet presAssocID="{5E0BCDB0-E211-473C-9910-56B4992E4AA4}" presName="linNode" presStyleCnt="0"/>
      <dgm:spPr/>
    </dgm:pt>
    <dgm:pt modelId="{435F6363-8FBB-4DA9-8BAC-30CBF882ECE8}" type="pres">
      <dgm:prSet presAssocID="{5E0BCDB0-E211-473C-9910-56B4992E4AA4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47654346-8593-47E0-9671-85A248BDE54C}" type="pres">
      <dgm:prSet presAssocID="{5E0BCDB0-E211-473C-9910-56B4992E4AA4}" presName="descendantText" presStyleLbl="alignAccFollowNode1" presStyleIdx="1" presStyleCnt="2" custLinFactY="43630" custLinFactNeighborX="1639" custLinFactNeighborY="100000">
        <dgm:presLayoutVars>
          <dgm:bulletEnabled val="1"/>
        </dgm:presLayoutVars>
      </dgm:prSet>
      <dgm:spPr/>
    </dgm:pt>
    <dgm:pt modelId="{8B289450-3490-4C09-99AD-0719ADEF4C8E}" type="pres">
      <dgm:prSet presAssocID="{1A427DAA-D2E0-427D-A3DC-F57D70A05DDD}" presName="sp" presStyleCnt="0"/>
      <dgm:spPr/>
    </dgm:pt>
    <dgm:pt modelId="{149400BF-1BD3-43A6-A384-6FDD1C3B5FC4}" type="pres">
      <dgm:prSet presAssocID="{7A9C156D-FE2F-4710-88AA-710A6C489427}" presName="linNode" presStyleCnt="0"/>
      <dgm:spPr/>
    </dgm:pt>
    <dgm:pt modelId="{342952F3-797B-42D2-9E4B-EF41C65C9DB1}" type="pres">
      <dgm:prSet presAssocID="{7A9C156D-FE2F-4710-88AA-710A6C489427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F99CBA06-0CA8-4BFA-99E0-94AEAD0444C8}" type="pres">
      <dgm:prSet presAssocID="{7B572A19-D02A-4039-8075-366A2071B5BE}" presName="sp" presStyleCnt="0"/>
      <dgm:spPr/>
    </dgm:pt>
    <dgm:pt modelId="{677CBFBE-0E6D-4C9B-BDF5-4DEEFA66F058}" type="pres">
      <dgm:prSet presAssocID="{42A205A9-D745-41ED-AE54-FCC25593118C}" presName="linNode" presStyleCnt="0"/>
      <dgm:spPr/>
    </dgm:pt>
    <dgm:pt modelId="{80F1141F-7F01-40B0-9571-30D938B6DF34}" type="pres">
      <dgm:prSet presAssocID="{42A205A9-D745-41ED-AE54-FCC25593118C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448508DB-4D81-4FDA-88A0-55667976783E}" type="pres">
      <dgm:prSet presAssocID="{3FC8E535-5514-4F2C-9E72-55D4E81F2385}" presName="sp" presStyleCnt="0"/>
      <dgm:spPr/>
    </dgm:pt>
    <dgm:pt modelId="{2FBF3F01-7569-463A-8A41-F5B7863B36C4}" type="pres">
      <dgm:prSet presAssocID="{D395C78B-2217-4C51-A696-A46EC6F83968}" presName="linNode" presStyleCnt="0"/>
      <dgm:spPr/>
    </dgm:pt>
    <dgm:pt modelId="{BA52C126-B813-4C4C-BDED-2A74FCD8D6B4}" type="pres">
      <dgm:prSet presAssocID="{D395C78B-2217-4C51-A696-A46EC6F83968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85707B02-ED8D-4B45-A080-F9909DDEAA98}" type="presOf" srcId="{42A205A9-D745-41ED-AE54-FCC25593118C}" destId="{80F1141F-7F01-40B0-9571-30D938B6DF34}" srcOrd="0" destOrd="0" presId="urn:microsoft.com/office/officeart/2005/8/layout/vList5"/>
    <dgm:cxn modelId="{AD00B72F-AC52-401C-AADD-DDDFE2E10D28}" type="presOf" srcId="{989C4907-DCC3-43B0-9405-D02661CEAAC0}" destId="{47654346-8593-47E0-9671-85A248BDE54C}" srcOrd="0" destOrd="0" presId="urn:microsoft.com/office/officeart/2005/8/layout/vList5"/>
    <dgm:cxn modelId="{50B19A31-1FBE-44EA-B0AF-2D7403CDF5DE}" srcId="{88FDA850-2279-48E5-9458-8B42C90886DA}" destId="{D395C78B-2217-4C51-A696-A46EC6F83968}" srcOrd="4" destOrd="0" parTransId="{03DEEDD5-32C0-40C7-8957-8770E10A4C9E}" sibTransId="{4828CD38-85C3-4CAE-B485-4C52FAAE42AE}"/>
    <dgm:cxn modelId="{D53EC135-A769-430A-AD17-97EB92D03E52}" type="presOf" srcId="{B3E1EA1B-0A4C-44B8-BB78-5F58D0E92CF2}" destId="{51B756A8-EA68-4C0A-9035-178790D1FCE9}" srcOrd="0" destOrd="0" presId="urn:microsoft.com/office/officeart/2005/8/layout/vList5"/>
    <dgm:cxn modelId="{ACD2F639-D01B-47B0-981F-6B9AC0651EBA}" srcId="{88FDA850-2279-48E5-9458-8B42C90886DA}" destId="{7A9C156D-FE2F-4710-88AA-710A6C489427}" srcOrd="2" destOrd="0" parTransId="{419BEC81-DFEF-4E8C-9D68-2DCBB80DF615}" sibTransId="{7B572A19-D02A-4039-8075-366A2071B5BE}"/>
    <dgm:cxn modelId="{6CAA2A44-7D83-4EE0-A0F9-36AA4A92EC20}" type="presOf" srcId="{5E0BCDB0-E211-473C-9910-56B4992E4AA4}" destId="{435F6363-8FBB-4DA9-8BAC-30CBF882ECE8}" srcOrd="0" destOrd="0" presId="urn:microsoft.com/office/officeart/2005/8/layout/vList5"/>
    <dgm:cxn modelId="{98B04764-A2A6-4555-ACF9-E1D929DA40B6}" srcId="{5E0BCDB0-E211-473C-9910-56B4992E4AA4}" destId="{989C4907-DCC3-43B0-9405-D02661CEAAC0}" srcOrd="0" destOrd="0" parTransId="{462F2FCD-6574-4B59-9F1E-D12D88DA49A6}" sibTransId="{783CC7E7-4439-4C5C-922B-F3B52C4D16E4}"/>
    <dgm:cxn modelId="{B60CF965-A5BF-4C3B-A62C-33F7A4C59768}" srcId="{88FDA850-2279-48E5-9458-8B42C90886DA}" destId="{B3E1EA1B-0A4C-44B8-BB78-5F58D0E92CF2}" srcOrd="0" destOrd="0" parTransId="{06FFAB91-572A-46BD-B46A-E20525FF0AA9}" sibTransId="{148A77FB-46C8-44B9-AF65-3A7A10BDB064}"/>
    <dgm:cxn modelId="{07F19655-61A6-4490-8F5A-3A97B98C3754}" type="presOf" srcId="{37F303AC-F1B1-4593-AFE3-B15661B3A8F5}" destId="{CC9ADADC-5198-493C-970D-2C8247F6CD31}" srcOrd="0" destOrd="0" presId="urn:microsoft.com/office/officeart/2005/8/layout/vList5"/>
    <dgm:cxn modelId="{D3B3F47A-C224-4527-90C5-C70088BC03CF}" type="presOf" srcId="{7A9C156D-FE2F-4710-88AA-710A6C489427}" destId="{342952F3-797B-42D2-9E4B-EF41C65C9DB1}" srcOrd="0" destOrd="0" presId="urn:microsoft.com/office/officeart/2005/8/layout/vList5"/>
    <dgm:cxn modelId="{5E7C7D8A-10CC-4B11-A747-6899AEA24D07}" srcId="{88FDA850-2279-48E5-9458-8B42C90886DA}" destId="{42A205A9-D745-41ED-AE54-FCC25593118C}" srcOrd="3" destOrd="0" parTransId="{6E495035-18D5-4319-B552-2AEC675CE507}" sibTransId="{3FC8E535-5514-4F2C-9E72-55D4E81F2385}"/>
    <dgm:cxn modelId="{8E6848B5-2BD0-4F0F-8719-B4779FEE4C58}" srcId="{B3E1EA1B-0A4C-44B8-BB78-5F58D0E92CF2}" destId="{37F303AC-F1B1-4593-AFE3-B15661B3A8F5}" srcOrd="0" destOrd="0" parTransId="{77753020-650A-4254-8FDC-8BCD928D4D18}" sibTransId="{5D82F626-107E-4334-887E-48B5A01FC631}"/>
    <dgm:cxn modelId="{FB93F3C0-FF72-4B51-ADC3-10387883E8DE}" type="presOf" srcId="{D395C78B-2217-4C51-A696-A46EC6F83968}" destId="{BA52C126-B813-4C4C-BDED-2A74FCD8D6B4}" srcOrd="0" destOrd="0" presId="urn:microsoft.com/office/officeart/2005/8/layout/vList5"/>
    <dgm:cxn modelId="{619DB8E7-00E7-454C-89AD-6C276DB2D06D}" srcId="{88FDA850-2279-48E5-9458-8B42C90886DA}" destId="{5E0BCDB0-E211-473C-9910-56B4992E4AA4}" srcOrd="1" destOrd="0" parTransId="{147202C3-C59B-4C11-8DC5-D2F3CDFB3416}" sibTransId="{1A427DAA-D2E0-427D-A3DC-F57D70A05DDD}"/>
    <dgm:cxn modelId="{6BAB85F0-D9AD-4D52-BB2E-618022663CBA}" type="presOf" srcId="{88FDA850-2279-48E5-9458-8B42C90886DA}" destId="{27DBD574-7965-4C06-96DC-2A3C424546A6}" srcOrd="0" destOrd="0" presId="urn:microsoft.com/office/officeart/2005/8/layout/vList5"/>
    <dgm:cxn modelId="{B2D11F66-D293-4646-B0C4-EF639C880D8E}" type="presParOf" srcId="{27DBD574-7965-4C06-96DC-2A3C424546A6}" destId="{59B01F80-67AB-44A0-8386-F5D7EC26D14D}" srcOrd="0" destOrd="0" presId="urn:microsoft.com/office/officeart/2005/8/layout/vList5"/>
    <dgm:cxn modelId="{ADF4F597-5177-47E0-8F71-FD3C1633D5BE}" type="presParOf" srcId="{59B01F80-67AB-44A0-8386-F5D7EC26D14D}" destId="{51B756A8-EA68-4C0A-9035-178790D1FCE9}" srcOrd="0" destOrd="0" presId="urn:microsoft.com/office/officeart/2005/8/layout/vList5"/>
    <dgm:cxn modelId="{C576F480-6838-465A-BF08-6E287A8FD7D1}" type="presParOf" srcId="{59B01F80-67AB-44A0-8386-F5D7EC26D14D}" destId="{CC9ADADC-5198-493C-970D-2C8247F6CD31}" srcOrd="1" destOrd="0" presId="urn:microsoft.com/office/officeart/2005/8/layout/vList5"/>
    <dgm:cxn modelId="{6E671D95-0568-45C2-B941-D2B15ABDC0B6}" type="presParOf" srcId="{27DBD574-7965-4C06-96DC-2A3C424546A6}" destId="{F3078632-9B15-40E2-AB90-7F05DBA42D78}" srcOrd="1" destOrd="0" presId="urn:microsoft.com/office/officeart/2005/8/layout/vList5"/>
    <dgm:cxn modelId="{54BF1BA8-98CB-4B68-BBCF-58B7D38D3E38}" type="presParOf" srcId="{27DBD574-7965-4C06-96DC-2A3C424546A6}" destId="{1DC51B21-15DC-4B53-AB71-F4111D4EFB22}" srcOrd="2" destOrd="0" presId="urn:microsoft.com/office/officeart/2005/8/layout/vList5"/>
    <dgm:cxn modelId="{2F977137-0DCF-48B8-8D88-3EECFE98E984}" type="presParOf" srcId="{1DC51B21-15DC-4B53-AB71-F4111D4EFB22}" destId="{435F6363-8FBB-4DA9-8BAC-30CBF882ECE8}" srcOrd="0" destOrd="0" presId="urn:microsoft.com/office/officeart/2005/8/layout/vList5"/>
    <dgm:cxn modelId="{4417DE15-C5EF-4F8B-8359-8E8D27B9F011}" type="presParOf" srcId="{1DC51B21-15DC-4B53-AB71-F4111D4EFB22}" destId="{47654346-8593-47E0-9671-85A248BDE54C}" srcOrd="1" destOrd="0" presId="urn:microsoft.com/office/officeart/2005/8/layout/vList5"/>
    <dgm:cxn modelId="{2B9426EA-911A-4EE7-A6D6-0301441FA59B}" type="presParOf" srcId="{27DBD574-7965-4C06-96DC-2A3C424546A6}" destId="{8B289450-3490-4C09-99AD-0719ADEF4C8E}" srcOrd="3" destOrd="0" presId="urn:microsoft.com/office/officeart/2005/8/layout/vList5"/>
    <dgm:cxn modelId="{7C396B5B-46E6-4F28-AF0F-461A0683AC04}" type="presParOf" srcId="{27DBD574-7965-4C06-96DC-2A3C424546A6}" destId="{149400BF-1BD3-43A6-A384-6FDD1C3B5FC4}" srcOrd="4" destOrd="0" presId="urn:microsoft.com/office/officeart/2005/8/layout/vList5"/>
    <dgm:cxn modelId="{9149708F-4AC0-4096-BDA8-2956E194EBDC}" type="presParOf" srcId="{149400BF-1BD3-43A6-A384-6FDD1C3B5FC4}" destId="{342952F3-797B-42D2-9E4B-EF41C65C9DB1}" srcOrd="0" destOrd="0" presId="urn:microsoft.com/office/officeart/2005/8/layout/vList5"/>
    <dgm:cxn modelId="{1C6EB4BF-8D21-4BC1-9ECD-5F9AA5E8ECD0}" type="presParOf" srcId="{27DBD574-7965-4C06-96DC-2A3C424546A6}" destId="{F99CBA06-0CA8-4BFA-99E0-94AEAD0444C8}" srcOrd="5" destOrd="0" presId="urn:microsoft.com/office/officeart/2005/8/layout/vList5"/>
    <dgm:cxn modelId="{40476A2F-37B0-408D-8922-ADDF88BAB633}" type="presParOf" srcId="{27DBD574-7965-4C06-96DC-2A3C424546A6}" destId="{677CBFBE-0E6D-4C9B-BDF5-4DEEFA66F058}" srcOrd="6" destOrd="0" presId="urn:microsoft.com/office/officeart/2005/8/layout/vList5"/>
    <dgm:cxn modelId="{7FCABDC4-839E-43BE-BBB4-71C00B097927}" type="presParOf" srcId="{677CBFBE-0E6D-4C9B-BDF5-4DEEFA66F058}" destId="{80F1141F-7F01-40B0-9571-30D938B6DF34}" srcOrd="0" destOrd="0" presId="urn:microsoft.com/office/officeart/2005/8/layout/vList5"/>
    <dgm:cxn modelId="{80E902B2-D9E4-4123-88B7-55A53DDA5B3A}" type="presParOf" srcId="{27DBD574-7965-4C06-96DC-2A3C424546A6}" destId="{448508DB-4D81-4FDA-88A0-55667976783E}" srcOrd="7" destOrd="0" presId="urn:microsoft.com/office/officeart/2005/8/layout/vList5"/>
    <dgm:cxn modelId="{EF0AB3DA-0EA6-478B-9F16-A9E9BAAB9998}" type="presParOf" srcId="{27DBD574-7965-4C06-96DC-2A3C424546A6}" destId="{2FBF3F01-7569-463A-8A41-F5B7863B36C4}" srcOrd="8" destOrd="0" presId="urn:microsoft.com/office/officeart/2005/8/layout/vList5"/>
    <dgm:cxn modelId="{9BB95F16-DFCA-4C50-AF1B-19BED1889810}" type="presParOf" srcId="{2FBF3F01-7569-463A-8A41-F5B7863B36C4}" destId="{BA52C126-B813-4C4C-BDED-2A74FCD8D6B4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9ADADC-5198-493C-970D-2C8247F6CD31}">
      <dsp:nvSpPr>
        <dsp:cNvPr id="0" name=""/>
        <dsp:cNvSpPr/>
      </dsp:nvSpPr>
      <dsp:spPr>
        <a:xfrm rot="5400000">
          <a:off x="1596875" y="-665421"/>
          <a:ext cx="219196" cy="160609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22860" bIns="11430" numCol="1" spcCol="1270" anchor="ctr" anchorCtr="0">
          <a:noAutofit/>
        </a:bodyPr>
        <a:lstStyle/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kern="1200" dirty="0"/>
            <a:t>TU Dortmund ls9 Group: UQ in Deep Learning </a:t>
          </a:r>
        </a:p>
      </dsp:txBody>
      <dsp:txXfrm rot="-5400000">
        <a:off x="903427" y="38727"/>
        <a:ext cx="1595392" cy="197796"/>
      </dsp:txXfrm>
    </dsp:sp>
    <dsp:sp modelId="{51B756A8-EA68-4C0A-9035-178790D1FCE9}">
      <dsp:nvSpPr>
        <dsp:cNvPr id="0" name=""/>
        <dsp:cNvSpPr/>
      </dsp:nvSpPr>
      <dsp:spPr>
        <a:xfrm>
          <a:off x="0" y="626"/>
          <a:ext cx="903427" cy="2739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22860" bIns="1143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Experimental Pipeline</a:t>
          </a:r>
        </a:p>
      </dsp:txBody>
      <dsp:txXfrm>
        <a:off x="13375" y="14001"/>
        <a:ext cx="876677" cy="247245"/>
      </dsp:txXfrm>
    </dsp:sp>
    <dsp:sp modelId="{47654346-8593-47E0-9671-85A248BDE54C}">
      <dsp:nvSpPr>
        <dsp:cNvPr id="0" name=""/>
        <dsp:cNvSpPr/>
      </dsp:nvSpPr>
      <dsp:spPr>
        <a:xfrm rot="5400000">
          <a:off x="1596875" y="-62894"/>
          <a:ext cx="219196" cy="160609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22860" bIns="11430" numCol="1" spcCol="1270" anchor="ctr" anchorCtr="0">
          <a:noAutofit/>
        </a:bodyPr>
        <a:lstStyle/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kern="1200" dirty="0"/>
            <a:t>TU Dortmund Project: Seminar </a:t>
          </a:r>
        </a:p>
      </dsp:txBody>
      <dsp:txXfrm rot="-5400000">
        <a:off x="903427" y="641254"/>
        <a:ext cx="1595392" cy="197796"/>
      </dsp:txXfrm>
    </dsp:sp>
    <dsp:sp modelId="{435F6363-8FBB-4DA9-8BAC-30CBF882ECE8}">
      <dsp:nvSpPr>
        <dsp:cNvPr id="0" name=""/>
        <dsp:cNvSpPr/>
      </dsp:nvSpPr>
      <dsp:spPr>
        <a:xfrm>
          <a:off x="0" y="288322"/>
          <a:ext cx="903427" cy="2739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22860" bIns="1143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Reproducible Python/PyTorch workflow</a:t>
          </a:r>
        </a:p>
      </dsp:txBody>
      <dsp:txXfrm>
        <a:off x="13375" y="301697"/>
        <a:ext cx="876677" cy="247245"/>
      </dsp:txXfrm>
    </dsp:sp>
    <dsp:sp modelId="{342952F3-797B-42D2-9E4B-EF41C65C9DB1}">
      <dsp:nvSpPr>
        <dsp:cNvPr id="0" name=""/>
        <dsp:cNvSpPr/>
      </dsp:nvSpPr>
      <dsp:spPr>
        <a:xfrm>
          <a:off x="0" y="576017"/>
          <a:ext cx="903427" cy="2739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22860" bIns="1143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GAN Implementation, </a:t>
          </a:r>
        </a:p>
      </dsp:txBody>
      <dsp:txXfrm>
        <a:off x="13375" y="589392"/>
        <a:ext cx="876677" cy="247245"/>
      </dsp:txXfrm>
    </dsp:sp>
    <dsp:sp modelId="{80F1141F-7F01-40B0-9571-30D938B6DF34}">
      <dsp:nvSpPr>
        <dsp:cNvPr id="0" name=""/>
        <dsp:cNvSpPr/>
      </dsp:nvSpPr>
      <dsp:spPr>
        <a:xfrm>
          <a:off x="0" y="863713"/>
          <a:ext cx="903427" cy="2739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22860" bIns="1143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convergence instability, </a:t>
          </a:r>
        </a:p>
      </dsp:txBody>
      <dsp:txXfrm>
        <a:off x="13375" y="877088"/>
        <a:ext cx="876677" cy="247245"/>
      </dsp:txXfrm>
    </dsp:sp>
    <dsp:sp modelId="{BA52C126-B813-4C4C-BDED-2A74FCD8D6B4}">
      <dsp:nvSpPr>
        <dsp:cNvPr id="0" name=""/>
        <dsp:cNvSpPr/>
      </dsp:nvSpPr>
      <dsp:spPr>
        <a:xfrm>
          <a:off x="0" y="1151408"/>
          <a:ext cx="903427" cy="2739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22860" bIns="1143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hyperparameter sensitivity</a:t>
          </a:r>
        </a:p>
      </dsp:txBody>
      <dsp:txXfrm>
        <a:off x="13375" y="1164783"/>
        <a:ext cx="876677" cy="2472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265488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1A80C9-C4CF-4062-9DAE-22B4C2972674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911350" y="406400"/>
            <a:ext cx="1943100" cy="1093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265488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755A0-FE0A-4CA1-9D3C-46DC207B52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589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755A0-FE0A-4CA1-9D3C-46DC207B521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262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755A0-FE0A-4CA1-9D3C-46DC207B521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826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g object 17"/>
          <p:cNvSpPr/>
          <p:nvPr/>
        </p:nvSpPr>
        <p:spPr>
          <a:xfrm>
            <a:off x="3630131" y="256257"/>
            <a:ext cx="372745" cy="283210"/>
          </a:xfrm>
          <a:custGeom>
            <a:avLst/>
            <a:gdLst/>
            <a:ahLst/>
            <a:cxnLst/>
            <a:rect l="l" t="t" r="r" b="b"/>
            <a:pathLst>
              <a:path w="372745" h="283209">
                <a:moveTo>
                  <a:pt x="78915" y="0"/>
                </a:moveTo>
                <a:lnTo>
                  <a:pt x="40434" y="0"/>
                </a:lnTo>
                <a:lnTo>
                  <a:pt x="40434" y="78508"/>
                </a:lnTo>
                <a:lnTo>
                  <a:pt x="0" y="78508"/>
                </a:lnTo>
                <a:lnTo>
                  <a:pt x="0" y="117375"/>
                </a:lnTo>
                <a:lnTo>
                  <a:pt x="40434" y="117375"/>
                </a:lnTo>
                <a:lnTo>
                  <a:pt x="40434" y="215117"/>
                </a:lnTo>
                <a:lnTo>
                  <a:pt x="45456" y="243457"/>
                </a:lnTo>
                <a:lnTo>
                  <a:pt x="59422" y="264833"/>
                </a:lnTo>
                <a:lnTo>
                  <a:pt x="80679" y="278330"/>
                </a:lnTo>
                <a:lnTo>
                  <a:pt x="107574" y="283032"/>
                </a:lnTo>
                <a:lnTo>
                  <a:pt x="127590" y="283032"/>
                </a:lnTo>
                <a:lnTo>
                  <a:pt x="128376" y="244178"/>
                </a:lnTo>
                <a:lnTo>
                  <a:pt x="107574" y="244178"/>
                </a:lnTo>
                <a:lnTo>
                  <a:pt x="95315" y="242344"/>
                </a:lnTo>
                <a:lnTo>
                  <a:pt x="86328" y="236864"/>
                </a:lnTo>
                <a:lnTo>
                  <a:pt x="80799" y="227776"/>
                </a:lnTo>
                <a:lnTo>
                  <a:pt x="78915" y="215117"/>
                </a:lnTo>
                <a:lnTo>
                  <a:pt x="78915" y="117375"/>
                </a:lnTo>
                <a:lnTo>
                  <a:pt x="187638" y="117375"/>
                </a:lnTo>
                <a:lnTo>
                  <a:pt x="187638" y="215904"/>
                </a:lnTo>
                <a:lnTo>
                  <a:pt x="192774" y="243950"/>
                </a:lnTo>
                <a:lnTo>
                  <a:pt x="206929" y="265074"/>
                </a:lnTo>
                <a:lnTo>
                  <a:pt x="228225" y="278395"/>
                </a:lnTo>
                <a:lnTo>
                  <a:pt x="254784" y="283032"/>
                </a:lnTo>
                <a:lnTo>
                  <a:pt x="305010" y="283032"/>
                </a:lnTo>
                <a:lnTo>
                  <a:pt x="331571" y="278395"/>
                </a:lnTo>
                <a:lnTo>
                  <a:pt x="352865" y="265074"/>
                </a:lnTo>
                <a:lnTo>
                  <a:pt x="367016" y="243950"/>
                </a:lnTo>
                <a:lnTo>
                  <a:pt x="372150" y="215904"/>
                </a:lnTo>
                <a:lnTo>
                  <a:pt x="372150" y="78508"/>
                </a:lnTo>
                <a:lnTo>
                  <a:pt x="333685" y="78508"/>
                </a:lnTo>
                <a:lnTo>
                  <a:pt x="333685" y="215904"/>
                </a:lnTo>
                <a:lnTo>
                  <a:pt x="331802" y="228663"/>
                </a:lnTo>
                <a:lnTo>
                  <a:pt x="326273" y="237593"/>
                </a:lnTo>
                <a:lnTo>
                  <a:pt x="317282" y="242841"/>
                </a:lnTo>
                <a:lnTo>
                  <a:pt x="305010" y="244557"/>
                </a:lnTo>
                <a:lnTo>
                  <a:pt x="254784" y="244557"/>
                </a:lnTo>
                <a:lnTo>
                  <a:pt x="242516" y="242841"/>
                </a:lnTo>
                <a:lnTo>
                  <a:pt x="233527" y="237593"/>
                </a:lnTo>
                <a:lnTo>
                  <a:pt x="228000" y="228663"/>
                </a:lnTo>
                <a:lnTo>
                  <a:pt x="226117" y="215904"/>
                </a:lnTo>
                <a:lnTo>
                  <a:pt x="226117" y="78508"/>
                </a:lnTo>
                <a:lnTo>
                  <a:pt x="78915" y="78508"/>
                </a:lnTo>
                <a:lnTo>
                  <a:pt x="78915" y="0"/>
                </a:lnTo>
                <a:close/>
              </a:path>
            </a:pathLst>
          </a:custGeom>
          <a:solidFill>
            <a:srgbClr val="7AC14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0881" y="306723"/>
            <a:ext cx="1317236" cy="23434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7294" y="935898"/>
            <a:ext cx="243078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F9F9F9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28575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g object 17"/>
          <p:cNvSpPr/>
          <p:nvPr/>
        </p:nvSpPr>
        <p:spPr>
          <a:xfrm>
            <a:off x="0" y="25"/>
            <a:ext cx="5760085" cy="351790"/>
          </a:xfrm>
          <a:custGeom>
            <a:avLst/>
            <a:gdLst/>
            <a:ahLst/>
            <a:cxnLst/>
            <a:rect l="l" t="t" r="r" b="b"/>
            <a:pathLst>
              <a:path w="5760085" h="351790">
                <a:moveTo>
                  <a:pt x="5759996" y="0"/>
                </a:moveTo>
                <a:lnTo>
                  <a:pt x="0" y="0"/>
                </a:lnTo>
                <a:lnTo>
                  <a:pt x="0" y="351790"/>
                </a:lnTo>
                <a:lnTo>
                  <a:pt x="5759996" y="351790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9F9F9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28575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9F9F9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28575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9F9F9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28575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28575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0896" y="63700"/>
            <a:ext cx="2799080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F9F9F9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7294" y="1011222"/>
            <a:ext cx="4335145" cy="1336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86056" y="2994302"/>
            <a:ext cx="125729" cy="1504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28575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4.pn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50" dirty="0">
                <a:solidFill>
                  <a:srgbClr val="22373A"/>
                </a:solidFill>
              </a:rPr>
              <a:t>PhD</a:t>
            </a:r>
            <a:r>
              <a:rPr sz="1400" spc="-60" dirty="0">
                <a:solidFill>
                  <a:srgbClr val="22373A"/>
                </a:solidFill>
              </a:rPr>
              <a:t> </a:t>
            </a:r>
            <a:r>
              <a:rPr sz="1400" spc="-35" dirty="0">
                <a:solidFill>
                  <a:srgbClr val="22373A"/>
                </a:solidFill>
              </a:rPr>
              <a:t>Application</a:t>
            </a:r>
            <a:r>
              <a:rPr sz="1400" spc="-55" dirty="0">
                <a:solidFill>
                  <a:srgbClr val="22373A"/>
                </a:solidFill>
              </a:rPr>
              <a:t> </a:t>
            </a:r>
            <a:r>
              <a:rPr sz="1400" spc="-10" dirty="0">
                <a:solidFill>
                  <a:srgbClr val="22373A"/>
                </a:solidFill>
              </a:rPr>
              <a:t>Presentation</a:t>
            </a:r>
            <a:endParaRPr sz="1400" dirty="0"/>
          </a:p>
        </p:txBody>
      </p:sp>
      <p:sp>
        <p:nvSpPr>
          <p:cNvPr id="3" name="object 3"/>
          <p:cNvSpPr/>
          <p:nvPr/>
        </p:nvSpPr>
        <p:spPr>
          <a:xfrm>
            <a:off x="359994" y="1391430"/>
            <a:ext cx="5040630" cy="5080"/>
          </a:xfrm>
          <a:custGeom>
            <a:avLst/>
            <a:gdLst/>
            <a:ahLst/>
            <a:cxnLst/>
            <a:rect l="l" t="t" r="r" b="b"/>
            <a:pathLst>
              <a:path w="5040630" h="5080">
                <a:moveTo>
                  <a:pt x="0" y="5060"/>
                </a:moveTo>
                <a:lnTo>
                  <a:pt x="0" y="0"/>
                </a:lnTo>
                <a:lnTo>
                  <a:pt x="5040071" y="0"/>
                </a:lnTo>
                <a:lnTo>
                  <a:pt x="5040071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84B817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347294" y="1605854"/>
            <a:ext cx="2002789" cy="622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48410">
              <a:lnSpc>
                <a:spcPct val="137400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Simin</a:t>
            </a:r>
            <a:r>
              <a:rPr sz="900" spc="2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Calibri"/>
                <a:cs typeface="Calibri"/>
              </a:rPr>
              <a:t>Ma</a:t>
            </a:r>
            <a:r>
              <a:rPr sz="900" spc="5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March</a:t>
            </a:r>
            <a:r>
              <a:rPr sz="900" spc="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10,</a:t>
            </a:r>
            <a:r>
              <a:rPr sz="900" spc="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Calibri"/>
                <a:cs typeface="Calibri"/>
              </a:rPr>
              <a:t>2026</a:t>
            </a:r>
            <a:endParaRPr sz="9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700" spc="10" dirty="0">
                <a:solidFill>
                  <a:srgbClr val="22373A"/>
                </a:solidFill>
                <a:latin typeface="Calibri"/>
                <a:cs typeface="Calibri"/>
              </a:rPr>
              <a:t>TU</a:t>
            </a:r>
            <a:r>
              <a:rPr sz="700" spc="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700" spc="10" dirty="0">
                <a:solidFill>
                  <a:srgbClr val="22373A"/>
                </a:solidFill>
                <a:latin typeface="Calibri"/>
                <a:cs typeface="Calibri"/>
              </a:rPr>
              <a:t>Dortmund</a:t>
            </a:r>
            <a:r>
              <a:rPr sz="700" spc="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700" spc="10" dirty="0">
                <a:solidFill>
                  <a:srgbClr val="22373A"/>
                </a:solidFill>
                <a:latin typeface="Calibri"/>
                <a:cs typeface="Calibri"/>
              </a:rPr>
              <a:t>University</a:t>
            </a:r>
            <a:r>
              <a:rPr sz="700" spc="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700" spc="65" dirty="0">
                <a:solidFill>
                  <a:srgbClr val="22373A"/>
                </a:solidFill>
                <a:latin typeface="Calibri"/>
                <a:cs typeface="Calibri"/>
              </a:rPr>
              <a:t>-</a:t>
            </a:r>
            <a:r>
              <a:rPr sz="700" spc="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700" spc="10" dirty="0">
                <a:solidFill>
                  <a:srgbClr val="22373A"/>
                </a:solidFill>
                <a:latin typeface="Calibri"/>
                <a:cs typeface="Calibri"/>
              </a:rPr>
              <a:t>Department</a:t>
            </a:r>
            <a:r>
              <a:rPr sz="700" spc="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700" spc="1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700" spc="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Calibri"/>
                <a:cs typeface="Calibri"/>
              </a:rPr>
              <a:t>Statistics</a:t>
            </a:r>
            <a:endParaRPr sz="7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51790"/>
          </a:xfrm>
          <a:custGeom>
            <a:avLst/>
            <a:gdLst/>
            <a:ahLst/>
            <a:cxnLst/>
            <a:rect l="l" t="t" r="r" b="b"/>
            <a:pathLst>
              <a:path w="5760085" h="351790">
                <a:moveTo>
                  <a:pt x="5759996" y="0"/>
                </a:moveTo>
                <a:lnTo>
                  <a:pt x="0" y="0"/>
                </a:lnTo>
                <a:lnTo>
                  <a:pt x="0" y="351790"/>
                </a:lnTo>
                <a:lnTo>
                  <a:pt x="5759996" y="351790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0896" y="63700"/>
            <a:ext cx="6731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65" dirty="0">
                <a:solidFill>
                  <a:srgbClr val="F9F9F9"/>
                </a:solidFill>
                <a:latin typeface="Lucida Sans Unicode"/>
                <a:cs typeface="Lucida Sans Unicode"/>
              </a:rPr>
              <a:t>About</a:t>
            </a:r>
            <a:r>
              <a:rPr sz="1200" spc="-60" dirty="0">
                <a:solidFill>
                  <a:srgbClr val="F9F9F9"/>
                </a:solidFill>
                <a:latin typeface="Lucida Sans Unicode"/>
                <a:cs typeface="Lucida Sans Unicode"/>
              </a:rPr>
              <a:t> </a:t>
            </a:r>
            <a:r>
              <a:rPr sz="1200" spc="-35" dirty="0">
                <a:solidFill>
                  <a:srgbClr val="F9F9F9"/>
                </a:solidFill>
                <a:latin typeface="Lucida Sans Unicode"/>
                <a:cs typeface="Lucida Sans Unicode"/>
              </a:rPr>
              <a:t>Me</a:t>
            </a:r>
            <a:endParaRPr sz="1200" dirty="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51812"/>
            <a:ext cx="5760085" cy="5080"/>
            <a:chOff x="0" y="351812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54342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C6CEB6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1821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2" y="0"/>
                  </a:lnTo>
                  <a:lnTo>
                    <a:pt x="576007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C6CEB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51821"/>
              <a:ext cx="822960" cy="5080"/>
            </a:xfrm>
            <a:custGeom>
              <a:avLst/>
              <a:gdLst/>
              <a:ahLst/>
              <a:cxnLst/>
              <a:rect l="l" t="t" r="r" b="b"/>
              <a:pathLst>
                <a:path w="822960" h="5079">
                  <a:moveTo>
                    <a:pt x="0" y="5060"/>
                  </a:moveTo>
                  <a:lnTo>
                    <a:pt x="0" y="0"/>
                  </a:lnTo>
                  <a:lnTo>
                    <a:pt x="822841" y="0"/>
                  </a:lnTo>
                  <a:lnTo>
                    <a:pt x="82284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84B81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863699" y="424484"/>
            <a:ext cx="2033270" cy="63055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85"/>
              </a:spcBef>
            </a:pPr>
            <a:r>
              <a:rPr sz="1200" spc="-55" dirty="0">
                <a:solidFill>
                  <a:srgbClr val="22373A"/>
                </a:solidFill>
                <a:latin typeface="Lucida Sans Unicode"/>
                <a:cs typeface="Lucida Sans Unicode"/>
              </a:rPr>
              <a:t>Simin</a:t>
            </a:r>
            <a:r>
              <a:rPr sz="1200" spc="-2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22373A"/>
                </a:solidFill>
                <a:latin typeface="Lucida Sans Unicode"/>
                <a:cs typeface="Lucida Sans Unicode"/>
              </a:rPr>
              <a:t>Ma</a:t>
            </a:r>
            <a:endParaRPr sz="1200" dirty="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395"/>
              </a:spcBef>
            </a:pPr>
            <a:r>
              <a:rPr sz="800" dirty="0">
                <a:solidFill>
                  <a:srgbClr val="22373A"/>
                </a:solidFill>
                <a:latin typeface="Calibri"/>
                <a:cs typeface="Calibri"/>
              </a:rPr>
              <a:t>M.Sc.</a:t>
            </a:r>
            <a:r>
              <a:rPr sz="800" spc="1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Data</a:t>
            </a:r>
            <a:r>
              <a:rPr sz="800" spc="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Science</a:t>
            </a:r>
            <a:r>
              <a:rPr sz="800" spc="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|</a:t>
            </a:r>
            <a:r>
              <a:rPr sz="800" spc="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TU</a:t>
            </a:r>
            <a:r>
              <a:rPr sz="800" spc="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Dortmund</a:t>
            </a:r>
            <a:r>
              <a:rPr sz="800" spc="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Calibri"/>
                <a:cs typeface="Calibri"/>
              </a:rPr>
              <a:t>University</a:t>
            </a:r>
            <a:endParaRPr sz="8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sz="700" spc="10" dirty="0">
                <a:solidFill>
                  <a:srgbClr val="84B817"/>
                </a:solidFill>
                <a:latin typeface="Calibri"/>
                <a:cs typeface="Calibri"/>
              </a:rPr>
              <a:t>Experimental</a:t>
            </a:r>
            <a:r>
              <a:rPr sz="700" spc="120" dirty="0">
                <a:solidFill>
                  <a:srgbClr val="84B817"/>
                </a:solidFill>
                <a:latin typeface="Calibri"/>
                <a:cs typeface="Calibri"/>
              </a:rPr>
              <a:t> </a:t>
            </a:r>
            <a:r>
              <a:rPr sz="700" spc="10" dirty="0">
                <a:solidFill>
                  <a:srgbClr val="84B817"/>
                </a:solidFill>
                <a:latin typeface="Calibri"/>
                <a:cs typeface="Calibri"/>
              </a:rPr>
              <a:t>spirit</a:t>
            </a:r>
            <a:r>
              <a:rPr sz="700" spc="125" dirty="0">
                <a:solidFill>
                  <a:srgbClr val="84B817"/>
                </a:solidFill>
                <a:latin typeface="Calibri"/>
                <a:cs typeface="Calibri"/>
              </a:rPr>
              <a:t> </a:t>
            </a:r>
            <a:r>
              <a:rPr sz="700" i="1" spc="10" dirty="0">
                <a:solidFill>
                  <a:srgbClr val="22373A"/>
                </a:solidFill>
                <a:latin typeface="Book Antiqua"/>
                <a:cs typeface="Book Antiqua"/>
              </a:rPr>
              <a:t>·</a:t>
            </a:r>
            <a:r>
              <a:rPr sz="700" i="1" spc="100" dirty="0">
                <a:solidFill>
                  <a:srgbClr val="22373A"/>
                </a:solidFill>
                <a:latin typeface="Book Antiqua"/>
                <a:cs typeface="Book Antiqua"/>
              </a:rPr>
              <a:t> </a:t>
            </a:r>
            <a:r>
              <a:rPr sz="700" spc="10" dirty="0">
                <a:solidFill>
                  <a:srgbClr val="84B817"/>
                </a:solidFill>
                <a:latin typeface="Calibri"/>
                <a:cs typeface="Calibri"/>
              </a:rPr>
              <a:t>Collaborative</a:t>
            </a:r>
            <a:r>
              <a:rPr sz="700" spc="120" dirty="0">
                <a:solidFill>
                  <a:srgbClr val="84B817"/>
                </a:solidFill>
                <a:latin typeface="Calibri"/>
                <a:cs typeface="Calibri"/>
              </a:rPr>
              <a:t> </a:t>
            </a:r>
            <a:r>
              <a:rPr sz="700" spc="-10" dirty="0">
                <a:solidFill>
                  <a:srgbClr val="84B817"/>
                </a:solidFill>
                <a:latin typeface="Calibri"/>
                <a:cs typeface="Calibri"/>
              </a:rPr>
              <a:t>researcher</a:t>
            </a:r>
            <a:endParaRPr sz="700" dirty="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19" y="1358620"/>
            <a:ext cx="133350" cy="762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9994" y="2040369"/>
            <a:ext cx="101600" cy="8890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99134" y="1320900"/>
            <a:ext cx="2482508" cy="126124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Background</a:t>
            </a:r>
            <a:endParaRPr sz="800" dirty="0">
              <a:latin typeface="Lucida Sans Unicode"/>
              <a:cs typeface="Lucida Sans Unicode"/>
            </a:endParaRPr>
          </a:p>
          <a:p>
            <a:pPr marL="114300" indent="-89535">
              <a:lnSpc>
                <a:spcPct val="100000"/>
              </a:lnSpc>
              <a:spcBef>
                <a:spcPts val="675"/>
              </a:spcBef>
              <a:buChar char="•"/>
              <a:tabLst>
                <a:tab pos="114300" algn="l"/>
              </a:tabLst>
            </a:pPr>
            <a:r>
              <a:rPr sz="700" dirty="0">
                <a:solidFill>
                  <a:srgbClr val="22373A"/>
                </a:solidFill>
                <a:latin typeface="Calibri"/>
                <a:cs typeface="Calibri"/>
              </a:rPr>
              <a:t>M.Sc.</a:t>
            </a:r>
            <a:r>
              <a:rPr sz="700" spc="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22373A"/>
                </a:solidFill>
                <a:latin typeface="Calibri"/>
                <a:cs typeface="Calibri"/>
              </a:rPr>
              <a:t>Data</a:t>
            </a:r>
            <a:r>
              <a:rPr sz="700" spc="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22373A"/>
                </a:solidFill>
                <a:latin typeface="Calibri"/>
                <a:cs typeface="Calibri"/>
              </a:rPr>
              <a:t>Science,</a:t>
            </a:r>
            <a:r>
              <a:rPr sz="700" spc="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22373A"/>
                </a:solidFill>
                <a:latin typeface="Calibri"/>
                <a:cs typeface="Calibri"/>
              </a:rPr>
              <a:t>TU</a:t>
            </a:r>
            <a:r>
              <a:rPr sz="700" spc="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Calibri"/>
                <a:cs typeface="Calibri"/>
              </a:rPr>
              <a:t>Dortmund</a:t>
            </a:r>
            <a:endParaRPr sz="700" dirty="0">
              <a:latin typeface="Calibri"/>
              <a:cs typeface="Calibri"/>
            </a:endParaRPr>
          </a:p>
          <a:p>
            <a:pPr marL="114300" indent="-89535">
              <a:lnSpc>
                <a:spcPct val="100000"/>
              </a:lnSpc>
              <a:spcBef>
                <a:spcPts val="125"/>
              </a:spcBef>
              <a:buChar char="•"/>
              <a:tabLst>
                <a:tab pos="114300" algn="l"/>
              </a:tabLst>
            </a:pPr>
            <a:r>
              <a:rPr sz="700" dirty="0">
                <a:solidFill>
                  <a:srgbClr val="22373A"/>
                </a:solidFill>
                <a:latin typeface="Calibri"/>
                <a:cs typeface="Calibri"/>
              </a:rPr>
              <a:t>B.Sc.</a:t>
            </a:r>
            <a:r>
              <a:rPr sz="700" spc="1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22373A"/>
                </a:solidFill>
                <a:latin typeface="Calibri"/>
                <a:cs typeface="Calibri"/>
              </a:rPr>
              <a:t>Applied</a:t>
            </a:r>
            <a:r>
              <a:rPr sz="700" spc="1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Calibri"/>
                <a:cs typeface="Calibri"/>
              </a:rPr>
              <a:t>Statistics</a:t>
            </a:r>
            <a:endParaRPr sz="700" dirty="0">
              <a:latin typeface="Calibri"/>
              <a:cs typeface="Calibri"/>
            </a:endParaRPr>
          </a:p>
          <a:p>
            <a:pPr marL="114300" indent="-89535">
              <a:lnSpc>
                <a:spcPct val="100000"/>
              </a:lnSpc>
              <a:spcBef>
                <a:spcPts val="130"/>
              </a:spcBef>
              <a:buChar char="•"/>
              <a:tabLst>
                <a:tab pos="114300" algn="l"/>
              </a:tabLst>
            </a:pPr>
            <a:r>
              <a:rPr sz="700" dirty="0">
                <a:solidFill>
                  <a:srgbClr val="22373A"/>
                </a:solidFill>
                <a:latin typeface="Calibri"/>
                <a:cs typeface="Calibri"/>
              </a:rPr>
              <a:t>Study</a:t>
            </a:r>
            <a:r>
              <a:rPr sz="7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22373A"/>
                </a:solidFill>
                <a:latin typeface="Calibri"/>
                <a:cs typeface="Calibri"/>
              </a:rPr>
              <a:t>Abroad,</a:t>
            </a:r>
            <a:r>
              <a:rPr sz="7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22373A"/>
                </a:solidFill>
                <a:latin typeface="Calibri"/>
                <a:cs typeface="Calibri"/>
              </a:rPr>
              <a:t>University</a:t>
            </a:r>
            <a:r>
              <a:rPr sz="7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7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Calibri"/>
                <a:cs typeface="Calibri"/>
              </a:rPr>
              <a:t>Malaya</a:t>
            </a:r>
            <a:endParaRPr sz="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Clr>
                <a:srgbClr val="22373A"/>
              </a:buClr>
              <a:buFont typeface="Calibri"/>
              <a:buChar char="•"/>
            </a:pPr>
            <a:endParaRPr sz="7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8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Industry</a:t>
            </a:r>
            <a:r>
              <a:rPr sz="800" spc="1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Experience</a:t>
            </a:r>
            <a:endParaRPr sz="800" dirty="0">
              <a:latin typeface="Lucida Sans Unicode"/>
              <a:cs typeface="Lucida Sans Unicode"/>
            </a:endParaRPr>
          </a:p>
          <a:p>
            <a:pPr marL="24765">
              <a:lnSpc>
                <a:spcPct val="100000"/>
              </a:lnSpc>
              <a:spcBef>
                <a:spcPts val="630"/>
              </a:spcBef>
              <a:tabLst>
                <a:tab pos="114300" algn="l"/>
              </a:tabLst>
            </a:pPr>
            <a:r>
              <a:rPr sz="700" i="1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Intrum</a:t>
            </a:r>
            <a:r>
              <a:rPr sz="700" i="1" spc="-10" dirty="0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endParaRPr sz="700" i="1" dirty="0">
              <a:latin typeface="Calibri"/>
              <a:cs typeface="Calibri"/>
            </a:endParaRPr>
          </a:p>
          <a:p>
            <a:pPr marL="114300" indent="-89535">
              <a:lnSpc>
                <a:spcPct val="100000"/>
              </a:lnSpc>
              <a:spcBef>
                <a:spcPts val="125"/>
              </a:spcBef>
              <a:buChar char="•"/>
              <a:tabLst>
                <a:tab pos="114300" algn="l"/>
              </a:tabLst>
            </a:pPr>
            <a:r>
              <a:rPr sz="700" spc="10" dirty="0">
                <a:solidFill>
                  <a:srgbClr val="22373A"/>
                </a:solidFill>
                <a:latin typeface="Calibri"/>
                <a:cs typeface="Calibri"/>
              </a:rPr>
              <a:t>Data</a:t>
            </a:r>
            <a:r>
              <a:rPr sz="700" spc="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700" spc="10" dirty="0">
                <a:solidFill>
                  <a:srgbClr val="22373A"/>
                </a:solidFill>
                <a:latin typeface="Calibri"/>
                <a:cs typeface="Calibri"/>
              </a:rPr>
              <a:t>preprocessing</a:t>
            </a:r>
            <a:r>
              <a:rPr sz="700" spc="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700" spc="10" dirty="0">
                <a:solidFill>
                  <a:srgbClr val="22373A"/>
                </a:solidFill>
                <a:latin typeface="Calibri"/>
                <a:cs typeface="Calibri"/>
              </a:rPr>
              <a:t>for</a:t>
            </a:r>
            <a:r>
              <a:rPr sz="700" spc="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700" spc="10" dirty="0">
                <a:solidFill>
                  <a:srgbClr val="22373A"/>
                </a:solidFill>
                <a:latin typeface="Calibri"/>
                <a:cs typeface="Calibri"/>
              </a:rPr>
              <a:t>LLM</a:t>
            </a:r>
            <a:r>
              <a:rPr sz="700" spc="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Calibri"/>
                <a:cs typeface="Calibri"/>
              </a:rPr>
              <a:t>applications</a:t>
            </a:r>
            <a:endParaRPr sz="700" dirty="0">
              <a:latin typeface="Calibri"/>
              <a:cs typeface="Calibri"/>
            </a:endParaRPr>
          </a:p>
          <a:p>
            <a:pPr marL="113664" marR="5080" indent="-88900">
              <a:lnSpc>
                <a:spcPct val="109100"/>
              </a:lnSpc>
              <a:spcBef>
                <a:spcPts val="50"/>
              </a:spcBef>
              <a:buChar char="•"/>
              <a:tabLst>
                <a:tab pos="113664" algn="l"/>
              </a:tabLst>
            </a:pPr>
            <a:r>
              <a:rPr sz="700" spc="20" dirty="0">
                <a:solidFill>
                  <a:srgbClr val="22373A"/>
                </a:solidFill>
                <a:latin typeface="Calibri"/>
                <a:cs typeface="Calibri"/>
              </a:rPr>
              <a:t>Heterogeneous</a:t>
            </a:r>
            <a:r>
              <a:rPr sz="700" spc="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700" spc="20" dirty="0">
                <a:solidFill>
                  <a:srgbClr val="22373A"/>
                </a:solidFill>
                <a:latin typeface="Calibri"/>
                <a:cs typeface="Calibri"/>
              </a:rPr>
              <a:t>records</a:t>
            </a:r>
            <a:r>
              <a:rPr sz="700" spc="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700" i="1" spc="90" dirty="0">
                <a:solidFill>
                  <a:srgbClr val="22373A"/>
                </a:solidFill>
                <a:latin typeface="Book Antiqua"/>
                <a:cs typeface="Book Antiqua"/>
              </a:rPr>
              <a:t>→</a:t>
            </a:r>
            <a:r>
              <a:rPr sz="700" i="1" spc="45" dirty="0">
                <a:solidFill>
                  <a:srgbClr val="22373A"/>
                </a:solidFill>
                <a:latin typeface="Book Antiqua"/>
                <a:cs typeface="Book Antiqua"/>
              </a:rPr>
              <a:t> </a:t>
            </a:r>
            <a:r>
              <a:rPr sz="700" spc="20" dirty="0">
                <a:solidFill>
                  <a:srgbClr val="22373A"/>
                </a:solidFill>
                <a:latin typeface="Calibri"/>
                <a:cs typeface="Calibri"/>
              </a:rPr>
              <a:t>standardised</a:t>
            </a:r>
            <a:r>
              <a:rPr sz="700" spc="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700" spc="-20" dirty="0">
                <a:solidFill>
                  <a:srgbClr val="22373A"/>
                </a:solidFill>
                <a:latin typeface="Calibri"/>
                <a:cs typeface="Calibri"/>
              </a:rPr>
              <a:t>text</a:t>
            </a:r>
            <a:r>
              <a:rPr lang="en-US" sz="700" spc="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Calibri"/>
                <a:cs typeface="Calibri"/>
              </a:rPr>
              <a:t>workflow</a:t>
            </a:r>
            <a:endParaRPr sz="700" dirty="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80042" y="1333220"/>
            <a:ext cx="101600" cy="101600"/>
          </a:xfrm>
          <a:prstGeom prst="rect">
            <a:avLst/>
          </a:prstGeom>
        </p:spPr>
      </p:pic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AAB335F0-FF14-05DE-7845-C567AC7382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6247136"/>
              </p:ext>
            </p:extLst>
          </p:nvPr>
        </p:nvGraphicFramePr>
        <p:xfrm>
          <a:off x="3031465" y="1470025"/>
          <a:ext cx="2509520" cy="14260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7" name="object 11">
            <a:extLst>
              <a:ext uri="{FF2B5EF4-FFF2-40B4-BE49-F238E27FC236}">
                <a16:creationId xmlns:a16="http://schemas.microsoft.com/office/drawing/2014/main" id="{92B2F87A-12B6-4B4E-9550-C9DF8A07101E}"/>
              </a:ext>
            </a:extLst>
          </p:cNvPr>
          <p:cNvSpPr txBox="1"/>
          <p:nvPr/>
        </p:nvSpPr>
        <p:spPr>
          <a:xfrm>
            <a:off x="3031465" y="1313331"/>
            <a:ext cx="1879600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95"/>
              </a:spcBef>
            </a:pPr>
            <a:r>
              <a:rPr lang="en-US" sz="8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Research Experience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5524" y="1325940"/>
            <a:ext cx="11499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5" dirty="0">
                <a:solidFill>
                  <a:srgbClr val="22373A"/>
                </a:solidFill>
                <a:latin typeface="Lucida Sans Unicode"/>
                <a:cs typeface="Lucida Sans Unicode"/>
                <a:hlinkClick r:id="rId2" action="ppaction://hlinksldjump"/>
              </a:rPr>
              <a:t>Master</a:t>
            </a:r>
            <a:r>
              <a:rPr sz="1400" spc="-70" dirty="0">
                <a:solidFill>
                  <a:srgbClr val="22373A"/>
                </a:solidFill>
                <a:latin typeface="Lucida Sans Unicode"/>
                <a:cs typeface="Lucida Sans Unicode"/>
                <a:hlinkClick r:id="rId2" action="ppaction://hlinksldjump"/>
              </a:rPr>
              <a:t> </a:t>
            </a:r>
            <a:r>
              <a:rPr sz="1400" spc="-30" dirty="0">
                <a:solidFill>
                  <a:srgbClr val="22373A"/>
                </a:solidFill>
                <a:latin typeface="Lucida Sans Unicode"/>
                <a:cs typeface="Lucida Sans Unicode"/>
                <a:hlinkClick r:id="rId2" action="ppaction://hlinksldjump"/>
              </a:rPr>
              <a:t>Thesis</a:t>
            </a:r>
            <a:endParaRPr sz="1400" dirty="0">
              <a:latin typeface="Lucida Sans Unicode"/>
              <a:cs typeface="Lucida Sans Unicod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488224" y="1681664"/>
            <a:ext cx="2783840" cy="5080"/>
            <a:chOff x="1488224" y="1681664"/>
            <a:chExt cx="2783840" cy="5080"/>
          </a:xfrm>
        </p:grpSpPr>
        <p:sp>
          <p:nvSpPr>
            <p:cNvPr id="4" name="object 4"/>
            <p:cNvSpPr/>
            <p:nvPr/>
          </p:nvSpPr>
          <p:spPr>
            <a:xfrm>
              <a:off x="1488224" y="1681664"/>
              <a:ext cx="2783840" cy="5080"/>
            </a:xfrm>
            <a:custGeom>
              <a:avLst/>
              <a:gdLst/>
              <a:ahLst/>
              <a:cxnLst/>
              <a:rect l="l" t="t" r="r" b="b"/>
              <a:pathLst>
                <a:path w="2783840" h="5080">
                  <a:moveTo>
                    <a:pt x="0" y="5060"/>
                  </a:moveTo>
                  <a:lnTo>
                    <a:pt x="0" y="0"/>
                  </a:lnTo>
                  <a:lnTo>
                    <a:pt x="2783598" y="0"/>
                  </a:lnTo>
                  <a:lnTo>
                    <a:pt x="278359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C6CEB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1488224" y="1681664"/>
              <a:ext cx="398145" cy="5080"/>
            </a:xfrm>
            <a:custGeom>
              <a:avLst/>
              <a:gdLst/>
              <a:ahLst/>
              <a:cxnLst/>
              <a:rect l="l" t="t" r="r" b="b"/>
              <a:pathLst>
                <a:path w="398144" h="5080">
                  <a:moveTo>
                    <a:pt x="0" y="5060"/>
                  </a:moveTo>
                  <a:lnTo>
                    <a:pt x="0" y="0"/>
                  </a:lnTo>
                  <a:lnTo>
                    <a:pt x="397644" y="0"/>
                  </a:lnTo>
                  <a:lnTo>
                    <a:pt x="39764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84B81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Intuitions</a:t>
            </a:r>
            <a:r>
              <a:rPr spc="-30" dirty="0"/>
              <a:t> </a:t>
            </a:r>
            <a:r>
              <a:rPr spc="-50" dirty="0"/>
              <a:t>behind</a:t>
            </a:r>
            <a:r>
              <a:rPr spc="-30" dirty="0"/>
              <a:t> </a:t>
            </a:r>
            <a:r>
              <a:rPr spc="-40" dirty="0"/>
              <a:t>the</a:t>
            </a:r>
            <a:r>
              <a:rPr spc="-30" dirty="0"/>
              <a:t> </a:t>
            </a:r>
            <a:r>
              <a:rPr spc="-20" dirty="0"/>
              <a:t>idea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51812"/>
            <a:ext cx="5760085" cy="5080"/>
            <a:chOff x="0" y="351812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54342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C6CEB6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1821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2" y="0"/>
                  </a:lnTo>
                  <a:lnTo>
                    <a:pt x="576007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C6CEB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1821"/>
              <a:ext cx="1645920" cy="5080"/>
            </a:xfrm>
            <a:custGeom>
              <a:avLst/>
              <a:gdLst/>
              <a:ahLst/>
              <a:cxnLst/>
              <a:rect l="l" t="t" r="r" b="b"/>
              <a:pathLst>
                <a:path w="1645920" h="5079">
                  <a:moveTo>
                    <a:pt x="0" y="5060"/>
                  </a:moveTo>
                  <a:lnTo>
                    <a:pt x="0" y="0"/>
                  </a:lnTo>
                  <a:lnTo>
                    <a:pt x="1645767" y="0"/>
                  </a:lnTo>
                  <a:lnTo>
                    <a:pt x="164576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84B81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3141" y="377674"/>
            <a:ext cx="5330559" cy="1794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000" spc="2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Group-Regularized</a:t>
            </a:r>
            <a:r>
              <a:rPr lang="en-US" sz="1000" spc="2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Regularized</a:t>
            </a:r>
            <a:r>
              <a:rPr lang="en-US" sz="1000" spc="2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Horseshoe</a:t>
            </a:r>
            <a:r>
              <a:rPr lang="en-US" sz="1000" spc="2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(</a:t>
            </a:r>
            <a:r>
              <a:rPr sz="1000" i="1" dirty="0">
                <a:solidFill>
                  <a:schemeClr val="accent2"/>
                </a:solidFill>
                <a:latin typeface="Calibri"/>
                <a:cs typeface="Calibri"/>
              </a:rPr>
              <a:t>GR-</a:t>
            </a:r>
            <a:r>
              <a:rPr sz="1000" i="1" spc="60" dirty="0">
                <a:solidFill>
                  <a:schemeClr val="accent2"/>
                </a:solidFill>
                <a:latin typeface="Calibri"/>
                <a:cs typeface="Calibri"/>
              </a:rPr>
              <a:t>RHS</a:t>
            </a:r>
            <a:r>
              <a:rPr sz="1000" spc="60" dirty="0">
                <a:solidFill>
                  <a:srgbClr val="22373A"/>
                </a:solidFill>
                <a:latin typeface="Calibri"/>
                <a:cs typeface="Calibri"/>
              </a:rPr>
              <a:t>)</a:t>
            </a:r>
            <a:r>
              <a:rPr lang="en-US" sz="1000" spc="2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Model</a:t>
            </a:r>
            <a:r>
              <a:rPr lang="en-US" sz="1000" spc="2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for</a:t>
            </a:r>
            <a:r>
              <a:rPr lang="en-US" sz="1000" spc="2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Mixed-Signal</a:t>
            </a:r>
            <a:r>
              <a:rPr lang="en-US" sz="1000" spc="2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Regression.</a:t>
            </a:r>
            <a:endParaRPr sz="1000" dirty="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83100" y="691241"/>
            <a:ext cx="1219200" cy="131218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578100" y="2079625"/>
            <a:ext cx="3352800" cy="803169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10"/>
              </a:spcBef>
            </a:pPr>
            <a:endParaRPr sz="1000" dirty="0">
              <a:latin typeface="Calibri"/>
              <a:cs typeface="Calibri"/>
            </a:endParaRPr>
          </a:p>
          <a:p>
            <a:pPr marL="97155" indent="-94615">
              <a:lnSpc>
                <a:spcPct val="116700"/>
              </a:lnSpc>
              <a:spcBef>
                <a:spcPts val="280"/>
              </a:spcBef>
              <a:buChar char="•"/>
              <a:tabLst>
                <a:tab pos="99060" algn="l"/>
              </a:tabLst>
            </a:pPr>
            <a:r>
              <a:rPr lang="en-US" sz="1000" i="1" dirty="0">
                <a:solidFill>
                  <a:schemeClr val="accent2"/>
                </a:solidFill>
                <a:latin typeface="Calibri"/>
                <a:cs typeface="Calibri"/>
              </a:rPr>
              <a:t>GR-RHS</a:t>
            </a:r>
            <a:r>
              <a:rPr lang="en-US" sz="900" spc="-10" dirty="0">
                <a:solidFill>
                  <a:srgbClr val="22373A"/>
                </a:solidFill>
                <a:latin typeface="Calibri"/>
                <a:cs typeface="Calibri"/>
              </a:rPr>
              <a:t> = Group Structure + Regularized Horseshoe</a:t>
            </a:r>
          </a:p>
          <a:p>
            <a:pPr marL="2540">
              <a:lnSpc>
                <a:spcPct val="116700"/>
              </a:lnSpc>
              <a:spcBef>
                <a:spcPts val="280"/>
              </a:spcBef>
              <a:tabLst>
                <a:tab pos="99060" algn="l"/>
              </a:tabLst>
            </a:pPr>
            <a:r>
              <a:rPr lang="en-US" sz="900" spc="-10" dirty="0">
                <a:solidFill>
                  <a:srgbClr val="22373A"/>
                </a:solidFill>
                <a:latin typeface="Calibri"/>
                <a:cs typeface="Calibri"/>
              </a:rPr>
              <a:t>                   = </a:t>
            </a:r>
            <a:r>
              <a:rPr lang="en-US" altLang="zh-CN" sz="900" i="1" spc="-10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Global </a:t>
            </a:r>
            <a:r>
              <a:rPr lang="en-US" altLang="zh-CN" sz="900" spc="-10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* </a:t>
            </a:r>
            <a:r>
              <a:rPr lang="en-US" altLang="zh-CN" sz="900" i="1" spc="-10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Group </a:t>
            </a:r>
            <a:r>
              <a:rPr lang="en-US" altLang="zh-CN" sz="900" spc="-10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* </a:t>
            </a:r>
            <a:r>
              <a:rPr lang="en-US" altLang="zh-CN" sz="900" i="1" spc="-10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Local  </a:t>
            </a:r>
            <a:r>
              <a:rPr lang="en-US" altLang="zh-CN" sz="900" spc="-10" dirty="0">
                <a:solidFill>
                  <a:srgbClr val="22373A"/>
                </a:solidFill>
                <a:latin typeface="Calibri"/>
                <a:cs typeface="Calibri"/>
              </a:rPr>
              <a:t>Shrinkage</a:t>
            </a:r>
            <a:br>
              <a:rPr lang="en-US" sz="900" spc="-10" dirty="0">
                <a:solidFill>
                  <a:srgbClr val="22373A"/>
                </a:solidFill>
                <a:latin typeface="Calibri"/>
                <a:cs typeface="Calibri"/>
              </a:rPr>
            </a:br>
            <a:endParaRPr sz="900" dirty="0">
              <a:latin typeface="Calibri"/>
              <a:cs typeface="Calibri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F65EEF5-46B1-4F58-2132-89862DAF0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03" y="2345180"/>
            <a:ext cx="1665235" cy="85918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076DEB8-39C7-10A6-A8D3-84A655FA66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2900" y="2782327"/>
            <a:ext cx="2057400" cy="29120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ECC2B80-FE3D-730C-A114-D254EAF3CB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9900" y="1602631"/>
            <a:ext cx="88609" cy="9599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7336B48-E40D-143D-A019-25CB7322FD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900" y="654005"/>
            <a:ext cx="4238361" cy="157801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7B47E4D-6B65-E3C6-DF73-FBBEEB15257C}"/>
              </a:ext>
            </a:extLst>
          </p:cNvPr>
          <p:cNvSpPr txBox="1"/>
          <p:nvPr/>
        </p:nvSpPr>
        <p:spPr>
          <a:xfrm>
            <a:off x="4416261" y="1999200"/>
            <a:ext cx="140319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00" dirty="0"/>
              <a:t>What the Real-world Datasets looks like:</a:t>
            </a:r>
            <a:endParaRPr lang="en-US" sz="500" dirty="0"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0" dirty="0"/>
              <a:t>Experiments</a:t>
            </a:r>
            <a:r>
              <a:rPr spc="-25" dirty="0"/>
              <a:t> </a:t>
            </a:r>
            <a:r>
              <a:rPr spc="-75" dirty="0"/>
              <a:t>Design</a:t>
            </a:r>
            <a:r>
              <a:rPr spc="-20" dirty="0"/>
              <a:t> </a:t>
            </a:r>
            <a:r>
              <a:rPr spc="-40" dirty="0"/>
              <a:t>(Simulation</a:t>
            </a:r>
            <a:r>
              <a:rPr spc="-25" dirty="0"/>
              <a:t> </a:t>
            </a:r>
            <a:r>
              <a:rPr spc="-10" dirty="0"/>
              <a:t>Results)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4281" y="784225"/>
            <a:ext cx="5588020" cy="2264112"/>
            <a:chOff x="0" y="351821"/>
            <a:chExt cx="5760085" cy="2340312"/>
          </a:xfrm>
        </p:grpSpPr>
        <p:sp>
          <p:nvSpPr>
            <p:cNvPr id="4" name="object 4"/>
            <p:cNvSpPr/>
            <p:nvPr/>
          </p:nvSpPr>
          <p:spPr>
            <a:xfrm>
              <a:off x="0" y="354342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C6CEB6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1821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2" y="0"/>
                  </a:lnTo>
                  <a:lnTo>
                    <a:pt x="576007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C6CEB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1821"/>
              <a:ext cx="2468880" cy="5080"/>
            </a:xfrm>
            <a:custGeom>
              <a:avLst/>
              <a:gdLst/>
              <a:ahLst/>
              <a:cxnLst/>
              <a:rect l="l" t="t" r="r" b="b"/>
              <a:pathLst>
                <a:path w="2468880" h="5079">
                  <a:moveTo>
                    <a:pt x="0" y="5060"/>
                  </a:moveTo>
                  <a:lnTo>
                    <a:pt x="0" y="0"/>
                  </a:lnTo>
                  <a:lnTo>
                    <a:pt x="2468613" y="0"/>
                  </a:lnTo>
                  <a:lnTo>
                    <a:pt x="246861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84B81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968" y="555625"/>
              <a:ext cx="3548889" cy="213650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254500" y="1241425"/>
            <a:ext cx="1511300" cy="1056058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02235" indent="-89535">
              <a:lnSpc>
                <a:spcPct val="100000"/>
              </a:lnSpc>
              <a:spcBef>
                <a:spcPts val="315"/>
              </a:spcBef>
              <a:buChar char="•"/>
              <a:tabLst>
                <a:tab pos="102235" algn="l"/>
              </a:tabLst>
            </a:pPr>
            <a:r>
              <a:rPr sz="800" dirty="0">
                <a:solidFill>
                  <a:srgbClr val="22373A"/>
                </a:solidFill>
                <a:latin typeface="Calibri"/>
                <a:cs typeface="Calibri"/>
              </a:rPr>
              <a:t>Shared</a:t>
            </a:r>
            <a:r>
              <a:rPr sz="8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2373A"/>
                </a:solidFill>
                <a:latin typeface="Calibri"/>
                <a:cs typeface="Calibri"/>
              </a:rPr>
              <a:t>data</a:t>
            </a:r>
            <a:r>
              <a:rPr sz="8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2373A"/>
                </a:solidFill>
                <a:latin typeface="Calibri"/>
                <a:cs typeface="Calibri"/>
              </a:rPr>
              <a:t>&amp;</a:t>
            </a:r>
            <a:r>
              <a:rPr sz="8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Calibri"/>
                <a:cs typeface="Calibri"/>
              </a:rPr>
              <a:t>splits</a:t>
            </a:r>
            <a:endParaRPr sz="800" dirty="0">
              <a:latin typeface="Calibri"/>
              <a:cs typeface="Calibri"/>
            </a:endParaRPr>
          </a:p>
          <a:p>
            <a:pPr marL="102235" indent="-89535">
              <a:lnSpc>
                <a:spcPct val="100000"/>
              </a:lnSpc>
              <a:spcBef>
                <a:spcPts val="215"/>
              </a:spcBef>
              <a:buChar char="•"/>
              <a:tabLst>
                <a:tab pos="102235" algn="l"/>
              </a:tabLst>
            </a:pPr>
            <a:r>
              <a:rPr sz="800" dirty="0">
                <a:solidFill>
                  <a:srgbClr val="22373A"/>
                </a:solidFill>
                <a:latin typeface="Calibri"/>
                <a:cs typeface="Calibri"/>
              </a:rPr>
              <a:t>Fair</a:t>
            </a:r>
            <a:r>
              <a:rPr sz="800" spc="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Calibri"/>
                <a:cs typeface="Calibri"/>
              </a:rPr>
              <a:t>baseline</a:t>
            </a:r>
            <a:endParaRPr sz="800" dirty="0">
              <a:latin typeface="Calibri"/>
              <a:cs typeface="Calibri"/>
            </a:endParaRPr>
          </a:p>
          <a:p>
            <a:pPr marL="102235" indent="-89535">
              <a:lnSpc>
                <a:spcPct val="100000"/>
              </a:lnSpc>
              <a:spcBef>
                <a:spcPts val="215"/>
              </a:spcBef>
              <a:buChar char="•"/>
              <a:tabLst>
                <a:tab pos="102235" algn="l"/>
              </a:tabLst>
            </a:pPr>
            <a:r>
              <a:rPr sz="800" dirty="0">
                <a:solidFill>
                  <a:srgbClr val="22373A"/>
                </a:solidFill>
                <a:latin typeface="Calibri"/>
                <a:cs typeface="Calibri"/>
              </a:rPr>
              <a:t>Fixed</a:t>
            </a:r>
            <a:r>
              <a:rPr sz="8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2373A"/>
                </a:solidFill>
                <a:latin typeface="Calibri"/>
                <a:cs typeface="Calibri"/>
              </a:rPr>
              <a:t>compute</a:t>
            </a:r>
            <a:r>
              <a:rPr sz="800" spc="1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Calibri"/>
                <a:cs typeface="Calibri"/>
              </a:rPr>
              <a:t>budget</a:t>
            </a:r>
            <a:endParaRPr sz="800" dirty="0">
              <a:latin typeface="Calibri"/>
              <a:cs typeface="Calibri"/>
            </a:endParaRPr>
          </a:p>
          <a:p>
            <a:pPr marL="102235" indent="-89535">
              <a:lnSpc>
                <a:spcPct val="100000"/>
              </a:lnSpc>
              <a:spcBef>
                <a:spcPts val="219"/>
              </a:spcBef>
              <a:buChar char="•"/>
              <a:tabLst>
                <a:tab pos="102235" algn="l"/>
              </a:tabLst>
            </a:pP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Prior</a:t>
            </a:r>
            <a:r>
              <a:rPr sz="800" spc="1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sensitivity</a:t>
            </a:r>
            <a:r>
              <a:rPr sz="800" spc="11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Calibri"/>
                <a:cs typeface="Calibri"/>
              </a:rPr>
              <a:t>check</a:t>
            </a:r>
            <a:endParaRPr sz="800" dirty="0">
              <a:latin typeface="Calibri"/>
              <a:cs typeface="Calibri"/>
            </a:endParaRPr>
          </a:p>
          <a:p>
            <a:pPr marL="102235" indent="-89535">
              <a:lnSpc>
                <a:spcPct val="100000"/>
              </a:lnSpc>
              <a:spcBef>
                <a:spcPts val="215"/>
              </a:spcBef>
              <a:buChar char="•"/>
              <a:tabLst>
                <a:tab pos="102235" algn="l"/>
              </a:tabLst>
            </a:pPr>
            <a:r>
              <a:rPr sz="800" dirty="0">
                <a:solidFill>
                  <a:srgbClr val="22373A"/>
                </a:solidFill>
                <a:latin typeface="Calibri"/>
                <a:cs typeface="Calibri"/>
              </a:rPr>
              <a:t>Convergence</a:t>
            </a:r>
            <a:r>
              <a:rPr sz="800" spc="229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Calibri"/>
                <a:cs typeface="Calibri"/>
              </a:rPr>
              <a:t>consistency</a:t>
            </a:r>
            <a:endParaRPr sz="800" dirty="0">
              <a:latin typeface="Calibri"/>
              <a:cs typeface="Calibri"/>
            </a:endParaRPr>
          </a:p>
          <a:p>
            <a:pPr marL="102235" indent="-89535">
              <a:lnSpc>
                <a:spcPct val="100000"/>
              </a:lnSpc>
              <a:spcBef>
                <a:spcPts val="215"/>
              </a:spcBef>
              <a:buChar char="•"/>
              <a:tabLst>
                <a:tab pos="102235" algn="l"/>
              </a:tabLst>
            </a:pPr>
            <a:r>
              <a:rPr sz="800" dirty="0">
                <a:solidFill>
                  <a:srgbClr val="22373A"/>
                </a:solidFill>
                <a:latin typeface="Calibri"/>
                <a:cs typeface="Calibri"/>
              </a:rPr>
              <a:t>Unified</a:t>
            </a:r>
            <a:r>
              <a:rPr sz="8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Calibri"/>
                <a:cs typeface="Calibri"/>
              </a:rPr>
              <a:t>metrics</a:t>
            </a:r>
            <a:endParaRPr sz="800" dirty="0">
              <a:latin typeface="Calibri"/>
              <a:cs typeface="Calibri"/>
            </a:endParaRPr>
          </a:p>
          <a:p>
            <a:pPr marL="102235" indent="-89535">
              <a:lnSpc>
                <a:spcPct val="100000"/>
              </a:lnSpc>
              <a:spcBef>
                <a:spcPts val="215"/>
              </a:spcBef>
              <a:buChar char="•"/>
              <a:tabLst>
                <a:tab pos="102235" algn="l"/>
              </a:tabLst>
            </a:pPr>
            <a:r>
              <a:rPr sz="800" spc="20" dirty="0">
                <a:solidFill>
                  <a:srgbClr val="22373A"/>
                </a:solidFill>
                <a:latin typeface="Calibri"/>
                <a:cs typeface="Calibri"/>
              </a:rPr>
              <a:t>Reproducible</a:t>
            </a:r>
            <a:r>
              <a:rPr sz="8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Calibri"/>
                <a:cs typeface="Calibri"/>
              </a:rPr>
              <a:t>configs</a:t>
            </a:r>
            <a:endParaRPr sz="800" dirty="0">
              <a:latin typeface="Calibri"/>
              <a:cs typeface="Calibri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DEB31E8-ACEF-D26F-AB9B-8A9B43B20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330" y="390775"/>
            <a:ext cx="3006830" cy="383617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0" dirty="0"/>
              <a:t>Experiments</a:t>
            </a:r>
            <a:r>
              <a:rPr spc="-25" dirty="0"/>
              <a:t> </a:t>
            </a:r>
            <a:r>
              <a:rPr spc="-75" dirty="0"/>
              <a:t>Design</a:t>
            </a:r>
            <a:r>
              <a:rPr spc="-20" dirty="0"/>
              <a:t> </a:t>
            </a:r>
            <a:r>
              <a:rPr spc="-40" dirty="0"/>
              <a:t>(Simulation</a:t>
            </a:r>
            <a:r>
              <a:rPr spc="-25" dirty="0"/>
              <a:t> </a:t>
            </a:r>
            <a:r>
              <a:rPr spc="-10" dirty="0"/>
              <a:t>Results)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51812"/>
            <a:ext cx="5760085" cy="5080"/>
            <a:chOff x="0" y="351812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54342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C6CEB6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1821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2" y="0"/>
                  </a:lnTo>
                  <a:lnTo>
                    <a:pt x="576007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C6CEB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1821"/>
              <a:ext cx="3291840" cy="5080"/>
            </a:xfrm>
            <a:custGeom>
              <a:avLst/>
              <a:gdLst/>
              <a:ahLst/>
              <a:cxnLst/>
              <a:rect l="l" t="t" r="r" b="b"/>
              <a:pathLst>
                <a:path w="3291840" h="5079">
                  <a:moveTo>
                    <a:pt x="0" y="5060"/>
                  </a:moveTo>
                  <a:lnTo>
                    <a:pt x="0" y="0"/>
                  </a:lnTo>
                  <a:lnTo>
                    <a:pt x="3291459" y="0"/>
                  </a:lnTo>
                  <a:lnTo>
                    <a:pt x="329145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84B81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120900" y="479425"/>
            <a:ext cx="3001645" cy="1506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Table</a:t>
            </a:r>
            <a:r>
              <a:rPr sz="900" spc="9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lang="en-US" sz="900" spc="-140" dirty="0">
                <a:solidFill>
                  <a:srgbClr val="22373A"/>
                </a:solidFill>
                <a:latin typeface="Lucida Sans Unicode"/>
                <a:cs typeface="Lucida Sans Unicode"/>
              </a:rPr>
              <a:t>2</a:t>
            </a:r>
            <a:r>
              <a:rPr sz="900" spc="-140" dirty="0">
                <a:solidFill>
                  <a:srgbClr val="22373A"/>
                </a:solidFill>
                <a:latin typeface="Lucida Sans Unicode"/>
                <a:cs typeface="Lucida Sans Unicode"/>
              </a:rPr>
              <a:t>:</a:t>
            </a:r>
            <a:r>
              <a:rPr sz="900" spc="229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RMSE</a:t>
            </a:r>
            <a:r>
              <a:rPr sz="9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lang="en-US" sz="900" dirty="0">
                <a:solidFill>
                  <a:srgbClr val="22373A"/>
                </a:solidFill>
                <a:latin typeface="Calibri"/>
                <a:cs typeface="Calibri"/>
              </a:rPr>
              <a:t>c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omparison</a:t>
            </a:r>
            <a:endParaRPr sz="900" dirty="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921852"/>
              </p:ext>
            </p:extLst>
          </p:nvPr>
        </p:nvGraphicFramePr>
        <p:xfrm>
          <a:off x="443395" y="703460"/>
          <a:ext cx="4823998" cy="24119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47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6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24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24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62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24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24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029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spc="-10" dirty="0">
                          <a:solidFill>
                            <a:srgbClr val="22373A"/>
                          </a:solidFill>
                          <a:latin typeface="+mn-lt"/>
                          <a:cs typeface="Lucida Sans Unicode"/>
                        </a:rPr>
                        <a:t>Scenario</a:t>
                      </a:r>
                    </a:p>
                  </a:txBody>
                  <a:tcPr marL="0" marR="0" marT="50800" marB="0" anchor="ctr">
                    <a:lnT w="19050">
                      <a:solidFill>
                        <a:srgbClr val="22373A"/>
                      </a:solidFill>
                      <a:prstDash val="solid"/>
                    </a:lnT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spc="-25" dirty="0">
                          <a:solidFill>
                            <a:srgbClr val="22373A"/>
                          </a:solidFill>
                          <a:latin typeface="+mn-lt"/>
                          <a:cs typeface="Lucida Sans Unicode"/>
                        </a:rPr>
                        <a:t>SNR</a:t>
                      </a:r>
                      <a:endParaRPr sz="900" dirty="0">
                        <a:latin typeface="+mn-lt"/>
                        <a:cs typeface="Lucida Sans Unicode"/>
                      </a:endParaRPr>
                    </a:p>
                  </a:txBody>
                  <a:tcPr marL="0" marR="0" marT="50800" marB="0" anchor="ctr">
                    <a:lnT w="19050">
                      <a:solidFill>
                        <a:srgbClr val="22373A"/>
                      </a:solidFill>
                      <a:prstDash val="solid"/>
                    </a:lnT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spc="-55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cs typeface="Lucida Sans Unicode"/>
                        </a:rPr>
                        <a:t>GR-</a:t>
                      </a:r>
                      <a:r>
                        <a:rPr sz="900" spc="-25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cs typeface="Lucida Sans Unicode"/>
                        </a:rPr>
                        <a:t>RHS</a:t>
                      </a:r>
                      <a:endParaRPr sz="9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lt"/>
                        <a:cs typeface="Lucida Sans Unicode"/>
                      </a:endParaRPr>
                    </a:p>
                  </a:txBody>
                  <a:tcPr marL="0" marR="0" marT="50800" marB="0" anchor="ctr">
                    <a:lnT w="19050">
                      <a:solidFill>
                        <a:srgbClr val="22373A"/>
                      </a:solidFill>
                      <a:prstDash val="solid"/>
                    </a:lnT>
                    <a:lnB w="9525" cap="flat" cmpd="sng" algn="ctr">
                      <a:solidFill>
                        <a:srgbClr val="22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spc="-25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cs typeface="Lucida Sans Unicode"/>
                        </a:rPr>
                        <a:t>RHS</a:t>
                      </a:r>
                      <a:endParaRPr sz="9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lt"/>
                        <a:cs typeface="Lucida Sans Unicode"/>
                      </a:endParaRPr>
                    </a:p>
                  </a:txBody>
                  <a:tcPr marL="0" marR="0" marT="50800" marB="0" anchor="ctr">
                    <a:lnT w="19050">
                      <a:solidFill>
                        <a:srgbClr val="22373A"/>
                      </a:solidFill>
                      <a:prstDash val="solid"/>
                    </a:lnT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spc="-2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cs typeface="Lucida Sans Unicode"/>
                        </a:rPr>
                        <a:t>GIGG</a:t>
                      </a:r>
                      <a:endParaRPr sz="9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lt"/>
                        <a:cs typeface="Lucida Sans Unicode"/>
                      </a:endParaRPr>
                    </a:p>
                  </a:txBody>
                  <a:tcPr marL="0" marR="0" marT="50800" marB="0" anchor="ctr">
                    <a:lnT w="19050">
                      <a:solidFill>
                        <a:srgbClr val="22373A"/>
                      </a:solidFill>
                      <a:prstDash val="solid"/>
                    </a:lnT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spc="-25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cs typeface="Lucida Sans Unicode"/>
                        </a:rPr>
                        <a:t>SGL</a:t>
                      </a:r>
                      <a:endParaRPr sz="9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lt"/>
                        <a:cs typeface="Lucida Sans Unicode"/>
                      </a:endParaRPr>
                    </a:p>
                  </a:txBody>
                  <a:tcPr marL="0" marR="0" marT="50800" marB="0" anchor="ctr">
                    <a:lnT w="19050">
                      <a:solidFill>
                        <a:srgbClr val="22373A"/>
                      </a:solidFill>
                      <a:prstDash val="solid"/>
                    </a:lnT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spc="-1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cs typeface="Lucida Sans Unicode"/>
                        </a:rPr>
                        <a:t>Lasso</a:t>
                      </a:r>
                      <a:endParaRPr sz="9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lt"/>
                        <a:cs typeface="Lucida Sans Unicode"/>
                      </a:endParaRPr>
                    </a:p>
                  </a:txBody>
                  <a:tcPr marL="0" marR="0" marT="50800" marB="0" anchor="ctr">
                    <a:lnT w="19050">
                      <a:solidFill>
                        <a:srgbClr val="22373A"/>
                      </a:solidFill>
                      <a:prstDash val="solid"/>
                    </a:lnT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spc="-1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cs typeface="Lucida Sans Unicode"/>
                        </a:rPr>
                        <a:t>Ridge</a:t>
                      </a:r>
                      <a:endParaRPr sz="9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lt"/>
                        <a:cs typeface="Lucida Sans Unicode"/>
                      </a:endParaRPr>
                    </a:p>
                  </a:txBody>
                  <a:tcPr marL="0" marR="0" marT="50800" marB="0" anchor="ctr">
                    <a:lnT w="19050">
                      <a:solidFill>
                        <a:srgbClr val="22373A"/>
                      </a:solidFill>
                      <a:prstDash val="solid"/>
                    </a:lnT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326">
                <a:tc>
                  <a:txBody>
                    <a:bodyPr/>
                    <a:lstStyle/>
                    <a:p>
                      <a:pPr marL="101600">
                        <a:lnSpc>
                          <a:spcPts val="1065"/>
                        </a:lnSpc>
                        <a:spcBef>
                          <a:spcPts val="380"/>
                        </a:spcBef>
                      </a:pPr>
                      <a:r>
                        <a:rPr sz="900" spc="5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S1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48260" marB="0" anchor="ctr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380"/>
                        </a:spcBef>
                      </a:pPr>
                      <a:r>
                        <a:rPr sz="900" spc="-2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0.1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48260" marB="0" anchor="ctr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380"/>
                        </a:spcBef>
                      </a:pPr>
                      <a:r>
                        <a:rPr sz="900" spc="4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26.7382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48260" marB="0" anchor="ctr">
                    <a:lnT w="9525" cap="flat" cmpd="sng" algn="ctr">
                      <a:solidFill>
                        <a:srgbClr val="22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380"/>
                        </a:spcBef>
                      </a:pPr>
                      <a:r>
                        <a:rPr sz="900" spc="4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27.1911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48260" marB="0" anchor="ctr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380"/>
                        </a:spcBef>
                      </a:pPr>
                      <a:r>
                        <a:rPr sz="900" spc="4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40.1707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48260" marB="0" anchor="ctr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380"/>
                        </a:spcBef>
                      </a:pPr>
                      <a:r>
                        <a:rPr sz="900" spc="-1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+mn-lt"/>
                          <a:cs typeface="Lucida Sans Unicode"/>
                        </a:rPr>
                        <a:t>24.7224</a:t>
                      </a:r>
                      <a:endParaRPr sz="9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+mn-lt"/>
                        <a:cs typeface="Lucida Sans Unicode"/>
                      </a:endParaRPr>
                    </a:p>
                  </a:txBody>
                  <a:tcPr marL="0" marR="0" marT="48260" marB="0" anchor="ctr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380"/>
                        </a:spcBef>
                      </a:pPr>
                      <a:r>
                        <a:rPr sz="900" spc="4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24.7534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48260" marB="0" anchor="ctr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380"/>
                        </a:spcBef>
                      </a:pPr>
                      <a:r>
                        <a:rPr sz="900" spc="4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25.0324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48260" marB="0" anchor="ctr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890">
                <a:tc>
                  <a:txBody>
                    <a:bodyPr/>
                    <a:lstStyle/>
                    <a:p>
                      <a:pPr marL="101600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5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S1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-2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0.5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4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12.0072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4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12.5457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4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17.7489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-1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+mn-lt"/>
                          <a:cs typeface="Lucida Sans Unicode"/>
                        </a:rPr>
                        <a:t>11.0136</a:t>
                      </a:r>
                      <a:endParaRPr sz="9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+mn-lt"/>
                        <a:cs typeface="Lucida Sans Unicode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4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11.2779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4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12.2130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890">
                <a:tc>
                  <a:txBody>
                    <a:bodyPr/>
                    <a:lstStyle/>
                    <a:p>
                      <a:pPr marL="101600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5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S1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-2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1.0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-1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+mn-lt"/>
                          <a:cs typeface="Lucida Sans Unicode"/>
                        </a:rPr>
                        <a:t>7.7705</a:t>
                      </a:r>
                      <a:endParaRPr sz="9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+mn-lt"/>
                        <a:cs typeface="Lucida Sans Unicode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8.6790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4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12.3657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7.8598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7.9754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9.4876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6028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5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S1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2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3.0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4.9045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>
                    <a:lnB w="9525" cap="flat" cmpd="sng" algn="ctr">
                      <a:solidFill>
                        <a:srgbClr val="22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4.9841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6.7307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1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+mn-lt"/>
                          <a:cs typeface="Lucida Sans Unicode"/>
                        </a:rPr>
                        <a:t>4.5205</a:t>
                      </a:r>
                      <a:endParaRPr sz="9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+mn-lt"/>
                        <a:cs typeface="Lucida Sans Unicode"/>
                      </a:endParaRPr>
                    </a:p>
                  </a:txBody>
                  <a:tcPr marL="0" marR="0" marT="8255" marB="0" anchor="ctr"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4.6106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5.8996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8326">
                <a:tc>
                  <a:txBody>
                    <a:bodyPr/>
                    <a:lstStyle/>
                    <a:p>
                      <a:pPr marL="101600">
                        <a:lnSpc>
                          <a:spcPts val="1065"/>
                        </a:lnSpc>
                        <a:spcBef>
                          <a:spcPts val="380"/>
                        </a:spcBef>
                      </a:pPr>
                      <a:r>
                        <a:rPr sz="900" spc="5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S2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48260" marB="0" anchor="ctr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380"/>
                        </a:spcBef>
                      </a:pPr>
                      <a:r>
                        <a:rPr sz="900" spc="-2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0.1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48260" marB="0" anchor="ctr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380"/>
                        </a:spcBef>
                      </a:pPr>
                      <a:r>
                        <a:rPr sz="900" spc="-1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+mn-lt"/>
                          <a:cs typeface="Lucida Sans Unicode"/>
                        </a:rPr>
                        <a:t>10.9243</a:t>
                      </a:r>
                      <a:endParaRPr sz="9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+mn-lt"/>
                        <a:cs typeface="Lucida Sans Unicode"/>
                      </a:endParaRPr>
                    </a:p>
                  </a:txBody>
                  <a:tcPr marL="0" marR="0" marT="48260" marB="0" anchor="ctr">
                    <a:lnT w="9525" cap="flat" cmpd="sng" algn="ctr">
                      <a:solidFill>
                        <a:srgbClr val="22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380"/>
                        </a:spcBef>
                      </a:pPr>
                      <a:r>
                        <a:rPr sz="900" spc="4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10.9953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48260" marB="0" anchor="ctr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380"/>
                        </a:spcBef>
                      </a:pPr>
                      <a:r>
                        <a:rPr sz="900" spc="4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17.2614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48260" marB="0" anchor="ctr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380"/>
                        </a:spcBef>
                      </a:pPr>
                      <a:r>
                        <a:rPr sz="900" spc="4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11.2270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48260" marB="0" anchor="ctr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380"/>
                        </a:spcBef>
                      </a:pPr>
                      <a:r>
                        <a:rPr sz="900" spc="4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11.2453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48260" marB="0" anchor="ctr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380"/>
                        </a:spcBef>
                      </a:pPr>
                      <a:r>
                        <a:rPr sz="900" spc="4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11.2105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48260" marB="0" anchor="ctr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7890">
                <a:tc>
                  <a:txBody>
                    <a:bodyPr/>
                    <a:lstStyle/>
                    <a:p>
                      <a:pPr marL="101600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5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S2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-2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0.5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-1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+mn-lt"/>
                          <a:cs typeface="Lucida Sans Unicode"/>
                        </a:rPr>
                        <a:t>5.5266</a:t>
                      </a:r>
                      <a:endParaRPr sz="9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+mn-lt"/>
                        <a:cs typeface="Lucida Sans Unicode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5.6159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7.2790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5.5470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5.5844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5.5284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7890">
                <a:tc>
                  <a:txBody>
                    <a:bodyPr/>
                    <a:lstStyle/>
                    <a:p>
                      <a:pPr marL="101600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5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S2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-2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1.0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-1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+mn-lt"/>
                          <a:cs typeface="Lucida Sans Unicode"/>
                        </a:rPr>
                        <a:t>4.1304</a:t>
                      </a:r>
                      <a:endParaRPr sz="9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+mn-lt"/>
                        <a:cs typeface="Lucida Sans Unicode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4.3570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4.9846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4.1893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4.2769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4.2845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6028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5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S2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2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3.0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2.7381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>
                    <a:lnB w="9525" cap="flat" cmpd="sng" algn="ctr">
                      <a:solidFill>
                        <a:srgbClr val="22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2.7385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2.8270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2.6890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2.7571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1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+mn-lt"/>
                          <a:cs typeface="Lucida Sans Unicode"/>
                        </a:rPr>
                        <a:t>2.6789</a:t>
                      </a:r>
                      <a:endParaRPr sz="9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+mn-lt"/>
                        <a:cs typeface="Lucida Sans Unicode"/>
                      </a:endParaRPr>
                    </a:p>
                  </a:txBody>
                  <a:tcPr marL="0" marR="0" marT="8255" marB="0" anchor="ctr"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8326">
                <a:tc>
                  <a:txBody>
                    <a:bodyPr/>
                    <a:lstStyle/>
                    <a:p>
                      <a:pPr marL="101600">
                        <a:lnSpc>
                          <a:spcPts val="1065"/>
                        </a:lnSpc>
                        <a:spcBef>
                          <a:spcPts val="380"/>
                        </a:spcBef>
                      </a:pPr>
                      <a:r>
                        <a:rPr sz="900" spc="5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S3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48260" marB="0" anchor="ctr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380"/>
                        </a:spcBef>
                      </a:pPr>
                      <a:r>
                        <a:rPr sz="900" spc="-2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0.1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48260" marB="0" anchor="ctr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380"/>
                        </a:spcBef>
                      </a:pPr>
                      <a:r>
                        <a:rPr sz="900" spc="4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18.3627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48260" marB="0" anchor="ctr">
                    <a:lnT w="9525" cap="flat" cmpd="sng" algn="ctr">
                      <a:solidFill>
                        <a:srgbClr val="22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380"/>
                        </a:spcBef>
                      </a:pPr>
                      <a:r>
                        <a:rPr sz="900" spc="4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17.2453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48260" marB="0" anchor="ctr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380"/>
                        </a:spcBef>
                      </a:pPr>
                      <a:r>
                        <a:rPr sz="900" spc="4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29.2454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48260" marB="0" anchor="ctr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380"/>
                        </a:spcBef>
                      </a:pPr>
                      <a:r>
                        <a:rPr sz="900" spc="-1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+mn-lt"/>
                          <a:cs typeface="Lucida Sans Unicode"/>
                        </a:rPr>
                        <a:t>16.6957</a:t>
                      </a:r>
                      <a:endParaRPr sz="9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+mn-lt"/>
                        <a:cs typeface="Lucida Sans Unicode"/>
                      </a:endParaRPr>
                    </a:p>
                  </a:txBody>
                  <a:tcPr marL="0" marR="0" marT="48260" marB="0" anchor="ctr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380"/>
                        </a:spcBef>
                      </a:pPr>
                      <a:r>
                        <a:rPr sz="900" spc="4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16.9668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48260" marB="0" anchor="ctr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380"/>
                        </a:spcBef>
                      </a:pPr>
                      <a:r>
                        <a:rPr sz="900" spc="4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17.0547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48260" marB="0" anchor="ctr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7890">
                <a:tc>
                  <a:txBody>
                    <a:bodyPr/>
                    <a:lstStyle/>
                    <a:p>
                      <a:pPr marL="101600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5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S3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-2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0.5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-1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+mn-lt"/>
                          <a:cs typeface="Lucida Sans Unicode"/>
                        </a:rPr>
                        <a:t>7.6227</a:t>
                      </a:r>
                      <a:endParaRPr sz="9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+mn-lt"/>
                        <a:cs typeface="Lucida Sans Unicode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7.7513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4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12.7004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7.6557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7.8260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8.3502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7890">
                <a:tc>
                  <a:txBody>
                    <a:bodyPr/>
                    <a:lstStyle/>
                    <a:p>
                      <a:pPr marL="101600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5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S3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-2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1.0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-1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+mn-lt"/>
                          <a:cs typeface="Lucida Sans Unicode"/>
                        </a:rPr>
                        <a:t>5.2247</a:t>
                      </a:r>
                      <a:endParaRPr sz="9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+mn-lt"/>
                        <a:cs typeface="Lucida Sans Unicode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5.7138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8.6687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5.5066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5.6145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6.4537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8595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5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S3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>
                    <a:lnB w="1905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25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3.0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>
                    <a:lnB w="1905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1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+mn-lt"/>
                          <a:cs typeface="Lucida Sans Unicode"/>
                        </a:rPr>
                        <a:t>3.1485</a:t>
                      </a:r>
                      <a:endParaRPr sz="9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+mn-lt"/>
                        <a:cs typeface="Lucida Sans Unicode"/>
                      </a:endParaRPr>
                    </a:p>
                  </a:txBody>
                  <a:tcPr marL="0" marR="0" marT="8255" marB="0" anchor="ctr">
                    <a:lnB w="1905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3.2738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>
                    <a:lnB w="1905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4.3568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>
                    <a:lnB w="1905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3.3006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>
                    <a:lnB w="1905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3.3057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>
                    <a:lnB w="1905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40" dirty="0">
                          <a:solidFill>
                            <a:srgbClr val="22373A"/>
                          </a:solidFill>
                          <a:latin typeface="+mn-lt"/>
                          <a:cs typeface="Calibri"/>
                        </a:rPr>
                        <a:t>4.0716</a:t>
                      </a:r>
                      <a:endParaRPr sz="900" dirty="0">
                        <a:latin typeface="+mn-lt"/>
                        <a:cs typeface="Calibri"/>
                      </a:endParaRPr>
                    </a:p>
                  </a:txBody>
                  <a:tcPr marL="0" marR="0" marT="8255" marB="0" anchor="ctr">
                    <a:lnB w="19050">
                      <a:solidFill>
                        <a:srgbClr val="22373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51790"/>
          </a:xfrm>
          <a:custGeom>
            <a:avLst/>
            <a:gdLst/>
            <a:ahLst/>
            <a:cxnLst/>
            <a:rect l="l" t="t" r="r" b="b"/>
            <a:pathLst>
              <a:path w="5760085" h="351790">
                <a:moveTo>
                  <a:pt x="5759996" y="0"/>
                </a:moveTo>
                <a:lnTo>
                  <a:pt x="0" y="0"/>
                </a:lnTo>
                <a:lnTo>
                  <a:pt x="0" y="351790"/>
                </a:lnTo>
                <a:lnTo>
                  <a:pt x="5759996" y="351790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0896" y="63700"/>
            <a:ext cx="27990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60" dirty="0">
                <a:solidFill>
                  <a:srgbClr val="F9F9F9"/>
                </a:solidFill>
                <a:latin typeface="Lucida Sans Unicode"/>
                <a:cs typeface="Lucida Sans Unicode"/>
              </a:rPr>
              <a:t>Experiments</a:t>
            </a:r>
            <a:r>
              <a:rPr sz="1200" spc="-25" dirty="0">
                <a:solidFill>
                  <a:srgbClr val="F9F9F9"/>
                </a:solidFill>
                <a:latin typeface="Lucida Sans Unicode"/>
                <a:cs typeface="Lucida Sans Unicode"/>
              </a:rPr>
              <a:t> </a:t>
            </a:r>
            <a:r>
              <a:rPr sz="1200" spc="-75" dirty="0">
                <a:solidFill>
                  <a:srgbClr val="F9F9F9"/>
                </a:solidFill>
                <a:latin typeface="Lucida Sans Unicode"/>
                <a:cs typeface="Lucida Sans Unicode"/>
              </a:rPr>
              <a:t>Design</a:t>
            </a:r>
            <a:r>
              <a:rPr sz="1200" spc="-20" dirty="0">
                <a:solidFill>
                  <a:srgbClr val="F9F9F9"/>
                </a:solidFill>
                <a:latin typeface="Lucida Sans Unicode"/>
                <a:cs typeface="Lucida Sans Unicode"/>
              </a:rPr>
              <a:t> </a:t>
            </a:r>
            <a:r>
              <a:rPr sz="1200" spc="-40" dirty="0">
                <a:solidFill>
                  <a:srgbClr val="F9F9F9"/>
                </a:solidFill>
                <a:latin typeface="Lucida Sans Unicode"/>
                <a:cs typeface="Lucida Sans Unicode"/>
              </a:rPr>
              <a:t>(Simulation</a:t>
            </a:r>
            <a:r>
              <a:rPr sz="1200" spc="-25" dirty="0">
                <a:solidFill>
                  <a:srgbClr val="F9F9F9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9F9F9"/>
                </a:solidFill>
                <a:latin typeface="Lucida Sans Unicode"/>
                <a:cs typeface="Lucida Sans Unicode"/>
              </a:rPr>
              <a:t>Results)</a:t>
            </a:r>
            <a:endParaRPr sz="1200" dirty="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51812"/>
            <a:ext cx="5760085" cy="5080"/>
            <a:chOff x="0" y="351812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54342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C6CEB6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1821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2" y="0"/>
                  </a:lnTo>
                  <a:lnTo>
                    <a:pt x="576007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C6CEB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51821"/>
              <a:ext cx="4114800" cy="5080"/>
            </a:xfrm>
            <a:custGeom>
              <a:avLst/>
              <a:gdLst/>
              <a:ahLst/>
              <a:cxnLst/>
              <a:rect l="l" t="t" r="r" b="b"/>
              <a:pathLst>
                <a:path w="4114800" h="5079">
                  <a:moveTo>
                    <a:pt x="0" y="5060"/>
                  </a:moveTo>
                  <a:lnTo>
                    <a:pt x="0" y="0"/>
                  </a:lnTo>
                  <a:lnTo>
                    <a:pt x="4114304" y="0"/>
                  </a:lnTo>
                  <a:lnTo>
                    <a:pt x="411430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84B81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289" y="555625"/>
            <a:ext cx="4031996" cy="243189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330700" y="1479899"/>
            <a:ext cx="1523999" cy="1794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760" marR="5080" indent="-99695">
              <a:lnSpc>
                <a:spcPct val="114599"/>
              </a:lnSpc>
              <a:spcBef>
                <a:spcPts val="100"/>
              </a:spcBef>
              <a:buChar char="•"/>
              <a:tabLst>
                <a:tab pos="111760" algn="l"/>
              </a:tabLst>
            </a:pP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Do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they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really recover?</a:t>
            </a:r>
            <a:endParaRPr sz="10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51790"/>
          </a:xfrm>
          <a:custGeom>
            <a:avLst/>
            <a:gdLst/>
            <a:ahLst/>
            <a:cxnLst/>
            <a:rect l="l" t="t" r="r" b="b"/>
            <a:pathLst>
              <a:path w="5760085" h="351790">
                <a:moveTo>
                  <a:pt x="5759996" y="0"/>
                </a:moveTo>
                <a:lnTo>
                  <a:pt x="0" y="0"/>
                </a:lnTo>
                <a:lnTo>
                  <a:pt x="0" y="351790"/>
                </a:lnTo>
                <a:lnTo>
                  <a:pt x="5759996" y="351790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0896" y="63700"/>
            <a:ext cx="24491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60" dirty="0">
                <a:solidFill>
                  <a:srgbClr val="F9F9F9"/>
                </a:solidFill>
                <a:latin typeface="Lucida Sans Unicode"/>
                <a:cs typeface="Lucida Sans Unicode"/>
              </a:rPr>
              <a:t>Experiments</a:t>
            </a:r>
            <a:r>
              <a:rPr sz="1200" spc="-30" dirty="0">
                <a:solidFill>
                  <a:srgbClr val="F9F9F9"/>
                </a:solidFill>
                <a:latin typeface="Lucida Sans Unicode"/>
                <a:cs typeface="Lucida Sans Unicode"/>
              </a:rPr>
              <a:t> </a:t>
            </a:r>
            <a:r>
              <a:rPr sz="1200" spc="-75" dirty="0">
                <a:solidFill>
                  <a:srgbClr val="F9F9F9"/>
                </a:solidFill>
                <a:latin typeface="Lucida Sans Unicode"/>
                <a:cs typeface="Lucida Sans Unicode"/>
              </a:rPr>
              <a:t>Design</a:t>
            </a:r>
            <a:r>
              <a:rPr sz="1200" spc="-30" dirty="0">
                <a:solidFill>
                  <a:srgbClr val="F9F9F9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F9F9F9"/>
                </a:solidFill>
                <a:latin typeface="Lucida Sans Unicode"/>
                <a:cs typeface="Lucida Sans Unicode"/>
              </a:rPr>
              <a:t>(Real</a:t>
            </a:r>
            <a:r>
              <a:rPr sz="1200" spc="-30" dirty="0">
                <a:solidFill>
                  <a:srgbClr val="F9F9F9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F9F9F9"/>
                </a:solidFill>
                <a:latin typeface="Lucida Sans Unicode"/>
                <a:cs typeface="Lucida Sans Unicode"/>
              </a:rPr>
              <a:t>Datasets)</a:t>
            </a:r>
            <a:endParaRPr sz="1200" dirty="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139" y="352156"/>
            <a:ext cx="5760085" cy="2560955"/>
            <a:chOff x="0" y="351812"/>
            <a:chExt cx="5760085" cy="2560955"/>
          </a:xfrm>
        </p:grpSpPr>
        <p:sp>
          <p:nvSpPr>
            <p:cNvPr id="5" name="object 5"/>
            <p:cNvSpPr/>
            <p:nvPr/>
          </p:nvSpPr>
          <p:spPr>
            <a:xfrm>
              <a:off x="0" y="354342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C6CEB6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1821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2" y="0"/>
                  </a:lnTo>
                  <a:lnTo>
                    <a:pt x="576007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C6CEB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51821"/>
              <a:ext cx="4937760" cy="5080"/>
            </a:xfrm>
            <a:custGeom>
              <a:avLst/>
              <a:gdLst/>
              <a:ahLst/>
              <a:cxnLst/>
              <a:rect l="l" t="t" r="r" b="b"/>
              <a:pathLst>
                <a:path w="4937760" h="5079">
                  <a:moveTo>
                    <a:pt x="0" y="5060"/>
                  </a:moveTo>
                  <a:lnTo>
                    <a:pt x="0" y="0"/>
                  </a:lnTo>
                  <a:lnTo>
                    <a:pt x="4937226" y="0"/>
                  </a:lnTo>
                  <a:lnTo>
                    <a:pt x="493722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84B81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8023" y="371017"/>
              <a:ext cx="2591993" cy="254134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21062" y="1082625"/>
              <a:ext cx="2050923" cy="115364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308794" y="2097041"/>
            <a:ext cx="622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60" dirty="0">
                <a:solidFill>
                  <a:srgbClr val="22373A"/>
                </a:solidFill>
                <a:latin typeface="Calibri"/>
                <a:cs typeface="Calibri"/>
              </a:rPr>
              <a:t>•</a:t>
            </a:r>
            <a:endParaRPr sz="10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5524" y="1323019"/>
            <a:ext cx="154495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0" dirty="0">
                <a:solidFill>
                  <a:srgbClr val="22373A"/>
                </a:solidFill>
                <a:latin typeface="Lucida Sans Unicode"/>
                <a:cs typeface="Lucida Sans Unicode"/>
                <a:hlinkClick r:id="rId2" action="ppaction://hlinksldjump"/>
              </a:rPr>
              <a:t>Research</a:t>
            </a:r>
            <a:r>
              <a:rPr sz="1400" spc="-70" dirty="0">
                <a:solidFill>
                  <a:srgbClr val="22373A"/>
                </a:solidFill>
                <a:latin typeface="Lucida Sans Unicode"/>
                <a:cs typeface="Lucida Sans Unicode"/>
                <a:hlinkClick r:id="rId2" action="ppaction://hlinksldjump"/>
              </a:rPr>
              <a:t> </a:t>
            </a:r>
            <a:r>
              <a:rPr sz="1400" spc="-10" dirty="0">
                <a:solidFill>
                  <a:srgbClr val="22373A"/>
                </a:solidFill>
                <a:latin typeface="Lucida Sans Unicode"/>
                <a:cs typeface="Lucida Sans Unicode"/>
                <a:hlinkClick r:id="rId2" action="ppaction://hlinksldjump"/>
              </a:rPr>
              <a:t>Interests</a:t>
            </a:r>
            <a:endParaRPr sz="1400" dirty="0">
              <a:latin typeface="Lucida Sans Unicode"/>
              <a:cs typeface="Lucida Sans Unicod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488224" y="1678743"/>
            <a:ext cx="2783840" cy="5080"/>
            <a:chOff x="1488224" y="1678743"/>
            <a:chExt cx="2783840" cy="5080"/>
          </a:xfrm>
        </p:grpSpPr>
        <p:sp>
          <p:nvSpPr>
            <p:cNvPr id="4" name="object 4"/>
            <p:cNvSpPr/>
            <p:nvPr/>
          </p:nvSpPr>
          <p:spPr>
            <a:xfrm>
              <a:off x="1488224" y="1678743"/>
              <a:ext cx="2783840" cy="5080"/>
            </a:xfrm>
            <a:custGeom>
              <a:avLst/>
              <a:gdLst/>
              <a:ahLst/>
              <a:cxnLst/>
              <a:rect l="l" t="t" r="r" b="b"/>
              <a:pathLst>
                <a:path w="2783840" h="5080">
                  <a:moveTo>
                    <a:pt x="0" y="5060"/>
                  </a:moveTo>
                  <a:lnTo>
                    <a:pt x="0" y="0"/>
                  </a:lnTo>
                  <a:lnTo>
                    <a:pt x="2783598" y="0"/>
                  </a:lnTo>
                  <a:lnTo>
                    <a:pt x="278359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C6CEB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1488224" y="1678743"/>
              <a:ext cx="2386330" cy="5080"/>
            </a:xfrm>
            <a:custGeom>
              <a:avLst/>
              <a:gdLst/>
              <a:ahLst/>
              <a:cxnLst/>
              <a:rect l="l" t="t" r="r" b="b"/>
              <a:pathLst>
                <a:path w="2386329" h="5080">
                  <a:moveTo>
                    <a:pt x="0" y="5060"/>
                  </a:moveTo>
                  <a:lnTo>
                    <a:pt x="0" y="0"/>
                  </a:lnTo>
                  <a:lnTo>
                    <a:pt x="2385949" y="0"/>
                  </a:lnTo>
                  <a:lnTo>
                    <a:pt x="238594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84B81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896" y="63700"/>
            <a:ext cx="109410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70" dirty="0"/>
              <a:t>Curious</a:t>
            </a:r>
            <a:r>
              <a:rPr spc="-55" dirty="0"/>
              <a:t> </a:t>
            </a:r>
            <a:r>
              <a:rPr spc="-50" dirty="0"/>
              <a:t>about...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51812"/>
            <a:ext cx="5760085" cy="5080"/>
            <a:chOff x="0" y="351812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54342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C6CEB6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1821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2" y="0"/>
                  </a:lnTo>
                  <a:lnTo>
                    <a:pt x="576007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C6CEB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1821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2" y="0"/>
                  </a:lnTo>
                  <a:lnTo>
                    <a:pt x="576007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84B81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45" dirty="0"/>
              <a:t>Attention</a:t>
            </a:r>
            <a:r>
              <a:rPr spc="105" dirty="0"/>
              <a:t> </a:t>
            </a:r>
            <a:r>
              <a:rPr spc="75" dirty="0"/>
              <a:t>is</a:t>
            </a:r>
            <a:r>
              <a:rPr spc="110" dirty="0"/>
              <a:t> </a:t>
            </a:r>
            <a:r>
              <a:rPr spc="80" dirty="0"/>
              <a:t>all</a:t>
            </a:r>
            <a:r>
              <a:rPr spc="110" dirty="0"/>
              <a:t> </a:t>
            </a:r>
            <a:r>
              <a:rPr spc="60" dirty="0"/>
              <a:t>you</a:t>
            </a:r>
            <a:r>
              <a:rPr spc="110" dirty="0"/>
              <a:t> </a:t>
            </a:r>
            <a:r>
              <a:rPr spc="50" dirty="0"/>
              <a:t>need.</a:t>
            </a:r>
            <a:r>
              <a:rPr spc="250" dirty="0"/>
              <a:t> </a:t>
            </a:r>
            <a:r>
              <a:rPr spc="65" dirty="0"/>
              <a:t>But</a:t>
            </a:r>
            <a:r>
              <a:rPr spc="110" dirty="0"/>
              <a:t> </a:t>
            </a:r>
            <a:r>
              <a:rPr spc="80" dirty="0"/>
              <a:t>cuda</a:t>
            </a:r>
            <a:r>
              <a:rPr spc="110" dirty="0"/>
              <a:t> </a:t>
            </a:r>
            <a:r>
              <a:rPr spc="75" dirty="0"/>
              <a:t>is</a:t>
            </a:r>
            <a:r>
              <a:rPr spc="110" dirty="0"/>
              <a:t> </a:t>
            </a:r>
            <a:r>
              <a:rPr dirty="0"/>
              <a:t>out-</a:t>
            </a:r>
            <a:r>
              <a:rPr spc="65" dirty="0"/>
              <a:t>of-</a:t>
            </a:r>
            <a:r>
              <a:rPr spc="45" dirty="0"/>
              <a:t>memory.</a:t>
            </a:r>
          </a:p>
          <a:p>
            <a:pPr marL="169545">
              <a:lnSpc>
                <a:spcPct val="100000"/>
              </a:lnSpc>
              <a:spcBef>
                <a:spcPts val="1440"/>
              </a:spcBef>
              <a:tabLst>
                <a:tab pos="264160" algn="l"/>
              </a:tabLst>
            </a:pPr>
            <a:r>
              <a:rPr sz="900" spc="80" dirty="0"/>
              <a:t>-</a:t>
            </a:r>
            <a:r>
              <a:rPr sz="900" spc="175" dirty="0"/>
              <a:t> </a:t>
            </a:r>
            <a:r>
              <a:rPr sz="900" dirty="0"/>
              <a:t>Everything</a:t>
            </a:r>
            <a:r>
              <a:rPr sz="900" spc="180" dirty="0"/>
              <a:t> </a:t>
            </a:r>
            <a:r>
              <a:rPr sz="900" dirty="0"/>
              <a:t>is</a:t>
            </a:r>
            <a:r>
              <a:rPr sz="900" spc="175" dirty="0"/>
              <a:t> </a:t>
            </a:r>
            <a:r>
              <a:rPr sz="900" dirty="0"/>
              <a:t>about</a:t>
            </a:r>
            <a:r>
              <a:rPr sz="900" spc="180" dirty="0"/>
              <a:t> </a:t>
            </a:r>
            <a:r>
              <a:rPr sz="900" dirty="0"/>
              <a:t>Trade-</a:t>
            </a:r>
            <a:r>
              <a:rPr sz="900" spc="-20" dirty="0"/>
              <a:t>Off.</a:t>
            </a:r>
            <a:endParaRPr sz="900" dirty="0"/>
          </a:p>
          <a:p>
            <a:pPr marL="169545">
              <a:lnSpc>
                <a:spcPct val="100000"/>
              </a:lnSpc>
              <a:spcBef>
                <a:spcPts val="480"/>
              </a:spcBef>
              <a:tabLst>
                <a:tab pos="264160" algn="l"/>
              </a:tabLst>
            </a:pPr>
            <a:r>
              <a:rPr sz="900" spc="80" dirty="0"/>
              <a:t>-</a:t>
            </a:r>
            <a:r>
              <a:rPr sz="900" spc="110" dirty="0"/>
              <a:t> </a:t>
            </a:r>
            <a:r>
              <a:rPr sz="900" dirty="0"/>
              <a:t>Can</a:t>
            </a:r>
            <a:r>
              <a:rPr sz="900" spc="110" dirty="0"/>
              <a:t> </a:t>
            </a:r>
            <a:r>
              <a:rPr sz="900" dirty="0"/>
              <a:t>I</a:t>
            </a:r>
            <a:r>
              <a:rPr sz="900" spc="110" dirty="0"/>
              <a:t> </a:t>
            </a:r>
            <a:r>
              <a:rPr sz="900" dirty="0"/>
              <a:t>trust</a:t>
            </a:r>
            <a:r>
              <a:rPr sz="900" spc="110" dirty="0"/>
              <a:t> </a:t>
            </a:r>
            <a:r>
              <a:rPr sz="900" spc="-20" dirty="0"/>
              <a:t>them?</a:t>
            </a:r>
            <a:endParaRPr sz="900" dirty="0"/>
          </a:p>
          <a:p>
            <a:pPr marL="169545">
              <a:lnSpc>
                <a:spcPct val="100000"/>
              </a:lnSpc>
              <a:spcBef>
                <a:spcPts val="480"/>
              </a:spcBef>
              <a:tabLst>
                <a:tab pos="264160" algn="l"/>
              </a:tabLst>
            </a:pPr>
            <a:r>
              <a:rPr sz="900" spc="80" dirty="0"/>
              <a:t>-</a:t>
            </a:r>
            <a:r>
              <a:rPr sz="900" spc="135" dirty="0"/>
              <a:t> </a:t>
            </a:r>
            <a:r>
              <a:rPr sz="900" dirty="0"/>
              <a:t>Can</a:t>
            </a:r>
            <a:r>
              <a:rPr sz="900" spc="140" dirty="0"/>
              <a:t> </a:t>
            </a:r>
            <a:r>
              <a:rPr sz="900" dirty="0"/>
              <a:t>it</a:t>
            </a:r>
            <a:r>
              <a:rPr sz="900" spc="140" dirty="0"/>
              <a:t> </a:t>
            </a:r>
            <a:r>
              <a:rPr sz="900" dirty="0"/>
              <a:t>be</a:t>
            </a:r>
            <a:r>
              <a:rPr sz="900" spc="140" dirty="0"/>
              <a:t> </a:t>
            </a:r>
            <a:r>
              <a:rPr sz="900" dirty="0"/>
              <a:t>more</a:t>
            </a:r>
            <a:r>
              <a:rPr sz="900" spc="140" dirty="0"/>
              <a:t> </a:t>
            </a:r>
            <a:r>
              <a:rPr sz="900" dirty="0"/>
              <a:t>user-</a:t>
            </a:r>
            <a:r>
              <a:rPr sz="900" spc="-10" dirty="0"/>
              <a:t>friendly?</a:t>
            </a:r>
            <a:endParaRPr sz="900" dirty="0"/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900" dirty="0"/>
          </a:p>
          <a:p>
            <a:pPr marL="12700">
              <a:lnSpc>
                <a:spcPct val="100000"/>
              </a:lnSpc>
            </a:pPr>
            <a:r>
              <a:rPr spc="65" dirty="0"/>
              <a:t>Bea</a:t>
            </a:r>
            <a:r>
              <a:rPr lang="en-US" spc="65" dirty="0"/>
              <a:t>ut</a:t>
            </a:r>
            <a:r>
              <a:rPr lang="en-US" altLang="zh-CN" spc="65" dirty="0"/>
              <a:t>i</a:t>
            </a:r>
            <a:r>
              <a:rPr spc="65" dirty="0"/>
              <a:t>ful</a:t>
            </a:r>
            <a:r>
              <a:rPr spc="160" dirty="0"/>
              <a:t> </a:t>
            </a:r>
            <a:r>
              <a:rPr spc="65" dirty="0"/>
              <a:t>things</a:t>
            </a:r>
            <a:r>
              <a:rPr spc="165" dirty="0"/>
              <a:t> </a:t>
            </a:r>
            <a:r>
              <a:rPr dirty="0"/>
              <a:t>don’t</a:t>
            </a:r>
            <a:r>
              <a:rPr spc="165" dirty="0"/>
              <a:t> </a:t>
            </a:r>
            <a:r>
              <a:rPr spc="80" dirty="0"/>
              <a:t>ask</a:t>
            </a:r>
            <a:r>
              <a:rPr spc="160" dirty="0"/>
              <a:t> </a:t>
            </a:r>
            <a:r>
              <a:rPr dirty="0"/>
              <a:t>for</a:t>
            </a:r>
            <a:r>
              <a:rPr spc="165" dirty="0"/>
              <a:t> </a:t>
            </a:r>
            <a:r>
              <a:rPr spc="-10" dirty="0"/>
              <a:t>attention.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62940" y="1362453"/>
            <a:ext cx="48342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75" dirty="0">
                <a:solidFill>
                  <a:srgbClr val="F9F9F9"/>
                </a:solidFill>
                <a:latin typeface="Lucida Sans Unicode"/>
                <a:cs typeface="Lucida Sans Unicode"/>
              </a:rPr>
              <a:t>Thank</a:t>
            </a:r>
            <a:r>
              <a:rPr sz="1400" spc="-55" dirty="0">
                <a:solidFill>
                  <a:srgbClr val="F9F9F9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F9F9F9"/>
                </a:solidFill>
                <a:latin typeface="Lucida Sans Unicode"/>
                <a:cs typeface="Lucida Sans Unicode"/>
              </a:rPr>
              <a:t>you</a:t>
            </a:r>
            <a:r>
              <a:rPr sz="1400" spc="-55" dirty="0">
                <a:solidFill>
                  <a:srgbClr val="F9F9F9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F9F9F9"/>
                </a:solidFill>
                <a:latin typeface="Lucida Sans Unicode"/>
                <a:cs typeface="Lucida Sans Unicode"/>
              </a:rPr>
              <a:t>for</a:t>
            </a:r>
            <a:r>
              <a:rPr sz="1400" spc="-55" dirty="0">
                <a:solidFill>
                  <a:srgbClr val="F9F9F9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F9F9F9"/>
                </a:solidFill>
                <a:latin typeface="Lucida Sans Unicode"/>
                <a:cs typeface="Lucida Sans Unicode"/>
              </a:rPr>
              <a:t>listening</a:t>
            </a:r>
            <a:r>
              <a:rPr sz="1400" spc="-55" dirty="0">
                <a:solidFill>
                  <a:srgbClr val="F9F9F9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9F9F9"/>
                </a:solidFill>
                <a:latin typeface="Lucida Sans Unicode"/>
                <a:cs typeface="Lucida Sans Unicode"/>
              </a:rPr>
              <a:t>and</a:t>
            </a:r>
            <a:r>
              <a:rPr sz="1400" spc="-55" dirty="0">
                <a:solidFill>
                  <a:srgbClr val="F9F9F9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F9F9F9"/>
                </a:solidFill>
                <a:latin typeface="Lucida Sans Unicode"/>
                <a:cs typeface="Lucida Sans Unicode"/>
              </a:rPr>
              <a:t>for</a:t>
            </a:r>
            <a:r>
              <a:rPr sz="1400" spc="-55" dirty="0">
                <a:solidFill>
                  <a:srgbClr val="F9F9F9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9F9F9"/>
                </a:solidFill>
                <a:latin typeface="Lucida Sans Unicode"/>
                <a:cs typeface="Lucida Sans Unicode"/>
              </a:rPr>
              <a:t>the</a:t>
            </a:r>
            <a:r>
              <a:rPr sz="1400" spc="-55" dirty="0">
                <a:solidFill>
                  <a:srgbClr val="F9F9F9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F9F9F9"/>
                </a:solidFill>
                <a:latin typeface="Lucida Sans Unicode"/>
                <a:cs typeface="Lucida Sans Unicode"/>
              </a:rPr>
              <a:t>opportunity</a:t>
            </a:r>
            <a:r>
              <a:rPr sz="1400" spc="-55" dirty="0">
                <a:solidFill>
                  <a:srgbClr val="F9F9F9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9F9F9"/>
                </a:solidFill>
                <a:latin typeface="Lucida Sans Unicode"/>
                <a:cs typeface="Lucida Sans Unicode"/>
              </a:rPr>
              <a:t>to</a:t>
            </a:r>
            <a:r>
              <a:rPr sz="1400" spc="-55" dirty="0">
                <a:solidFill>
                  <a:srgbClr val="F9F9F9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9F9F9"/>
                </a:solidFill>
                <a:latin typeface="Lucida Sans Unicode"/>
                <a:cs typeface="Lucida Sans Unicode"/>
              </a:rPr>
              <a:t>present!</a:t>
            </a:r>
            <a:endParaRPr sz="14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2373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</TotalTime>
  <Words>360</Words>
  <Application>Microsoft Office PowerPoint</Application>
  <PresentationFormat>Custom</PresentationFormat>
  <Paragraphs>161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等线</vt:lpstr>
      <vt:lpstr>Arial</vt:lpstr>
      <vt:lpstr>Book Antiqua</vt:lpstr>
      <vt:lpstr>Calibri</vt:lpstr>
      <vt:lpstr>Lucida Sans Unicode</vt:lpstr>
      <vt:lpstr>Office Theme</vt:lpstr>
      <vt:lpstr>PhD Application Presentation</vt:lpstr>
      <vt:lpstr>PowerPoint Presentation</vt:lpstr>
      <vt:lpstr>PowerPoint Presentation</vt:lpstr>
      <vt:lpstr>Intuitions behind the idea</vt:lpstr>
      <vt:lpstr>Experiments Design (Simulation Results)</vt:lpstr>
      <vt:lpstr>Experiments Design (Simulation Results)</vt:lpstr>
      <vt:lpstr>PowerPoint Presentation</vt:lpstr>
      <vt:lpstr>PowerPoint Presentation</vt:lpstr>
      <vt:lpstr>PowerPoint Presentation</vt:lpstr>
      <vt:lpstr>Curious about...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PhD Application Presentation</dc:title>
  <dc:creator>Simin Ma</dc:creator>
  <cp:lastModifiedBy>Simin Ma</cp:lastModifiedBy>
  <cp:revision>56</cp:revision>
  <dcterms:created xsi:type="dcterms:W3CDTF">2026-03-10T12:02:43Z</dcterms:created>
  <dcterms:modified xsi:type="dcterms:W3CDTF">2026-03-10T14:33:10Z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2026-03-10T00:00:00Z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2026-03-10T00:00:00Z</vt:filetime>
  </property>
  <property fmtid="{D5CDD505-2E9C-101B-9397-08002B2CF9AE}" pid="5" name="Producer">
    <vt:lpwstr>3-Heights(TM) PDF Security Shell 4.8.25.2 (http://www.pdf-tools.com)</vt:lpwstr>
  </property>
</Properties>
</file>